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7.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 id="2147483666" r:id="rId5"/>
    <p:sldMasterId id="2147483670" r:id="rId6"/>
    <p:sldMasterId id="2147483674" r:id="rId7"/>
    <p:sldMasterId id="2147483678" r:id="rId8"/>
    <p:sldMasterId id="2147483709" r:id="rId9"/>
    <p:sldMasterId id="2147483697" r:id="rId10"/>
    <p:sldMasterId id="2147483685" r:id="rId11"/>
  </p:sldMasterIdLst>
  <p:notesMasterIdLst>
    <p:notesMasterId r:id="rId32"/>
  </p:notesMasterIdLst>
  <p:sldIdLst>
    <p:sldId id="278" r:id="rId12"/>
    <p:sldId id="257" r:id="rId13"/>
    <p:sldId id="258" r:id="rId14"/>
    <p:sldId id="270" r:id="rId15"/>
    <p:sldId id="279" r:id="rId16"/>
    <p:sldId id="260" r:id="rId17"/>
    <p:sldId id="261" r:id="rId18"/>
    <p:sldId id="272" r:id="rId19"/>
    <p:sldId id="262" r:id="rId20"/>
    <p:sldId id="276" r:id="rId21"/>
    <p:sldId id="277" r:id="rId22"/>
    <p:sldId id="264" r:id="rId23"/>
    <p:sldId id="273" r:id="rId24"/>
    <p:sldId id="265" r:id="rId25"/>
    <p:sldId id="266" r:id="rId26"/>
    <p:sldId id="267" r:id="rId27"/>
    <p:sldId id="268" r:id="rId28"/>
    <p:sldId id="269" r:id="rId29"/>
    <p:sldId id="275" r:id="rId30"/>
    <p:sldId id="281" r:id="rId31"/>
  </p:sldIdLst>
  <p:sldSz cx="9144000" cy="5143500" type="screen16x9"/>
  <p:notesSz cx="6858000" cy="91440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A052"/>
    <a:srgbClr val="046A38"/>
    <a:srgbClr val="E227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AAFA15-DEDA-9B8A-E239-E054AFCE4107}" v="2" dt="2026-04-23T18:12:13.360"/>
    <p1510:client id="{B0FFB6F5-76A9-452B-A915-AC691BEB122D}" v="269" dt="2026-04-22T17:46:07.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01142-A922-824D-AD87-6E256A2E82A7}"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B10328-B2AA-BB46-8265-A51445C1A689}" type="slidenum">
              <a:rPr lang="en-US" smtClean="0"/>
              <a:t>‹#›</a:t>
            </a:fld>
            <a:endParaRPr lang="en-US"/>
          </a:p>
        </p:txBody>
      </p:sp>
    </p:spTree>
    <p:extLst>
      <p:ext uri="{BB962C8B-B14F-4D97-AF65-F5344CB8AC3E}">
        <p14:creationId xmlns:p14="http://schemas.microsoft.com/office/powerpoint/2010/main" val="691587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B10328-B2AA-BB46-8265-A51445C1A689}" type="slidenum">
              <a:rPr lang="en-US" smtClean="0"/>
              <a:t>1</a:t>
            </a:fld>
            <a:endParaRPr lang="en-US"/>
          </a:p>
        </p:txBody>
      </p:sp>
    </p:spTree>
    <p:extLst>
      <p:ext uri="{BB962C8B-B14F-4D97-AF65-F5344CB8AC3E}">
        <p14:creationId xmlns:p14="http://schemas.microsoft.com/office/powerpoint/2010/main" val="2042447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ea typeface="Calibri"/>
                <a:cs typeface="Calibri"/>
              </a:rPr>
              <a:t>Malware, also known as malicious software, is a program or piece of software that is built to disrupt a system or compromise data in some way  through taking advantage of system or human vulnerabilities. The market for malware has increased drastically over the past decade with more data and systems being online, so malware has evolved significantly to be able to compromise more systems. The average cost of a data breach for companies in 2023 was almost $4 million dollars, with that amount only increasing in the past few years.</a:t>
            </a:r>
          </a:p>
          <a:p>
            <a:pPr marL="171450" indent="-171450">
              <a:buFont typeface="Arial" panose="020B0604020202020204" pitchFamily="34" charset="0"/>
              <a:buChar char="•"/>
            </a:pPr>
            <a:r>
              <a:rPr lang="en-US">
                <a:ea typeface="Calibri"/>
                <a:cs typeface="Calibri"/>
              </a:rPr>
              <a:t>Because of these major impacts to security and economic factors, there has been much effort put into analyzing malware to combat it and make systems more secure. Many analysis techniques have been created for this purpose.</a:t>
            </a:r>
          </a:p>
          <a:p>
            <a:pPr marL="171450" indent="-171450">
              <a:buFont typeface="Arial" panose="020B0604020202020204" pitchFamily="34" charset="0"/>
              <a:buChar char="•"/>
            </a:pPr>
            <a:r>
              <a:rPr lang="en-US">
                <a:ea typeface="Calibri"/>
                <a:cs typeface="Calibri"/>
              </a:rPr>
              <a:t>The two main categories of analysis are dynamic analysis and static analysis.</a:t>
            </a:r>
          </a:p>
          <a:p>
            <a:pPr marL="171450" indent="-171450">
              <a:buFont typeface="Arial" panose="020B0604020202020204" pitchFamily="34" charset="0"/>
              <a:buChar char="•"/>
            </a:pPr>
            <a:r>
              <a:rPr lang="en-US">
                <a:ea typeface="Calibri"/>
                <a:cs typeface="Calibri"/>
              </a:rPr>
              <a:t>Dynamic analysis consists of running the malicious program in a controlled environment like a virtual machine to observe its behavior. While this method can find behaviors of the program that could not be detected otherwise, it can be risky because some types of malware can detect if it is within a virtual machine and can break out of it, or if the </a:t>
            </a:r>
            <a:r>
              <a:rPr lang="en-US" err="1">
                <a:ea typeface="Calibri"/>
                <a:cs typeface="Calibri"/>
              </a:rPr>
              <a:t>vm</a:t>
            </a:r>
            <a:r>
              <a:rPr lang="en-US">
                <a:ea typeface="Calibri"/>
                <a:cs typeface="Calibri"/>
              </a:rPr>
              <a:t> is connected to the network some types of malware can spread through there</a:t>
            </a:r>
          </a:p>
          <a:p>
            <a:pPr marL="171450" indent="-171450">
              <a:buFont typeface="Arial" panose="020B0604020202020204" pitchFamily="34" charset="0"/>
              <a:buChar char="•"/>
            </a:pPr>
            <a:r>
              <a:rPr lang="en-US">
                <a:ea typeface="Calibri"/>
                <a:cs typeface="Calibri"/>
              </a:rPr>
              <a:t>Static analysis, on the other hand, consists of analyzing code structures without ever actually running the program. This is overall a safer option for analyzing malware and can still be very effective in figuring out how a malicious program works.</a:t>
            </a:r>
          </a:p>
          <a:p>
            <a:pPr marL="171450" indent="-171450">
              <a:buFont typeface="Arial" panose="020B0604020202020204" pitchFamily="34" charset="0"/>
              <a:buChar char="•"/>
            </a:pPr>
            <a:r>
              <a:rPr lang="en-US">
                <a:ea typeface="Calibri"/>
                <a:cs typeface="Calibri"/>
              </a:rPr>
              <a:t>One of the methods of conducting static analysis is through software reverse engineering, which </a:t>
            </a:r>
            <a:r>
              <a:rPr lang="en-US"/>
              <a:t>reverses the compilation process to get pieces of the original structure of the executable. Since malicious programs almost never have the source code available, this can be the only way we can get fragments of the code structure back for analysis, which is very useful.</a:t>
            </a:r>
            <a:endParaRPr lang="en-US">
              <a:ea typeface="Calibri"/>
              <a:cs typeface="Calibri"/>
            </a:endParaRPr>
          </a:p>
          <a:p>
            <a:pPr marL="171450" indent="-171450">
              <a:buFont typeface="Arial" panose="020B0604020202020204" pitchFamily="34" charset="0"/>
              <a:buChar char="•"/>
            </a:pPr>
            <a:r>
              <a:rPr lang="en-US">
                <a:ea typeface="Calibri"/>
                <a:cs typeface="Calibri"/>
              </a:rPr>
              <a:t>So, the overall goal of my research is to create an ontological structure based on the software reverse engineering process for the purpose of detecting malicious behavior in malware executables.</a:t>
            </a:r>
          </a:p>
        </p:txBody>
      </p:sp>
      <p:sp>
        <p:nvSpPr>
          <p:cNvPr id="4" name="Slide Number Placeholder 3"/>
          <p:cNvSpPr>
            <a:spLocks noGrp="1"/>
          </p:cNvSpPr>
          <p:nvPr>
            <p:ph type="sldNum" sz="quarter" idx="5"/>
          </p:nvPr>
        </p:nvSpPr>
        <p:spPr/>
        <p:txBody>
          <a:bodyPr/>
          <a:lstStyle/>
          <a:p>
            <a:fld id="{BCB10328-B2AA-BB46-8265-A51445C1A689}" type="slidenum">
              <a:rPr lang="en-US" smtClean="0"/>
              <a:t>3</a:t>
            </a:fld>
            <a:endParaRPr lang="en-US"/>
          </a:p>
        </p:txBody>
      </p:sp>
    </p:spTree>
    <p:extLst>
      <p:ext uri="{BB962C8B-B14F-4D97-AF65-F5344CB8AC3E}">
        <p14:creationId xmlns:p14="http://schemas.microsoft.com/office/powerpoint/2010/main" val="185346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ea typeface="Calibri"/>
                <a:cs typeface="Calibri"/>
              </a:rPr>
              <a:t>In this background section, I'm going to go into a little more detail on what software reverse engineering is, go over the main tool that my research uses, and introduce knowledge graphs and why they are used.</a:t>
            </a:r>
          </a:p>
        </p:txBody>
      </p:sp>
      <p:sp>
        <p:nvSpPr>
          <p:cNvPr id="4" name="Slide Number Placeholder 3"/>
          <p:cNvSpPr>
            <a:spLocks noGrp="1"/>
          </p:cNvSpPr>
          <p:nvPr>
            <p:ph type="sldNum" sz="quarter" idx="5"/>
          </p:nvPr>
        </p:nvSpPr>
        <p:spPr/>
        <p:txBody>
          <a:bodyPr/>
          <a:lstStyle/>
          <a:p>
            <a:fld id="{BCB10328-B2AA-BB46-8265-A51445C1A689}" type="slidenum">
              <a:rPr lang="en-US" smtClean="0"/>
              <a:t>4</a:t>
            </a:fld>
            <a:endParaRPr lang="en-US"/>
          </a:p>
        </p:txBody>
      </p:sp>
    </p:spTree>
    <p:extLst>
      <p:ext uri="{BB962C8B-B14F-4D97-AF65-F5344CB8AC3E}">
        <p14:creationId xmlns:p14="http://schemas.microsoft.com/office/powerpoint/2010/main" val="359761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1C7C1-0084-0F91-42FD-9B14129C7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21F20-DED3-7517-3F12-F2CFF045AC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6E54AE-95EF-6D06-6F6D-4BAC8D7D7279}"/>
              </a:ext>
            </a:extLst>
          </p:cNvPr>
          <p:cNvSpPr>
            <a:spLocks noGrp="1"/>
          </p:cNvSpPr>
          <p:nvPr>
            <p:ph type="body" idx="1"/>
          </p:nvPr>
        </p:nvSpPr>
        <p:spPr/>
        <p:txBody>
          <a:bodyPr/>
          <a:lstStyle/>
          <a:p>
            <a:pPr marL="285750" indent="-285750">
              <a:buFont typeface="Arial"/>
              <a:buChar char="•"/>
            </a:pPr>
            <a:r>
              <a:rPr lang="en-US">
                <a:ea typeface="Calibri"/>
                <a:cs typeface="Calibri"/>
              </a:rPr>
              <a:t>Software reverse engineering is the process of analyzing an executable file and extract information about it to better understand how it works when the source code is unavailable.</a:t>
            </a:r>
          </a:p>
          <a:p>
            <a:pPr marL="285750" indent="-285750">
              <a:buFont typeface="Arial"/>
              <a:buChar char="•"/>
            </a:pPr>
            <a:r>
              <a:rPr lang="en-US">
                <a:ea typeface="Calibri"/>
                <a:cs typeface="Calibri"/>
              </a:rPr>
              <a:t>At a basic level, software reverse engineering reverses the process of compilation. So while the process of compilation consists of taking the high level code files, compiling them into assembly instructions, then assembling them into binary that the system can execute, reverse engineering tools take the binary from the executable, disassemble them into instructions, and decompiles them into higher level code. Because the process of compilation is lossy, it is near impossible to get a 100% accurate representation of the original source code. But this </a:t>
            </a:r>
            <a:r>
              <a:rPr lang="en-US" err="1">
                <a:ea typeface="Calibri"/>
                <a:cs typeface="Calibri"/>
              </a:rPr>
              <a:t>decompilation</a:t>
            </a:r>
            <a:r>
              <a:rPr lang="en-US">
                <a:ea typeface="Calibri"/>
                <a:cs typeface="Calibri"/>
              </a:rPr>
              <a:t> is still very useful in gaining understanding of how the program works.</a:t>
            </a:r>
          </a:p>
        </p:txBody>
      </p:sp>
      <p:sp>
        <p:nvSpPr>
          <p:cNvPr id="4" name="Slide Number Placeholder 3">
            <a:extLst>
              <a:ext uri="{FF2B5EF4-FFF2-40B4-BE49-F238E27FC236}">
                <a16:creationId xmlns:a16="http://schemas.microsoft.com/office/drawing/2014/main" id="{45310BAC-F81A-EDD1-F0DC-7522E9FC6472}"/>
              </a:ext>
            </a:extLst>
          </p:cNvPr>
          <p:cNvSpPr>
            <a:spLocks noGrp="1"/>
          </p:cNvSpPr>
          <p:nvPr>
            <p:ph type="sldNum" sz="quarter" idx="5"/>
          </p:nvPr>
        </p:nvSpPr>
        <p:spPr/>
        <p:txBody>
          <a:bodyPr/>
          <a:lstStyle/>
          <a:p>
            <a:fld id="{BCB10328-B2AA-BB46-8265-A51445C1A689}" type="slidenum">
              <a:rPr lang="en-US" smtClean="0"/>
              <a:t>5</a:t>
            </a:fld>
            <a:endParaRPr lang="en-US"/>
          </a:p>
        </p:txBody>
      </p:sp>
    </p:spTree>
    <p:extLst>
      <p:ext uri="{BB962C8B-B14F-4D97-AF65-F5344CB8AC3E}">
        <p14:creationId xmlns:p14="http://schemas.microsoft.com/office/powerpoint/2010/main" val="266381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buFont typeface="Arial"/>
              <a:buChar char="•"/>
            </a:pPr>
            <a:r>
              <a:rPr lang="en-US">
                <a:ea typeface="Calibri"/>
                <a:cs typeface="Calibri"/>
              </a:rPr>
              <a:t>The reverse engineering tool that my research is based on is called </a:t>
            </a:r>
            <a:r>
              <a:rPr lang="en-US" err="1">
                <a:ea typeface="Calibri"/>
                <a:cs typeface="Calibri"/>
              </a:rPr>
              <a:t>Ghidra</a:t>
            </a:r>
            <a:r>
              <a:rPr lang="en-US">
                <a:ea typeface="Calibri"/>
                <a:cs typeface="Calibri"/>
              </a:rPr>
              <a:t>. </a:t>
            </a:r>
            <a:r>
              <a:rPr lang="en-US" err="1">
                <a:ea typeface="Calibri"/>
                <a:cs typeface="Calibri"/>
              </a:rPr>
              <a:t>Ghidra</a:t>
            </a:r>
            <a:r>
              <a:rPr lang="en-US">
                <a:ea typeface="Calibri"/>
                <a:cs typeface="Calibri"/>
              </a:rPr>
              <a:t> is an open-source framework that contains many useful tools to help assist in the process of reverse engineering, including a disassembly, </a:t>
            </a:r>
            <a:r>
              <a:rPr lang="en-US" err="1">
                <a:ea typeface="Calibri"/>
                <a:cs typeface="Calibri"/>
              </a:rPr>
              <a:t>decompilation</a:t>
            </a:r>
            <a:r>
              <a:rPr lang="en-US">
                <a:ea typeface="Calibri"/>
                <a:cs typeface="Calibri"/>
              </a:rPr>
              <a:t> , symbol tree, defined strings table, and more. </a:t>
            </a:r>
          </a:p>
          <a:p>
            <a:pPr marL="285750" indent="-285750">
              <a:buFont typeface="Arial"/>
              <a:buChar char="•"/>
            </a:pPr>
            <a:r>
              <a:rPr lang="en-US">
                <a:ea typeface="Calibri"/>
                <a:cs typeface="Calibri"/>
              </a:rPr>
              <a:t>It allows for a user to go back and forth between the disassembly and </a:t>
            </a:r>
            <a:r>
              <a:rPr lang="en-US" err="1">
                <a:ea typeface="Calibri"/>
                <a:cs typeface="Calibri"/>
              </a:rPr>
              <a:t>decompilation</a:t>
            </a:r>
            <a:r>
              <a:rPr lang="en-US">
                <a:ea typeface="Calibri"/>
                <a:cs typeface="Calibri"/>
              </a:rPr>
              <a:t> so that if they click a function call within the assembly, they can see the C code version of that function. Being able to see both of these views can substantially help reverse engineers see how the program works. </a:t>
            </a:r>
            <a:endParaRPr lang="en-US"/>
          </a:p>
          <a:p>
            <a:pPr marL="285750" indent="-285750">
              <a:buFont typeface="Arial"/>
              <a:buChar char="•"/>
            </a:pPr>
            <a:r>
              <a:rPr lang="en-US" err="1"/>
              <a:t>Ghidra</a:t>
            </a:r>
            <a:r>
              <a:rPr lang="en-US"/>
              <a:t> was made by the NSA (national security agency) with the goal of analyzing malware through software reverse engineering, as well as utilizing SWE to help find vulnerabilities within systems to help make them more secure. </a:t>
            </a:r>
          </a:p>
          <a:p>
            <a:pPr marL="285750" indent="-285750">
              <a:buFont typeface="Arial"/>
              <a:buChar char="•"/>
            </a:pPr>
            <a:r>
              <a:rPr lang="en-US">
                <a:ea typeface="Calibri"/>
                <a:cs typeface="Calibri"/>
              </a:rPr>
              <a:t>A drawback of this tool is that it produces a lot of data, which is difficult to track. Specifically, the number of assembly instructions is huge even for basic files, making it difficult to parse through it all and understand all parts of the executable.</a:t>
            </a:r>
          </a:p>
        </p:txBody>
      </p:sp>
      <p:sp>
        <p:nvSpPr>
          <p:cNvPr id="4" name="Slide Number Placeholder 3"/>
          <p:cNvSpPr>
            <a:spLocks noGrp="1"/>
          </p:cNvSpPr>
          <p:nvPr>
            <p:ph type="sldNum" sz="quarter" idx="5"/>
          </p:nvPr>
        </p:nvSpPr>
        <p:spPr/>
        <p:txBody>
          <a:bodyPr/>
          <a:lstStyle/>
          <a:p>
            <a:fld id="{BCB10328-B2AA-BB46-8265-A51445C1A689}" type="slidenum">
              <a:rPr lang="en-US" smtClean="0"/>
              <a:t>6</a:t>
            </a:fld>
            <a:endParaRPr lang="en-US"/>
          </a:p>
        </p:txBody>
      </p:sp>
    </p:spTree>
    <p:extLst>
      <p:ext uri="{BB962C8B-B14F-4D97-AF65-F5344CB8AC3E}">
        <p14:creationId xmlns:p14="http://schemas.microsoft.com/office/powerpoint/2010/main" val="2902833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So, with the problem of too much unstructured data that is difficult to keep track of, the solution is to put it in a more structured form that can be queried to find specific patterns. The data structure that will be used is called a knowledge graph, which is a graph structure (that is directed in this case) that represents knowledge about data. Knowledge just refers to the facts known about the data, so representing the data in this way facilitates finding patterns.</a:t>
            </a:r>
          </a:p>
          <a:p>
            <a:pPr marL="0" lvl="0" indent="-285750">
              <a:buFont typeface="Courier New"/>
              <a:buChar char="o"/>
            </a:pPr>
            <a:r>
              <a:rPr lang="en-US">
                <a:ea typeface="Calibri"/>
                <a:cs typeface="Calibri"/>
              </a:rPr>
              <a:t>The two main components of a knowledge graphs are called nodes and edges. Nodes are the objects of specific pieces of data, and edges are relations that define how the data interacts with each other. These relations are how we can represent knowledge about the data.</a:t>
            </a:r>
          </a:p>
          <a:p>
            <a:pPr marL="0" lvl="0" indent="-285750">
              <a:buFont typeface="Courier New"/>
              <a:buChar char="o"/>
            </a:pPr>
            <a:r>
              <a:rPr lang="en-US">
                <a:ea typeface="Calibri"/>
                <a:cs typeface="Calibri"/>
              </a:rPr>
              <a:t>When materializing the graph, it turns into the form of triples that contain node, edge, node, where the first node is the subject of a relation, the edge is the relation itself, and the second node is the object of the relation. So for example, if we have two nodes of student and class, then a triple that could be part of a graph would be &lt;student, attends, class&gt;. When given specific data to input into the graph, it would contain something like &lt;Alice, attends, Data Structures&gt;.</a:t>
            </a:r>
          </a:p>
          <a:p>
            <a:pPr marL="171450" indent="-171450">
              <a:buFont typeface="Arial"/>
              <a:buChar char="•"/>
            </a:pPr>
            <a:r>
              <a:rPr lang="en-US">
                <a:ea typeface="Calibri"/>
                <a:cs typeface="Calibri"/>
              </a:rPr>
              <a:t>While the knowledge graph is the graphical structure of the data, we can say that the ontology is the thing that defines how we will structure the data. The ontology defines all the kinds of objects and relations there can be in the graph, and which objects can have which relations. So after the ontology is developed, then the data can be inserted in through a process called materialization to fit into these objects and relations.</a:t>
            </a:r>
          </a:p>
        </p:txBody>
      </p:sp>
      <p:sp>
        <p:nvSpPr>
          <p:cNvPr id="4" name="Slide Number Placeholder 3"/>
          <p:cNvSpPr>
            <a:spLocks noGrp="1"/>
          </p:cNvSpPr>
          <p:nvPr>
            <p:ph type="sldNum" sz="quarter" idx="5"/>
          </p:nvPr>
        </p:nvSpPr>
        <p:spPr/>
        <p:txBody>
          <a:bodyPr/>
          <a:lstStyle/>
          <a:p>
            <a:fld id="{BCB10328-B2AA-BB46-8265-A51445C1A689}" type="slidenum">
              <a:rPr lang="en-US" smtClean="0"/>
              <a:t>7</a:t>
            </a:fld>
            <a:endParaRPr lang="en-US"/>
          </a:p>
        </p:txBody>
      </p:sp>
    </p:spTree>
    <p:extLst>
      <p:ext uri="{BB962C8B-B14F-4D97-AF65-F5344CB8AC3E}">
        <p14:creationId xmlns:p14="http://schemas.microsoft.com/office/powerpoint/2010/main" val="2948924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ea typeface="Calibri"/>
                <a:cs typeface="Calibri"/>
              </a:rPr>
              <a:t>The approach for this contains a few steps. First, Competency questions were created and a dataset was chosen. Next, the schema for how the data was going to be organized was designed. The </a:t>
            </a:r>
            <a:r>
              <a:rPr lang="en-US" err="1">
                <a:ea typeface="Calibri"/>
                <a:cs typeface="Calibri"/>
              </a:rPr>
              <a:t>ontolgy</a:t>
            </a:r>
            <a:r>
              <a:rPr lang="en-US">
                <a:ea typeface="Calibri"/>
                <a:cs typeface="Calibri"/>
              </a:rPr>
              <a:t> was developed based on the schema, and the knowledge graph was materialized using the ontology as the base.</a:t>
            </a:r>
          </a:p>
        </p:txBody>
      </p:sp>
      <p:sp>
        <p:nvSpPr>
          <p:cNvPr id="4" name="Slide Number Placeholder 3"/>
          <p:cNvSpPr>
            <a:spLocks noGrp="1"/>
          </p:cNvSpPr>
          <p:nvPr>
            <p:ph type="sldNum" sz="quarter" idx="5"/>
          </p:nvPr>
        </p:nvSpPr>
        <p:spPr/>
        <p:txBody>
          <a:bodyPr/>
          <a:lstStyle/>
          <a:p>
            <a:fld id="{BCB10328-B2AA-BB46-8265-A51445C1A689}" type="slidenum">
              <a:rPr lang="en-US" smtClean="0"/>
              <a:t>8</a:t>
            </a:fld>
            <a:endParaRPr lang="en-US"/>
          </a:p>
        </p:txBody>
      </p:sp>
    </p:spTree>
    <p:extLst>
      <p:ext uri="{BB962C8B-B14F-4D97-AF65-F5344CB8AC3E}">
        <p14:creationId xmlns:p14="http://schemas.microsoft.com/office/powerpoint/2010/main" val="2455689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buFont typeface="Arial"/>
              <a:buChar char="•"/>
            </a:pPr>
            <a:r>
              <a:rPr lang="en-US">
                <a:ea typeface="Calibri"/>
                <a:cs typeface="Calibri"/>
              </a:rPr>
              <a:t>The first step of designing a knowledge graph is identifying what you want the knowledge graph to do. Aka, what questions do you want the KG to answer, or what problems do you want it to solve. These questions are based on the use case of the KG, which in our case, the use case is detecting malicious behavior in executables. All 10 competency questions are listed on this slide. The questions that I mostly focus my research on are:</a:t>
            </a:r>
          </a:p>
          <a:p>
            <a:pPr lvl="0" indent="-285750">
              <a:buFont typeface="Courier New"/>
              <a:buChar char="o"/>
            </a:pPr>
            <a:r>
              <a:rPr lang="en-US">
                <a:ea typeface="Calibri"/>
                <a:cs typeface="+mn-lt"/>
              </a:rPr>
              <a:t>2. "Is there any suspicious networking activity within the executable?"</a:t>
            </a:r>
          </a:p>
          <a:p>
            <a:pPr lvl="0" indent="-285750">
              <a:buFont typeface="Courier New"/>
              <a:buChar char="o"/>
            </a:pPr>
            <a:r>
              <a:rPr lang="en-US">
                <a:ea typeface="Calibri"/>
                <a:cs typeface="+mn-lt"/>
              </a:rPr>
              <a:t>4. Can sections of entropy be detected through the ratio of unique opcodes and total number of instructions in a function?"</a:t>
            </a:r>
          </a:p>
          <a:p>
            <a:pPr lvl="0" indent="-285750">
              <a:buFont typeface="Courier New"/>
              <a:buChar char="o"/>
            </a:pPr>
            <a:r>
              <a:rPr lang="en-US">
                <a:ea typeface="Calibri"/>
                <a:cs typeface="+mn-lt"/>
              </a:rPr>
              <a:t>10. What percentage of the functions in the binary file are imported (are external)?"</a:t>
            </a:r>
          </a:p>
          <a:p>
            <a:pPr marL="285750" indent="-285750">
              <a:buFont typeface="Arial"/>
              <a:buChar char="•"/>
            </a:pPr>
            <a:r>
              <a:rPr lang="en-US">
                <a:ea typeface="Calibri"/>
                <a:cs typeface="+mn-lt"/>
              </a:rPr>
              <a:t>These questions, while originally developed during the start of this process, were modified throughout while what was possible with the data was discovered in more detail throughout the development process.</a:t>
            </a:r>
          </a:p>
          <a:p>
            <a:pPr marL="285750" indent="-285750">
              <a:buFont typeface="Arial"/>
              <a:buChar char="•"/>
            </a:pPr>
            <a:r>
              <a:rPr lang="en-US">
                <a:ea typeface="Calibri"/>
                <a:cs typeface="+mn-lt"/>
              </a:rPr>
              <a:t>For the data chosen for this research, a repository of both benign and malicious </a:t>
            </a:r>
            <a:r>
              <a:rPr lang="en-US" err="1">
                <a:ea typeface="Calibri"/>
                <a:cs typeface="+mn-lt"/>
              </a:rPr>
              <a:t>exectuable</a:t>
            </a:r>
            <a:r>
              <a:rPr lang="en-US">
                <a:ea typeface="Calibri"/>
                <a:cs typeface="+mn-lt"/>
              </a:rPr>
              <a:t> ELF (executable and linkable format) files were chosen. The ELF format is </a:t>
            </a:r>
            <a:r>
              <a:rPr lang="en-US" err="1">
                <a:ea typeface="Calibri"/>
                <a:cs typeface="+mn-lt"/>
              </a:rPr>
              <a:t>unix</a:t>
            </a:r>
            <a:r>
              <a:rPr lang="en-US">
                <a:ea typeface="Calibri"/>
                <a:cs typeface="+mn-lt"/>
              </a:rPr>
              <a:t>-based with unique names for certain API calls that differ from windows executables, so the queries made after the materialization process take this into account.</a:t>
            </a:r>
          </a:p>
        </p:txBody>
      </p:sp>
      <p:sp>
        <p:nvSpPr>
          <p:cNvPr id="4" name="Slide Number Placeholder 3"/>
          <p:cNvSpPr>
            <a:spLocks noGrp="1"/>
          </p:cNvSpPr>
          <p:nvPr>
            <p:ph type="sldNum" sz="quarter" idx="5"/>
          </p:nvPr>
        </p:nvSpPr>
        <p:spPr/>
        <p:txBody>
          <a:bodyPr/>
          <a:lstStyle/>
          <a:p>
            <a:fld id="{BCB10328-B2AA-BB46-8265-A51445C1A689}" type="slidenum">
              <a:rPr lang="en-US" smtClean="0"/>
              <a:t>9</a:t>
            </a:fld>
            <a:endParaRPr lang="en-US"/>
          </a:p>
        </p:txBody>
      </p:sp>
    </p:spTree>
    <p:extLst>
      <p:ext uri="{BB962C8B-B14F-4D97-AF65-F5344CB8AC3E}">
        <p14:creationId xmlns:p14="http://schemas.microsoft.com/office/powerpoint/2010/main" val="1055678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The schema for how I organized the data was made through the </a:t>
            </a:r>
            <a:r>
              <a:rPr lang="en-US" err="1">
                <a:ea typeface="Calibri"/>
                <a:cs typeface="Calibri"/>
              </a:rPr>
              <a:t>yEd</a:t>
            </a:r>
            <a:r>
              <a:rPr lang="en-US">
                <a:ea typeface="Calibri"/>
                <a:cs typeface="Calibri"/>
              </a:rPr>
              <a:t> graph editor. </a:t>
            </a:r>
          </a:p>
          <a:p>
            <a:pPr marL="171450" indent="-171450">
              <a:buFont typeface="Arial"/>
              <a:buChar char="•"/>
            </a:pPr>
            <a:r>
              <a:rPr lang="en-US">
                <a:ea typeface="Calibri"/>
                <a:cs typeface="Calibri"/>
              </a:rPr>
              <a:t>The schema is based on the symbol tree in </a:t>
            </a:r>
            <a:r>
              <a:rPr lang="en-US" err="1">
                <a:ea typeface="Calibri"/>
                <a:cs typeface="Calibri"/>
              </a:rPr>
              <a:t>ghidra</a:t>
            </a:r>
            <a:r>
              <a:rPr lang="en-US">
                <a:ea typeface="Calibri"/>
                <a:cs typeface="Calibri"/>
              </a:rPr>
              <a:t>, which organizes all the data based on where it is located in terms of symbols. In </a:t>
            </a:r>
            <a:r>
              <a:rPr lang="en-US" err="1">
                <a:ea typeface="Calibri"/>
                <a:cs typeface="Calibri"/>
              </a:rPr>
              <a:t>Ghidra</a:t>
            </a:r>
            <a:r>
              <a:rPr lang="en-US">
                <a:ea typeface="Calibri"/>
                <a:cs typeface="Calibri"/>
              </a:rPr>
              <a:t>, a symbol is a human readable name for a memory address, allowing for labeling of parts of data to better understand how they work. </a:t>
            </a:r>
            <a:r>
              <a:rPr lang="en-US" err="1">
                <a:ea typeface="Calibri"/>
                <a:cs typeface="Calibri"/>
              </a:rPr>
              <a:t>Ghidra</a:t>
            </a:r>
            <a:r>
              <a:rPr lang="en-US">
                <a:ea typeface="Calibri"/>
                <a:cs typeface="Calibri"/>
              </a:rPr>
              <a:t> categorizes symbols into 6 categories; namespaces, classes, functions, labels, imports, and exports. All of these have their own objects represented in the schema (with imports and exports being represented as DLLs (dynamically linked libraries)).</a:t>
            </a:r>
          </a:p>
          <a:p>
            <a:pPr marL="171450" indent="-171450">
              <a:buFont typeface="Arial"/>
              <a:buChar char="•"/>
            </a:pPr>
            <a:r>
              <a:rPr lang="en-US">
                <a:ea typeface="Calibri"/>
                <a:cs typeface="Calibri"/>
              </a:rPr>
              <a:t>The main module of </a:t>
            </a:r>
            <a:r>
              <a:rPr lang="en-US" err="1">
                <a:ea typeface="Calibri"/>
                <a:cs typeface="Calibri"/>
              </a:rPr>
              <a:t>th</a:t>
            </a:r>
            <a:r>
              <a:rPr lang="en-US">
                <a:ea typeface="Calibri"/>
                <a:cs typeface="Calibri"/>
              </a:rPr>
              <a:t>is schema is for the symbol object (since the schema is modeled on the symbol table). There are two types of symbols, labels, which act like variables outside of functions, and </a:t>
            </a:r>
            <a:r>
              <a:rPr lang="en-US" err="1">
                <a:ea typeface="Calibri"/>
                <a:cs typeface="Calibri"/>
              </a:rPr>
              <a:t>namespa</a:t>
            </a:r>
            <a:r>
              <a:rPr lang="en-US">
                <a:ea typeface="Calibri"/>
                <a:cs typeface="Calibri"/>
              </a:rPr>
              <a:t>ce symbols, which can define other symbols within themselves. Namespaces, DLLs, Classes, and functions are all subclasses of the namespace symbol. So classes can be defined in namespaces, functions can be defined in DLLs, and so on. Another important part of the schema is the instruction module, where functions contain multiple instructions. These instructions with their opcodes and operands specified is one of the primary ways malicious patterns are detected within the knowledge graph, especially detecting certain patterns of instructions within certain functions.</a:t>
            </a:r>
          </a:p>
          <a:p>
            <a:pPr marL="171450" indent="-171450">
              <a:buFont typeface="Arial"/>
              <a:buChar char="•"/>
            </a:pPr>
            <a:r>
              <a:rPr lang="en-US">
                <a:ea typeface="Calibri"/>
                <a:cs typeface="Calibri"/>
              </a:rPr>
              <a:t>After this base structure was defined, axioms were constructed for the relations. An axiom is a constraint on a relation that defines how that relation can be used. Some important axioms defined that were used for constructing the ontology include the subclass relation, functionality, and domain and ranges of relations. Structuring the relations in this way helps structure the data and give certain limits for the data.</a:t>
            </a:r>
          </a:p>
        </p:txBody>
      </p:sp>
      <p:sp>
        <p:nvSpPr>
          <p:cNvPr id="4" name="Slide Number Placeholder 3"/>
          <p:cNvSpPr>
            <a:spLocks noGrp="1"/>
          </p:cNvSpPr>
          <p:nvPr>
            <p:ph type="sldNum" sz="quarter" idx="5"/>
          </p:nvPr>
        </p:nvSpPr>
        <p:spPr/>
        <p:txBody>
          <a:bodyPr/>
          <a:lstStyle/>
          <a:p>
            <a:fld id="{BCB10328-B2AA-BB46-8265-A51445C1A689}" type="slidenum">
              <a:rPr lang="en-US" smtClean="0"/>
              <a:t>10</a:t>
            </a:fld>
            <a:endParaRPr lang="en-US"/>
          </a:p>
        </p:txBody>
      </p:sp>
    </p:spTree>
    <p:extLst>
      <p:ext uri="{BB962C8B-B14F-4D97-AF65-F5344CB8AC3E}">
        <p14:creationId xmlns:p14="http://schemas.microsoft.com/office/powerpoint/2010/main" val="265538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After the schema and </a:t>
            </a:r>
            <a:r>
              <a:rPr lang="en-US" err="1">
                <a:ea typeface="Calibri"/>
                <a:cs typeface="Calibri"/>
              </a:rPr>
              <a:t>axiomization</a:t>
            </a:r>
            <a:r>
              <a:rPr lang="en-US">
                <a:ea typeface="Calibri"/>
                <a:cs typeface="Calibri"/>
              </a:rPr>
              <a:t> was specified, the ontology was developed based on the schema using a software called protégé.</a:t>
            </a:r>
          </a:p>
          <a:p>
            <a:pPr marL="171450" indent="-171450">
              <a:buFont typeface="Arial"/>
              <a:buChar char="•"/>
            </a:pPr>
            <a:r>
              <a:rPr lang="en-US">
                <a:ea typeface="Calibri"/>
                <a:cs typeface="Calibri"/>
              </a:rPr>
              <a:t>The main parts of this include the objects (or classes as they are called in protégé), the object properties (which are the relations between two objects), and the data properties (which are relations that link an object and a literal value together, like how an instruction has an opcode that is represented by a literal string).</a:t>
            </a:r>
          </a:p>
          <a:p>
            <a:pPr marL="171450" indent="-171450">
              <a:buFont typeface="Arial"/>
              <a:buChar char="•"/>
            </a:pPr>
            <a:r>
              <a:rPr lang="en-US">
                <a:ea typeface="Calibri"/>
                <a:cs typeface="Calibri"/>
              </a:rPr>
              <a:t>The ontology was based directly on the schema, with all the objects and relations from the schema translated into protégé. The axioms defined for the schema are also put into protégé through a functionality option for relations (to define if a given relation has the functionality axiom, or the fact that there can only be a max of one of those relations for a given object in the domain). Protégé also allows for specifying the domain and range of the relations, which specify which objects can be at either end of the relation.</a:t>
            </a:r>
          </a:p>
          <a:p>
            <a:pPr marL="171450" indent="-171450">
              <a:buFont typeface="Arial"/>
              <a:buChar char="•"/>
            </a:pPr>
            <a:r>
              <a:rPr lang="en-US">
                <a:ea typeface="Calibri"/>
                <a:cs typeface="Calibri"/>
              </a:rPr>
              <a:t>After the ontology has finished development within protégé, it can be exported into multiple different RDF files. For this project, it was saved in the turtle format since it was the easiest format to use to help with the knowledge graph materialization later.</a:t>
            </a:r>
          </a:p>
          <a:p>
            <a:pPr marL="171450" indent="-1714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BCB10328-B2AA-BB46-8265-A51445C1A689}" type="slidenum">
              <a:rPr lang="en-US" smtClean="0"/>
              <a:t>11</a:t>
            </a:fld>
            <a:endParaRPr lang="en-US"/>
          </a:p>
        </p:txBody>
      </p:sp>
    </p:spTree>
    <p:extLst>
      <p:ext uri="{BB962C8B-B14F-4D97-AF65-F5344CB8AC3E}">
        <p14:creationId xmlns:p14="http://schemas.microsoft.com/office/powerpoint/2010/main" val="2580877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After the ontology was developed, then we went into the process of materializing the knowledge graph. This consisted of a few different steps. </a:t>
            </a:r>
          </a:p>
          <a:p>
            <a:pPr marL="171450" indent="-171450">
              <a:buFont typeface="Arial"/>
              <a:buChar char="•"/>
            </a:pPr>
            <a:r>
              <a:rPr lang="en-US">
                <a:ea typeface="Calibri"/>
                <a:cs typeface="Calibri"/>
              </a:rPr>
              <a:t>The first is data extraction. After a given executable file was analyzed by </a:t>
            </a:r>
            <a:r>
              <a:rPr lang="en-US" err="1">
                <a:ea typeface="Calibri"/>
                <a:cs typeface="Calibri"/>
              </a:rPr>
              <a:t>Ghidra</a:t>
            </a:r>
            <a:r>
              <a:rPr lang="en-US">
                <a:ea typeface="Calibri"/>
                <a:cs typeface="Calibri"/>
              </a:rPr>
              <a:t>, I utilized the </a:t>
            </a:r>
            <a:r>
              <a:rPr lang="en-US" err="1">
                <a:ea typeface="Calibri"/>
                <a:cs typeface="Calibri"/>
              </a:rPr>
              <a:t>Ghidra</a:t>
            </a:r>
            <a:r>
              <a:rPr lang="en-US">
                <a:ea typeface="Calibri"/>
                <a:cs typeface="Calibri"/>
              </a:rPr>
              <a:t> API to extract the specific data needed for the knowledge graph. The script that did this made many </a:t>
            </a:r>
            <a:r>
              <a:rPr lang="en-US" err="1">
                <a:ea typeface="Calibri"/>
                <a:cs typeface="Calibri"/>
              </a:rPr>
              <a:t>Ghidra</a:t>
            </a:r>
            <a:r>
              <a:rPr lang="en-US">
                <a:ea typeface="Calibri"/>
                <a:cs typeface="Calibri"/>
              </a:rPr>
              <a:t> API calls, then output the results of those into multiple data files.</a:t>
            </a:r>
          </a:p>
          <a:p>
            <a:pPr marL="171450" indent="-171450">
              <a:buFont typeface="Arial"/>
              <a:buChar char="•"/>
            </a:pPr>
            <a:r>
              <a:rPr lang="en-US">
                <a:ea typeface="Calibri"/>
                <a:cs typeface="Calibri"/>
              </a:rPr>
              <a:t>Then, there is the data parsing script, which takes the data from all these files and organizes them into python dictionaries. These are put into lists of dictionaries for each kind of object.</a:t>
            </a:r>
          </a:p>
          <a:p>
            <a:pPr marL="171450" indent="-171450">
              <a:buFont typeface="Arial"/>
              <a:buChar char="•"/>
            </a:pPr>
            <a:r>
              <a:rPr lang="en-US">
                <a:ea typeface="Calibri"/>
                <a:cs typeface="Calibri"/>
              </a:rPr>
              <a:t>Then, the materialization script calls the data parsing script to get all the dictionaries of the data. It then uses that to create the triples that will consist of the knowledge graph.</a:t>
            </a:r>
          </a:p>
          <a:p>
            <a:pPr marL="171450" lvl="0" indent="-171450">
              <a:buFont typeface="Courier New"/>
              <a:buChar char="o"/>
            </a:pPr>
            <a:r>
              <a:rPr lang="en-US">
                <a:ea typeface="Calibri"/>
                <a:cs typeface="Calibri"/>
              </a:rPr>
              <a:t>Within this script, the graph is initialized as an empty graph, then parses the ontology turtle file to add all the triples associated with that. Then, it iterates through all the lists of dictionaries for each object, then adds all the required triples for each object into the knowledge graph. After all the triples are added, the knowledge graph is exported into another turtle file, which is now ready to be queried.</a:t>
            </a:r>
          </a:p>
        </p:txBody>
      </p:sp>
      <p:sp>
        <p:nvSpPr>
          <p:cNvPr id="4" name="Slide Number Placeholder 3"/>
          <p:cNvSpPr>
            <a:spLocks noGrp="1"/>
          </p:cNvSpPr>
          <p:nvPr>
            <p:ph type="sldNum" sz="quarter" idx="5"/>
          </p:nvPr>
        </p:nvSpPr>
        <p:spPr/>
        <p:txBody>
          <a:bodyPr/>
          <a:lstStyle/>
          <a:p>
            <a:fld id="{BCB10328-B2AA-BB46-8265-A51445C1A689}" type="slidenum">
              <a:rPr lang="en-US" smtClean="0"/>
              <a:t>12</a:t>
            </a:fld>
            <a:endParaRPr lang="en-US"/>
          </a:p>
        </p:txBody>
      </p:sp>
    </p:spTree>
    <p:extLst>
      <p:ext uri="{BB962C8B-B14F-4D97-AF65-F5344CB8AC3E}">
        <p14:creationId xmlns:p14="http://schemas.microsoft.com/office/powerpoint/2010/main" val="2661502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ea typeface="Calibri"/>
                <a:cs typeface="Calibri"/>
              </a:rPr>
              <a:t>Now we get to the results section, which contains two main parts. First is evaluating the ontology itself, and the second is querying the resulting knowledge graphs to detect the malicious behavior.</a:t>
            </a:r>
          </a:p>
        </p:txBody>
      </p:sp>
      <p:sp>
        <p:nvSpPr>
          <p:cNvPr id="4" name="Slide Number Placeholder 3"/>
          <p:cNvSpPr>
            <a:spLocks noGrp="1"/>
          </p:cNvSpPr>
          <p:nvPr>
            <p:ph type="sldNum" sz="quarter" idx="5"/>
          </p:nvPr>
        </p:nvSpPr>
        <p:spPr/>
        <p:txBody>
          <a:bodyPr/>
          <a:lstStyle/>
          <a:p>
            <a:fld id="{BCB10328-B2AA-BB46-8265-A51445C1A689}" type="slidenum">
              <a:rPr lang="en-US" smtClean="0"/>
              <a:t>13</a:t>
            </a:fld>
            <a:endParaRPr lang="en-US"/>
          </a:p>
        </p:txBody>
      </p:sp>
    </p:spTree>
    <p:extLst>
      <p:ext uri="{BB962C8B-B14F-4D97-AF65-F5344CB8AC3E}">
        <p14:creationId xmlns:p14="http://schemas.microsoft.com/office/powerpoint/2010/main" val="3526881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ea typeface="Calibri"/>
                <a:cs typeface="Calibri"/>
              </a:rPr>
              <a:t>Some of the pitfalls that were pointed out by the pitfall scanner and fixed include missing domain and range elements from relations, missing annotations, and missing a specification for what objects are disjoint with each other. This tool overall made the ontology more robust and complete.</a:t>
            </a:r>
          </a:p>
          <a:p>
            <a:endParaRPr lang="en-US">
              <a:ea typeface="Calibri"/>
              <a:cs typeface="Calibri"/>
            </a:endParaRPr>
          </a:p>
          <a:p>
            <a:r>
              <a:rPr lang="en-US">
                <a:ea typeface="Calibri"/>
                <a:cs typeface="Calibri"/>
              </a:rPr>
              <a:t>There were some pitfalls that the tool caught, but were disregarded for one reason or another due to the limited time constraint for this research. The first one is a recursive definition for the function object, where it is both defined in and a subclass of the namespace symbol object. I decided to ignore this warning as I thought it was important for the structure of the ontology to specify that a function is a type of namespace, and that it can be defined in all types of namespace variables, including functions themselves.</a:t>
            </a:r>
          </a:p>
          <a:p>
            <a:r>
              <a:rPr lang="en-US">
                <a:ea typeface="Calibri"/>
                <a:cs typeface="Calibri"/>
              </a:rPr>
              <a:t>The second pitfall was for equivalent </a:t>
            </a:r>
            <a:r>
              <a:rPr lang="en-US" err="1">
                <a:ea typeface="Calibri"/>
                <a:cs typeface="Calibri"/>
              </a:rPr>
              <a:t>clas</a:t>
            </a:r>
            <a:r>
              <a:rPr lang="en-US">
                <a:ea typeface="Calibri"/>
                <a:cs typeface="Calibri"/>
              </a:rPr>
              <a:t>ses not explicitly stated for the address and reference class. My guess is that the pitfall scanner caught this pitfall by the names and assumed that they are the </a:t>
            </a:r>
            <a:r>
              <a:rPr lang="en-US" err="1">
                <a:ea typeface="Calibri"/>
                <a:cs typeface="Calibri"/>
              </a:rPr>
              <a:t>sam</a:t>
            </a:r>
            <a:r>
              <a:rPr lang="en-US">
                <a:ea typeface="Calibri"/>
                <a:cs typeface="Calibri"/>
              </a:rPr>
              <a:t>e object since other ontologies usually use the term interchangeably. However, I wanted to make the distinction between these two since a reference is for a link between two memory addresses.</a:t>
            </a:r>
          </a:p>
          <a:p>
            <a:r>
              <a:rPr lang="en-US">
                <a:ea typeface="Calibri"/>
                <a:cs typeface="Calibri"/>
              </a:rPr>
              <a:t>The third is no explicitly defined inverse relations, where the </a:t>
            </a:r>
            <a:r>
              <a:rPr lang="en-US" err="1">
                <a:ea typeface="Calibri"/>
                <a:cs typeface="Calibri"/>
              </a:rPr>
              <a:t>hasDataType</a:t>
            </a:r>
            <a:r>
              <a:rPr lang="en-US">
                <a:ea typeface="Calibri"/>
                <a:cs typeface="Calibri"/>
              </a:rPr>
              <a:t> and </a:t>
            </a:r>
            <a:r>
              <a:rPr lang="en-US" err="1">
                <a:ea typeface="Calibri"/>
                <a:cs typeface="Calibri"/>
              </a:rPr>
              <a:t>hasReturnType</a:t>
            </a:r>
            <a:r>
              <a:rPr lang="en-US">
                <a:ea typeface="Calibri"/>
                <a:cs typeface="Calibri"/>
              </a:rPr>
              <a:t> have no inverse relation defined. I decided not to define any inverse relations for these, since specifying that a certain data </a:t>
            </a:r>
            <a:r>
              <a:rPr lang="en-US" err="1">
                <a:ea typeface="Calibri"/>
                <a:cs typeface="Calibri"/>
              </a:rPr>
              <a:t>typ</a:t>
            </a:r>
            <a:r>
              <a:rPr lang="en-US">
                <a:ea typeface="Calibri"/>
                <a:cs typeface="Calibri"/>
              </a:rPr>
              <a:t>e is used as a data type for a variable or a return type for a function does not give any meaningful purpose. In future work for this research, I will most likely modify the ontology to have the Data Type object not be defined as an object, but as a string that signifies what the data type is since it is not used for anything else.</a:t>
            </a:r>
          </a:p>
        </p:txBody>
      </p:sp>
      <p:sp>
        <p:nvSpPr>
          <p:cNvPr id="4" name="Slide Number Placeholder 3"/>
          <p:cNvSpPr>
            <a:spLocks noGrp="1"/>
          </p:cNvSpPr>
          <p:nvPr>
            <p:ph type="sldNum" sz="quarter" idx="5"/>
          </p:nvPr>
        </p:nvSpPr>
        <p:spPr/>
        <p:txBody>
          <a:bodyPr/>
          <a:lstStyle/>
          <a:p>
            <a:fld id="{BCB10328-B2AA-BB46-8265-A51445C1A689}" type="slidenum">
              <a:rPr lang="en-US" smtClean="0"/>
              <a:t>14</a:t>
            </a:fld>
            <a:endParaRPr lang="en-US"/>
          </a:p>
        </p:txBody>
      </p:sp>
    </p:spTree>
    <p:extLst>
      <p:ext uri="{BB962C8B-B14F-4D97-AF65-F5344CB8AC3E}">
        <p14:creationId xmlns:p14="http://schemas.microsoft.com/office/powerpoint/2010/main" val="1929528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The next part is developing the SPARQL queries to query the knowledge graphs. SPARQL stands for SPARQL Protocol and RDF Query Language, and it's just the query language used for data in </a:t>
            </a:r>
            <a:r>
              <a:rPr lang="en-US" err="1">
                <a:ea typeface="Calibri"/>
                <a:cs typeface="Calibri"/>
              </a:rPr>
              <a:t>th</a:t>
            </a:r>
            <a:r>
              <a:rPr lang="en-US">
                <a:ea typeface="Calibri"/>
                <a:cs typeface="Calibri"/>
              </a:rPr>
              <a:t>e RDF format (aka, the knowledge graph). The queries made were based on the competency questions defined earlier in the presentation. There was at least one query created for each competency question, but I will just go over a few of the most interesting results in this presentation.</a:t>
            </a:r>
            <a:endParaRPr lang="en-US"/>
          </a:p>
          <a:p>
            <a:pPr marL="171450" indent="-171450">
              <a:buFont typeface="Arial"/>
              <a:buChar char="•"/>
            </a:pPr>
            <a:r>
              <a:rPr lang="en-US">
                <a:ea typeface="Calibri"/>
                <a:cs typeface="Calibri"/>
              </a:rPr>
              <a:t>The query showcased here is based on the 4th competency question, which asks about finding entropy within functions. In this query, it finds function with 10 or greater instructions, then sorts them by  the percentage of unique opcodes contained in the instructions and the total number of instructions in the given function. The more unique opcodes there are compared to total instructions, the more entropy is contained in the function.</a:t>
            </a:r>
          </a:p>
          <a:p>
            <a:pPr marL="171450" indent="-171450">
              <a:buFont typeface="Arial"/>
              <a:buChar char="•"/>
            </a:pPr>
            <a:r>
              <a:rPr lang="en-US">
                <a:ea typeface="Calibri"/>
                <a:cs typeface="Calibri"/>
              </a:rPr>
              <a:t>After the queries were created, a software called </a:t>
            </a:r>
            <a:r>
              <a:rPr lang="en-US" err="1">
                <a:ea typeface="Calibri"/>
                <a:cs typeface="Calibri"/>
              </a:rPr>
              <a:t>apache</a:t>
            </a:r>
            <a:r>
              <a:rPr lang="en-US">
                <a:ea typeface="Calibri"/>
                <a:cs typeface="Calibri"/>
              </a:rPr>
              <a:t> </a:t>
            </a:r>
            <a:r>
              <a:rPr lang="en-US" err="1">
                <a:ea typeface="Calibri"/>
                <a:cs typeface="Calibri"/>
              </a:rPr>
              <a:t>jena</a:t>
            </a:r>
            <a:r>
              <a:rPr lang="en-US">
                <a:ea typeface="Calibri"/>
                <a:cs typeface="Calibri"/>
              </a:rPr>
              <a:t> </a:t>
            </a:r>
            <a:r>
              <a:rPr lang="en-US" err="1">
                <a:ea typeface="Calibri"/>
                <a:cs typeface="Calibri"/>
              </a:rPr>
              <a:t>fuseki</a:t>
            </a:r>
            <a:r>
              <a:rPr lang="en-US">
                <a:ea typeface="Calibri"/>
                <a:cs typeface="Calibri"/>
              </a:rPr>
              <a:t> was used to input the turtle file of the knowledge graph, then run the queries against it to get the results.</a:t>
            </a:r>
          </a:p>
        </p:txBody>
      </p:sp>
      <p:sp>
        <p:nvSpPr>
          <p:cNvPr id="4" name="Slide Number Placeholder 3"/>
          <p:cNvSpPr>
            <a:spLocks noGrp="1"/>
          </p:cNvSpPr>
          <p:nvPr>
            <p:ph type="sldNum" sz="quarter" idx="5"/>
          </p:nvPr>
        </p:nvSpPr>
        <p:spPr/>
        <p:txBody>
          <a:bodyPr/>
          <a:lstStyle/>
          <a:p>
            <a:fld id="{BCB10328-B2AA-BB46-8265-A51445C1A689}" type="slidenum">
              <a:rPr lang="en-US" smtClean="0"/>
              <a:t>15</a:t>
            </a:fld>
            <a:endParaRPr lang="en-US"/>
          </a:p>
        </p:txBody>
      </p:sp>
    </p:spTree>
    <p:extLst>
      <p:ext uri="{BB962C8B-B14F-4D97-AF65-F5344CB8AC3E}">
        <p14:creationId xmlns:p14="http://schemas.microsoft.com/office/powerpoint/2010/main" val="2720408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Symbol"/>
              <a:buChar char="•"/>
            </a:pPr>
            <a:r>
              <a:rPr lang="en-US">
                <a:ea typeface="Calibri"/>
                <a:cs typeface="Calibri"/>
              </a:rPr>
              <a:t>I will showcase the three most interesting results I </a:t>
            </a:r>
            <a:r>
              <a:rPr lang="en-US" err="1">
                <a:ea typeface="Calibri"/>
                <a:cs typeface="Calibri"/>
              </a:rPr>
              <a:t>fou</a:t>
            </a:r>
            <a:r>
              <a:rPr lang="en-US">
                <a:ea typeface="Calibri"/>
                <a:cs typeface="Calibri"/>
              </a:rPr>
              <a:t>nd through the process.</a:t>
            </a:r>
            <a:endParaRPr lang="en-US"/>
          </a:p>
          <a:p>
            <a:pPr marL="171450" indent="-171450">
              <a:buFont typeface="Symbol"/>
              <a:buChar char="•"/>
            </a:pPr>
            <a:r>
              <a:rPr lang="en-US"/>
              <a:t>The first one is the number of networking API calls, or instances where the program connects to the network. Higher numbers of these networking calls can potentially indicate that a bot is connecting to a malicious server and either getting instructions of what to do from the server or sending sensitive data from the victim’s system to the server. </a:t>
            </a:r>
            <a:endParaRPr lang="en-US">
              <a:ea typeface="Calibri"/>
              <a:cs typeface="Calibri"/>
            </a:endParaRPr>
          </a:p>
          <a:p>
            <a:pPr marL="171450" indent="-171450">
              <a:buFont typeface="Symbol"/>
              <a:buChar char="•"/>
            </a:pPr>
            <a:r>
              <a:rPr lang="en-US"/>
              <a:t>Another pattern to look for is high percentages of imported functions, or functions that are defined in external libraries from the program. These are also suspicious, since malware often uses external libraries of malicious code, so less of the malicious behavior is detected internally within the program. </a:t>
            </a:r>
          </a:p>
          <a:p>
            <a:pPr marL="171450" indent="-171450">
              <a:buFont typeface="Symbol"/>
              <a:buChar char="•"/>
            </a:pPr>
            <a:r>
              <a:rPr lang="en-US"/>
              <a:t>One more indicator is the amount of entropy within functions, or the randomness observed of the code. This randomness can indicate functionality that is not immediately obvious, which usually indicates part of the code is encrypted or obfuscated to hide its malicious purpose. </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CB10328-B2AA-BB46-8265-A51445C1A689}" type="slidenum">
              <a:rPr lang="en-US" smtClean="0"/>
              <a:t>16</a:t>
            </a:fld>
            <a:endParaRPr lang="en-US"/>
          </a:p>
        </p:txBody>
      </p:sp>
    </p:spTree>
    <p:extLst>
      <p:ext uri="{BB962C8B-B14F-4D97-AF65-F5344CB8AC3E}">
        <p14:creationId xmlns:p14="http://schemas.microsoft.com/office/powerpoint/2010/main" val="1047577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buFont typeface="Arial"/>
              <a:buChar char="•"/>
            </a:pPr>
            <a:r>
              <a:rPr lang="en-US">
                <a:ea typeface="Calibri"/>
                <a:cs typeface="Calibri"/>
              </a:rPr>
              <a:t>So, I was successfully able to generate knowledge graphs based on malicious executable files, then detected different kinds of malicious patterns for different kinds of malicious executables.</a:t>
            </a:r>
          </a:p>
          <a:p>
            <a:pPr marL="285750" indent="-285750">
              <a:buFont typeface="Arial"/>
              <a:buChar char="•"/>
            </a:pPr>
            <a:r>
              <a:rPr lang="en-US">
                <a:ea typeface="Calibri"/>
                <a:cs typeface="Calibri"/>
              </a:rPr>
              <a:t>For future work, I hope to modify the ontology so it fits the OOPS pitfall scanner a little better, expand the ontology to include more parts of the </a:t>
            </a:r>
            <a:r>
              <a:rPr lang="en-US" err="1">
                <a:ea typeface="Calibri"/>
                <a:cs typeface="Calibri"/>
              </a:rPr>
              <a:t>Ghidra</a:t>
            </a:r>
            <a:r>
              <a:rPr lang="en-US">
                <a:ea typeface="Calibri"/>
                <a:cs typeface="Calibri"/>
              </a:rPr>
              <a:t> analysis, and construct more robust queries to detect more kinds of malicious behavior. </a:t>
            </a:r>
          </a:p>
          <a:p>
            <a:pPr marL="285750" lvl="0" indent="-285750">
              <a:buFont typeface="Courier New"/>
              <a:buChar char="o"/>
            </a:pPr>
            <a:r>
              <a:rPr lang="en-US">
                <a:ea typeface="Calibri"/>
                <a:cs typeface="Calibri"/>
              </a:rPr>
              <a:t>Currently, the queries are specifically designed for the ELF executable format, which have different API names than other executable formats like windows executables. While the knowledge graph itself should theoretically work with other forms of executables, more queries would have to be made to find these specific patterns.</a:t>
            </a:r>
          </a:p>
          <a:p>
            <a:pPr marL="285750" lvl="0" indent="-285750">
              <a:buFont typeface="Courier New"/>
              <a:buChar char="o"/>
            </a:pPr>
            <a:r>
              <a:rPr lang="en-US">
                <a:ea typeface="Calibri"/>
                <a:cs typeface="Calibri"/>
              </a:rPr>
              <a:t>Also, many of the queries rely on knowing specific API call names, which are not always clearly stated if a given file is obfuscated to hide the function names. In this case, more queries looking at specific behavior and patterns should be created so malicious patterns can be found even when data obfuscation occurs.</a:t>
            </a:r>
          </a:p>
        </p:txBody>
      </p:sp>
      <p:sp>
        <p:nvSpPr>
          <p:cNvPr id="4" name="Slide Number Placeholder 3"/>
          <p:cNvSpPr>
            <a:spLocks noGrp="1"/>
          </p:cNvSpPr>
          <p:nvPr>
            <p:ph type="sldNum" sz="quarter" idx="5"/>
          </p:nvPr>
        </p:nvSpPr>
        <p:spPr/>
        <p:txBody>
          <a:bodyPr/>
          <a:lstStyle/>
          <a:p>
            <a:fld id="{BCB10328-B2AA-BB46-8265-A51445C1A689}" type="slidenum">
              <a:rPr lang="en-US" smtClean="0"/>
              <a:t>17</a:t>
            </a:fld>
            <a:endParaRPr lang="en-US"/>
          </a:p>
        </p:txBody>
      </p:sp>
    </p:spTree>
    <p:extLst>
      <p:ext uri="{BB962C8B-B14F-4D97-AF65-F5344CB8AC3E}">
        <p14:creationId xmlns:p14="http://schemas.microsoft.com/office/powerpoint/2010/main" val="368155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26282"/>
            <a:ext cx="8229600" cy="1102519"/>
          </a:xfrm>
          <a:prstGeom prst="rect">
            <a:avLst/>
          </a:prstGeom>
        </p:spPr>
        <p:txBody>
          <a:bodyPr/>
          <a:lstStyle>
            <a:lvl1pPr>
              <a:defRPr b="1">
                <a:solidFill>
                  <a:schemeClr val="bg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1371600" y="2043113"/>
            <a:ext cx="6400800" cy="1314450"/>
          </a:xfrm>
          <a:prstGeom prst="rect">
            <a:avLst/>
          </a:prstGeom>
        </p:spPr>
        <p:txBody>
          <a:bodyPr/>
          <a:lstStyle>
            <a:lvl1pPr marL="0" indent="0" algn="ctr">
              <a:buNone/>
              <a:defRPr>
                <a:solidFill>
                  <a:schemeClr val="bg1"/>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1220287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ctrTitle"/>
          </p:nvPr>
        </p:nvSpPr>
        <p:spPr>
          <a:xfrm>
            <a:off x="457200" y="1357140"/>
            <a:ext cx="8229600" cy="1102519"/>
          </a:xfrm>
          <a:prstGeom prst="rect">
            <a:avLst/>
          </a:prstGeom>
        </p:spPr>
        <p:txBody>
          <a:bodyPr/>
          <a:lstStyle>
            <a:lvl1pPr>
              <a:defRPr b="1">
                <a:solidFill>
                  <a:schemeClr val="bg1"/>
                </a:solidFill>
                <a:latin typeface="Arial"/>
                <a:cs typeface="Arial"/>
              </a:defRPr>
            </a:lvl1pPr>
          </a:lstStyle>
          <a:p>
            <a:r>
              <a:rPr lang="en-US"/>
              <a:t>Click to edit Master title style</a:t>
            </a:r>
          </a:p>
        </p:txBody>
      </p:sp>
      <p:sp>
        <p:nvSpPr>
          <p:cNvPr id="2" name="Date Placeholder 3">
            <a:extLst>
              <a:ext uri="{FF2B5EF4-FFF2-40B4-BE49-F238E27FC236}">
                <a16:creationId xmlns:a16="http://schemas.microsoft.com/office/drawing/2014/main" id="{C91F9405-8B04-EFBE-23C8-71A97266DE9D}"/>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7" name="Footer Placeholder 4">
            <a:extLst>
              <a:ext uri="{FF2B5EF4-FFF2-40B4-BE49-F238E27FC236}">
                <a16:creationId xmlns:a16="http://schemas.microsoft.com/office/drawing/2014/main" id="{BEF7D51A-4EF9-6237-A7D9-F35F7AF98F52}"/>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8" name="Slide Number Placeholder 5">
            <a:extLst>
              <a:ext uri="{FF2B5EF4-FFF2-40B4-BE49-F238E27FC236}">
                <a16:creationId xmlns:a16="http://schemas.microsoft.com/office/drawing/2014/main" id="{5701E918-D4A6-6F18-6001-21356968D8C1}"/>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2471026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AE96AA33-7AA7-4656-48A6-13AF97DCBCB7}"/>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6" name="Footer Placeholder 4">
            <a:extLst>
              <a:ext uri="{FF2B5EF4-FFF2-40B4-BE49-F238E27FC236}">
                <a16:creationId xmlns:a16="http://schemas.microsoft.com/office/drawing/2014/main" id="{DC7C936D-5424-72C2-2F38-35164BDAF2CE}"/>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7" name="Slide Number Placeholder 5">
            <a:extLst>
              <a:ext uri="{FF2B5EF4-FFF2-40B4-BE49-F238E27FC236}">
                <a16:creationId xmlns:a16="http://schemas.microsoft.com/office/drawing/2014/main" id="{B3266BBF-F6D5-3D93-1F2B-90D1BD20ACE8}"/>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2291408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876138"/>
            <a:ext cx="8229600" cy="1102519"/>
          </a:xfrm>
          <a:prstGeom prst="rect">
            <a:avLst/>
          </a:prstGeom>
        </p:spPr>
        <p:txBody>
          <a:bodyPr/>
          <a:lstStyle>
            <a:lvl1pPr>
              <a:defRPr b="1">
                <a:solidFill>
                  <a:schemeClr val="bg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1371600" y="3192969"/>
            <a:ext cx="6400800" cy="1314450"/>
          </a:xfrm>
          <a:prstGeom prst="rect">
            <a:avLst/>
          </a:prstGeom>
        </p:spPr>
        <p:txBody>
          <a:bodyPr/>
          <a:lstStyle>
            <a:lvl1pPr marL="0" indent="0" algn="ctr">
              <a:buNone/>
              <a:defRPr>
                <a:solidFill>
                  <a:schemeClr val="bg1"/>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7" name="Date Placeholder 3">
            <a:extLst>
              <a:ext uri="{FF2B5EF4-FFF2-40B4-BE49-F238E27FC236}">
                <a16:creationId xmlns:a16="http://schemas.microsoft.com/office/drawing/2014/main" id="{2DEB5B1F-B603-AA59-D920-71932D3428BC}"/>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8" name="Footer Placeholder 4">
            <a:extLst>
              <a:ext uri="{FF2B5EF4-FFF2-40B4-BE49-F238E27FC236}">
                <a16:creationId xmlns:a16="http://schemas.microsoft.com/office/drawing/2014/main" id="{2C15F8A0-4DA8-96B0-6FD9-527F49F15397}"/>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9" name="Slide Number Placeholder 5">
            <a:extLst>
              <a:ext uri="{FF2B5EF4-FFF2-40B4-BE49-F238E27FC236}">
                <a16:creationId xmlns:a16="http://schemas.microsoft.com/office/drawing/2014/main" id="{7728013E-7CF3-5156-20D6-4CCEC2A91C81}"/>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2080598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99597"/>
            <a:ext cx="8229600" cy="857250"/>
          </a:xfrm>
          <a:prstGeom prst="rect">
            <a:avLst/>
          </a:prstGeom>
        </p:spPr>
        <p:txBody>
          <a:bodyPr/>
          <a:lstStyle>
            <a:lvl1pPr>
              <a:defRPr b="1">
                <a:solidFill>
                  <a:srgbClr val="FFFFFF"/>
                </a:solidFill>
                <a:latin typeface="Arial"/>
                <a:cs typeface="Arial"/>
              </a:defRPr>
            </a:lvl1pPr>
          </a:lstStyle>
          <a:p>
            <a:r>
              <a:rPr lang="en-US"/>
              <a:t>Click to edit Master title style</a:t>
            </a:r>
          </a:p>
        </p:txBody>
      </p:sp>
      <p:sp>
        <p:nvSpPr>
          <p:cNvPr id="6" name="Date Placeholder 3">
            <a:extLst>
              <a:ext uri="{FF2B5EF4-FFF2-40B4-BE49-F238E27FC236}">
                <a16:creationId xmlns:a16="http://schemas.microsoft.com/office/drawing/2014/main" id="{FBC66057-9998-FB4F-E27E-0F22DE970484}"/>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7" name="Footer Placeholder 4">
            <a:extLst>
              <a:ext uri="{FF2B5EF4-FFF2-40B4-BE49-F238E27FC236}">
                <a16:creationId xmlns:a16="http://schemas.microsoft.com/office/drawing/2014/main" id="{AE62B9E5-9F5D-5B90-3029-1283FA641D55}"/>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8" name="Slide Number Placeholder 5">
            <a:extLst>
              <a:ext uri="{FF2B5EF4-FFF2-40B4-BE49-F238E27FC236}">
                <a16:creationId xmlns:a16="http://schemas.microsoft.com/office/drawing/2014/main" id="{EDBED7B3-386B-C983-F8A6-6FB8BFA870C2}"/>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2814066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7A815B9-FF99-7C2E-E807-A09C97315D6C}"/>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6" name="Footer Placeholder 4">
            <a:extLst>
              <a:ext uri="{FF2B5EF4-FFF2-40B4-BE49-F238E27FC236}">
                <a16:creationId xmlns:a16="http://schemas.microsoft.com/office/drawing/2014/main" id="{75AB3973-EBF0-BD0B-F2D2-D926CAD9ED8F}"/>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7" name="Slide Number Placeholder 5">
            <a:extLst>
              <a:ext uri="{FF2B5EF4-FFF2-40B4-BE49-F238E27FC236}">
                <a16:creationId xmlns:a16="http://schemas.microsoft.com/office/drawing/2014/main" id="{1E04B1C8-6007-A74E-9365-8C32661D1E3A}"/>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4013095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1250"/>
            <a:ext cx="8229600" cy="1102519"/>
          </a:xfrm>
        </p:spPr>
        <p:txBody>
          <a:bodyPr/>
          <a:lstStyle>
            <a:lvl1pPr>
              <a:defRPr b="1">
                <a:solidFill>
                  <a:srgbClr val="FFFFFF"/>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1371600" y="2078081"/>
            <a:ext cx="6400800" cy="1129576"/>
          </a:xfrm>
        </p:spPr>
        <p:txBody>
          <a:bodyPr/>
          <a:lstStyle>
            <a:lvl1pPr marL="0" indent="0" algn="ctr">
              <a:buNone/>
              <a:defRPr>
                <a:solidFill>
                  <a:srgbClr val="FFFFFF"/>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7" name="Date Placeholder 3">
            <a:extLst>
              <a:ext uri="{FF2B5EF4-FFF2-40B4-BE49-F238E27FC236}">
                <a16:creationId xmlns:a16="http://schemas.microsoft.com/office/drawing/2014/main" id="{03A1771F-02E0-0BCB-5810-94CC5E475059}"/>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8" name="Footer Placeholder 4">
            <a:extLst>
              <a:ext uri="{FF2B5EF4-FFF2-40B4-BE49-F238E27FC236}">
                <a16:creationId xmlns:a16="http://schemas.microsoft.com/office/drawing/2014/main" id="{12A4CBE3-5388-D57B-CA1F-8C8030AA7F3F}"/>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9" name="Slide Number Placeholder 5">
            <a:extLst>
              <a:ext uri="{FF2B5EF4-FFF2-40B4-BE49-F238E27FC236}">
                <a16:creationId xmlns:a16="http://schemas.microsoft.com/office/drawing/2014/main" id="{8F0FEF06-F5C0-1B8D-EB7E-49A069A977CE}"/>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1493629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306887"/>
            <a:ext cx="8229599" cy="857250"/>
          </a:xfrm>
        </p:spPr>
        <p:txBody>
          <a:bodyPr/>
          <a:lstStyle>
            <a:lvl1pPr>
              <a:defRPr b="1">
                <a:solidFill>
                  <a:srgbClr val="FFFFFF"/>
                </a:solidFill>
                <a:latin typeface="Arial"/>
                <a:cs typeface="Arial"/>
              </a:defRPr>
            </a:lvl1pPr>
          </a:lstStyle>
          <a:p>
            <a:r>
              <a:rPr lang="en-US"/>
              <a:t>Click to edit Master title style</a:t>
            </a:r>
          </a:p>
        </p:txBody>
      </p:sp>
      <p:sp>
        <p:nvSpPr>
          <p:cNvPr id="6" name="Date Placeholder 3">
            <a:extLst>
              <a:ext uri="{FF2B5EF4-FFF2-40B4-BE49-F238E27FC236}">
                <a16:creationId xmlns:a16="http://schemas.microsoft.com/office/drawing/2014/main" id="{DD99E945-8D81-22A9-959F-271C7A8B0847}"/>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7" name="Footer Placeholder 4">
            <a:extLst>
              <a:ext uri="{FF2B5EF4-FFF2-40B4-BE49-F238E27FC236}">
                <a16:creationId xmlns:a16="http://schemas.microsoft.com/office/drawing/2014/main" id="{2D95187B-A943-E7E1-D1C0-92A79B87BB5C}"/>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8" name="Slide Number Placeholder 5">
            <a:extLst>
              <a:ext uri="{FF2B5EF4-FFF2-40B4-BE49-F238E27FC236}">
                <a16:creationId xmlns:a16="http://schemas.microsoft.com/office/drawing/2014/main" id="{0D03AABA-39D0-FB7C-55EA-9AEC4A56B5ED}"/>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335821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88C1F9F1-3BCF-6FD2-ACB1-4A54FBF0D891}"/>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6" name="Footer Placeholder 4">
            <a:extLst>
              <a:ext uri="{FF2B5EF4-FFF2-40B4-BE49-F238E27FC236}">
                <a16:creationId xmlns:a16="http://schemas.microsoft.com/office/drawing/2014/main" id="{DDDDC752-6F16-BE6A-D5B7-AD7535A3F4BF}"/>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7" name="Slide Number Placeholder 5">
            <a:extLst>
              <a:ext uri="{FF2B5EF4-FFF2-40B4-BE49-F238E27FC236}">
                <a16:creationId xmlns:a16="http://schemas.microsoft.com/office/drawing/2014/main" id="{D147843E-6065-30FA-1E15-8AB9938FDECE}"/>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4168888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631380" y="564945"/>
            <a:ext cx="2339436" cy="1438026"/>
          </a:xfrm>
          <a:prstGeom prst="rect">
            <a:avLst/>
          </a:prstGeom>
        </p:spPr>
        <p:txBody>
          <a:bodyPr>
            <a:noAutofit/>
          </a:bodyPr>
          <a:lstStyle>
            <a:lvl1pPr>
              <a:defRPr sz="2625" b="1">
                <a:solidFill>
                  <a:srgbClr val="FFFFFF"/>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6631380" y="2102955"/>
            <a:ext cx="2339436" cy="1314450"/>
          </a:xfrm>
          <a:prstGeom prst="rect">
            <a:avLst/>
          </a:prstGeom>
        </p:spPr>
        <p:txBody>
          <a:bodyPr>
            <a:normAutofit/>
          </a:bodyPr>
          <a:lstStyle>
            <a:lvl1pPr marL="0" indent="0" algn="ctr">
              <a:buNone/>
              <a:defRPr sz="1500">
                <a:solidFill>
                  <a:srgbClr val="FFFFFF"/>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7" name="Date Placeholder 3">
            <a:extLst>
              <a:ext uri="{FF2B5EF4-FFF2-40B4-BE49-F238E27FC236}">
                <a16:creationId xmlns:a16="http://schemas.microsoft.com/office/drawing/2014/main" id="{4FFAF53C-0ECE-27A4-4F80-84BA9D5C9854}"/>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8" name="Footer Placeholder 4">
            <a:extLst>
              <a:ext uri="{FF2B5EF4-FFF2-40B4-BE49-F238E27FC236}">
                <a16:creationId xmlns:a16="http://schemas.microsoft.com/office/drawing/2014/main" id="{CE91968D-35BB-42D9-BABE-4BB683DF6C75}"/>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9" name="Slide Number Placeholder 5">
            <a:extLst>
              <a:ext uri="{FF2B5EF4-FFF2-40B4-BE49-F238E27FC236}">
                <a16:creationId xmlns:a16="http://schemas.microsoft.com/office/drawing/2014/main" id="{0B756F16-815A-FD20-A69D-56A7A11A2DC6}"/>
              </a:ext>
            </a:extLst>
          </p:cNvPr>
          <p:cNvSpPr>
            <a:spLocks noGrp="1"/>
          </p:cNvSpPr>
          <p:nvPr>
            <p:ph type="sldNum" sz="quarter" idx="12"/>
          </p:nvPr>
        </p:nvSpPr>
        <p:spPr>
          <a:xfrm>
            <a:off x="6296935"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
        <p:nvSpPr>
          <p:cNvPr id="48" name="Picture Placeholder 6">
            <a:extLst>
              <a:ext uri="{FF2B5EF4-FFF2-40B4-BE49-F238E27FC236}">
                <a16:creationId xmlns:a16="http://schemas.microsoft.com/office/drawing/2014/main" id="{1C91878C-CD5E-0CCC-5B32-81A46F9FE498}"/>
              </a:ext>
            </a:extLst>
          </p:cNvPr>
          <p:cNvSpPr>
            <a:spLocks noGrp="1"/>
          </p:cNvSpPr>
          <p:nvPr>
            <p:ph type="pic" sz="quarter" idx="13" hasCustomPrompt="1"/>
          </p:nvPr>
        </p:nvSpPr>
        <p:spPr>
          <a:xfrm>
            <a:off x="0" y="0"/>
            <a:ext cx="6466114" cy="5143500"/>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Tree>
    <p:extLst>
      <p:ext uri="{BB962C8B-B14F-4D97-AF65-F5344CB8AC3E}">
        <p14:creationId xmlns:p14="http://schemas.microsoft.com/office/powerpoint/2010/main" val="684257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ctrTitle"/>
          </p:nvPr>
        </p:nvSpPr>
        <p:spPr>
          <a:xfrm>
            <a:off x="6643255" y="564945"/>
            <a:ext cx="2339436" cy="1583169"/>
          </a:xfrm>
          <a:prstGeom prst="rect">
            <a:avLst/>
          </a:prstGeom>
        </p:spPr>
        <p:txBody>
          <a:bodyPr>
            <a:noAutofit/>
          </a:bodyPr>
          <a:lstStyle>
            <a:lvl1pPr>
              <a:defRPr sz="2625" b="1">
                <a:solidFill>
                  <a:srgbClr val="FFFFFF"/>
                </a:solidFill>
                <a:latin typeface="Arial"/>
                <a:cs typeface="Arial"/>
              </a:defRPr>
            </a:lvl1pPr>
          </a:lstStyle>
          <a:p>
            <a:r>
              <a:rPr lang="en-US"/>
              <a:t>Click to edit Master title style</a:t>
            </a:r>
          </a:p>
        </p:txBody>
      </p:sp>
      <p:sp>
        <p:nvSpPr>
          <p:cNvPr id="2" name="Date Placeholder 3">
            <a:extLst>
              <a:ext uri="{FF2B5EF4-FFF2-40B4-BE49-F238E27FC236}">
                <a16:creationId xmlns:a16="http://schemas.microsoft.com/office/drawing/2014/main" id="{7E2184FE-A199-888D-5C4D-E464A9B8005A}"/>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7" name="Footer Placeholder 4">
            <a:extLst>
              <a:ext uri="{FF2B5EF4-FFF2-40B4-BE49-F238E27FC236}">
                <a16:creationId xmlns:a16="http://schemas.microsoft.com/office/drawing/2014/main" id="{1A6BD200-4D22-4D70-357D-C8638431EBE5}"/>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8" name="Slide Number Placeholder 5">
            <a:extLst>
              <a:ext uri="{FF2B5EF4-FFF2-40B4-BE49-F238E27FC236}">
                <a16:creationId xmlns:a16="http://schemas.microsoft.com/office/drawing/2014/main" id="{BE058B70-4D20-F1DB-91AC-D884A30C66FB}"/>
              </a:ext>
            </a:extLst>
          </p:cNvPr>
          <p:cNvSpPr>
            <a:spLocks noGrp="1"/>
          </p:cNvSpPr>
          <p:nvPr>
            <p:ph type="sldNum" sz="quarter" idx="12"/>
          </p:nvPr>
        </p:nvSpPr>
        <p:spPr>
          <a:xfrm>
            <a:off x="6296935"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
        <p:nvSpPr>
          <p:cNvPr id="4" name="Picture Placeholder 6">
            <a:extLst>
              <a:ext uri="{FF2B5EF4-FFF2-40B4-BE49-F238E27FC236}">
                <a16:creationId xmlns:a16="http://schemas.microsoft.com/office/drawing/2014/main" id="{F116BF79-623F-838C-6018-D7F901CF5404}"/>
              </a:ext>
            </a:extLst>
          </p:cNvPr>
          <p:cNvSpPr>
            <a:spLocks noGrp="1"/>
          </p:cNvSpPr>
          <p:nvPr>
            <p:ph type="pic" sz="quarter" idx="13" hasCustomPrompt="1"/>
          </p:nvPr>
        </p:nvSpPr>
        <p:spPr>
          <a:xfrm>
            <a:off x="0" y="0"/>
            <a:ext cx="6466113" cy="5143500"/>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Tree>
    <p:extLst>
      <p:ext uri="{BB962C8B-B14F-4D97-AF65-F5344CB8AC3E}">
        <p14:creationId xmlns:p14="http://schemas.microsoft.com/office/powerpoint/2010/main" val="1267142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24BA675C-D3D3-9B25-E20D-4EC3E44A6CAF}"/>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6" name="Footer Placeholder 4">
            <a:extLst>
              <a:ext uri="{FF2B5EF4-FFF2-40B4-BE49-F238E27FC236}">
                <a16:creationId xmlns:a16="http://schemas.microsoft.com/office/drawing/2014/main" id="{667AA3D5-C5F1-070E-6D78-F0AF20EB4162}"/>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7" name="Slide Number Placeholder 5">
            <a:extLst>
              <a:ext uri="{FF2B5EF4-FFF2-40B4-BE49-F238E27FC236}">
                <a16:creationId xmlns:a16="http://schemas.microsoft.com/office/drawing/2014/main" id="{68CD6E54-C7BF-BDE4-87B8-F28402E00EC6}"/>
              </a:ext>
            </a:extLst>
          </p:cNvPr>
          <p:cNvSpPr>
            <a:spLocks noGrp="1"/>
          </p:cNvSpPr>
          <p:nvPr>
            <p:ph type="sldNum" sz="quarter" idx="12"/>
          </p:nvPr>
        </p:nvSpPr>
        <p:spPr>
          <a:xfrm>
            <a:off x="6296935"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
        <p:nvSpPr>
          <p:cNvPr id="3" name="Picture Placeholder 6">
            <a:extLst>
              <a:ext uri="{FF2B5EF4-FFF2-40B4-BE49-F238E27FC236}">
                <a16:creationId xmlns:a16="http://schemas.microsoft.com/office/drawing/2014/main" id="{E221E6ED-E5DF-5B59-D4C3-C14F65934027}"/>
              </a:ext>
            </a:extLst>
          </p:cNvPr>
          <p:cNvSpPr>
            <a:spLocks noGrp="1"/>
          </p:cNvSpPr>
          <p:nvPr>
            <p:ph type="pic" sz="quarter" idx="13" hasCustomPrompt="1"/>
          </p:nvPr>
        </p:nvSpPr>
        <p:spPr>
          <a:xfrm>
            <a:off x="0" y="0"/>
            <a:ext cx="6466114" cy="5143500"/>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Tree>
    <p:extLst>
      <p:ext uri="{BB962C8B-B14F-4D97-AF65-F5344CB8AC3E}">
        <p14:creationId xmlns:p14="http://schemas.microsoft.com/office/powerpoint/2010/main" val="90234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3635829" y="564945"/>
            <a:ext cx="5089630" cy="1102519"/>
          </a:xfrm>
          <a:prstGeom prst="rect">
            <a:avLst/>
          </a:prstGeom>
        </p:spPr>
        <p:txBody>
          <a:bodyPr>
            <a:noAutofit/>
          </a:bodyPr>
          <a:lstStyle>
            <a:lvl1pPr>
              <a:defRPr sz="2625" b="1">
                <a:solidFill>
                  <a:srgbClr val="FFFFFF"/>
                </a:solidFill>
                <a:latin typeface="Arial"/>
                <a:cs typeface="Arial"/>
              </a:defRPr>
            </a:lvl1pPr>
          </a:lstStyle>
          <a:p>
            <a:r>
              <a:rPr lang="en-US"/>
              <a:t>Click to edit Master title style</a:t>
            </a:r>
          </a:p>
        </p:txBody>
      </p:sp>
      <p:sp>
        <p:nvSpPr>
          <p:cNvPr id="8" name="Subtitle 2"/>
          <p:cNvSpPr>
            <a:spLocks noGrp="1"/>
          </p:cNvSpPr>
          <p:nvPr>
            <p:ph type="subTitle" idx="1"/>
          </p:nvPr>
        </p:nvSpPr>
        <p:spPr>
          <a:xfrm>
            <a:off x="3635829" y="1819927"/>
            <a:ext cx="5089630" cy="1314450"/>
          </a:xfrm>
          <a:prstGeom prst="rect">
            <a:avLst/>
          </a:prstGeom>
        </p:spPr>
        <p:txBody>
          <a:bodyPr>
            <a:normAutofit/>
          </a:bodyPr>
          <a:lstStyle>
            <a:lvl1pPr marL="0" indent="0" algn="ctr">
              <a:buNone/>
              <a:defRPr sz="1500">
                <a:solidFill>
                  <a:srgbClr val="FFFFFF"/>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2" name="Date Placeholder 3">
            <a:extLst>
              <a:ext uri="{FF2B5EF4-FFF2-40B4-BE49-F238E27FC236}">
                <a16:creationId xmlns:a16="http://schemas.microsoft.com/office/drawing/2014/main" id="{46B8CCD7-6924-839D-E10B-A67842FAD5A8}"/>
              </a:ext>
            </a:extLst>
          </p:cNvPr>
          <p:cNvSpPr>
            <a:spLocks noGrp="1"/>
          </p:cNvSpPr>
          <p:nvPr>
            <p:ph type="dt" sz="half" idx="10"/>
          </p:nvPr>
        </p:nvSpPr>
        <p:spPr>
          <a:xfrm>
            <a:off x="7239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3" name="Footer Placeholder 4">
            <a:extLst>
              <a:ext uri="{FF2B5EF4-FFF2-40B4-BE49-F238E27FC236}">
                <a16:creationId xmlns:a16="http://schemas.microsoft.com/office/drawing/2014/main" id="{31F040A1-C532-5224-D43F-C369C7DE3F55}"/>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9" name="Slide Number Placeholder 5">
            <a:extLst>
              <a:ext uri="{FF2B5EF4-FFF2-40B4-BE49-F238E27FC236}">
                <a16:creationId xmlns:a16="http://schemas.microsoft.com/office/drawing/2014/main" id="{7D0EAA9E-8218-AAB2-A3A0-E41C0E821842}"/>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
        <p:nvSpPr>
          <p:cNvPr id="11" name="Picture Placeholder 6">
            <a:extLst>
              <a:ext uri="{FF2B5EF4-FFF2-40B4-BE49-F238E27FC236}">
                <a16:creationId xmlns:a16="http://schemas.microsoft.com/office/drawing/2014/main" id="{D87BCD9D-56C9-7313-81FB-F24BE069BAF8}"/>
              </a:ext>
            </a:extLst>
          </p:cNvPr>
          <p:cNvSpPr>
            <a:spLocks noGrp="1"/>
          </p:cNvSpPr>
          <p:nvPr>
            <p:ph type="pic" sz="quarter" idx="14" hasCustomPrompt="1"/>
          </p:nvPr>
        </p:nvSpPr>
        <p:spPr>
          <a:xfrm>
            <a:off x="612183" y="175"/>
            <a:ext cx="2634255" cy="5143324"/>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Tree>
    <p:extLst>
      <p:ext uri="{BB962C8B-B14F-4D97-AF65-F5344CB8AC3E}">
        <p14:creationId xmlns:p14="http://schemas.microsoft.com/office/powerpoint/2010/main" val="24584620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ctrTitle"/>
          </p:nvPr>
        </p:nvSpPr>
        <p:spPr>
          <a:xfrm>
            <a:off x="3643086" y="1116203"/>
            <a:ext cx="5082373" cy="1102519"/>
          </a:xfrm>
          <a:prstGeom prst="rect">
            <a:avLst/>
          </a:prstGeom>
        </p:spPr>
        <p:txBody>
          <a:bodyPr>
            <a:noAutofit/>
          </a:bodyPr>
          <a:lstStyle>
            <a:lvl1pPr>
              <a:defRPr sz="2625" b="1">
                <a:solidFill>
                  <a:srgbClr val="FFFFFF"/>
                </a:solidFill>
                <a:latin typeface="Arial"/>
                <a:cs typeface="Arial"/>
              </a:defRPr>
            </a:lvl1pPr>
          </a:lstStyle>
          <a:p>
            <a:r>
              <a:rPr lang="en-US"/>
              <a:t>Click to edit Master title style</a:t>
            </a:r>
          </a:p>
        </p:txBody>
      </p:sp>
      <p:sp>
        <p:nvSpPr>
          <p:cNvPr id="2" name="Date Placeholder 3">
            <a:extLst>
              <a:ext uri="{FF2B5EF4-FFF2-40B4-BE49-F238E27FC236}">
                <a16:creationId xmlns:a16="http://schemas.microsoft.com/office/drawing/2014/main" id="{BD47BA12-E992-081D-6BC5-693A8922E872}"/>
              </a:ext>
            </a:extLst>
          </p:cNvPr>
          <p:cNvSpPr>
            <a:spLocks noGrp="1"/>
          </p:cNvSpPr>
          <p:nvPr>
            <p:ph type="dt" sz="half" idx="10"/>
          </p:nvPr>
        </p:nvSpPr>
        <p:spPr>
          <a:xfrm>
            <a:off x="7239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7" name="Footer Placeholder 4">
            <a:extLst>
              <a:ext uri="{FF2B5EF4-FFF2-40B4-BE49-F238E27FC236}">
                <a16:creationId xmlns:a16="http://schemas.microsoft.com/office/drawing/2014/main" id="{8222C3DE-F690-10FF-B14D-14DBEEC806F6}"/>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8" name="Slide Number Placeholder 5">
            <a:extLst>
              <a:ext uri="{FF2B5EF4-FFF2-40B4-BE49-F238E27FC236}">
                <a16:creationId xmlns:a16="http://schemas.microsoft.com/office/drawing/2014/main" id="{6FA3CFF0-EFC5-5BF6-DEDF-B1618858A908}"/>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
        <p:nvSpPr>
          <p:cNvPr id="4" name="Picture Placeholder 6">
            <a:extLst>
              <a:ext uri="{FF2B5EF4-FFF2-40B4-BE49-F238E27FC236}">
                <a16:creationId xmlns:a16="http://schemas.microsoft.com/office/drawing/2014/main" id="{BF084222-91B3-6959-6AC5-1BA175437D93}"/>
              </a:ext>
            </a:extLst>
          </p:cNvPr>
          <p:cNvSpPr>
            <a:spLocks noGrp="1"/>
          </p:cNvSpPr>
          <p:nvPr>
            <p:ph type="pic" sz="quarter" idx="14" hasCustomPrompt="1"/>
          </p:nvPr>
        </p:nvSpPr>
        <p:spPr>
          <a:xfrm>
            <a:off x="612183" y="175"/>
            <a:ext cx="2634255" cy="5143324"/>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Tree>
    <p:extLst>
      <p:ext uri="{BB962C8B-B14F-4D97-AF65-F5344CB8AC3E}">
        <p14:creationId xmlns:p14="http://schemas.microsoft.com/office/powerpoint/2010/main" val="3518273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67150743-5BCA-E32C-5C28-995D609AD6D5}"/>
              </a:ext>
            </a:extLst>
          </p:cNvPr>
          <p:cNvSpPr>
            <a:spLocks noGrp="1"/>
          </p:cNvSpPr>
          <p:nvPr>
            <p:ph type="dt" sz="half" idx="10"/>
          </p:nvPr>
        </p:nvSpPr>
        <p:spPr>
          <a:xfrm>
            <a:off x="7239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6" name="Footer Placeholder 4">
            <a:extLst>
              <a:ext uri="{FF2B5EF4-FFF2-40B4-BE49-F238E27FC236}">
                <a16:creationId xmlns:a16="http://schemas.microsoft.com/office/drawing/2014/main" id="{D1EF70E0-2409-8EEE-BF5D-3078D009F1AC}"/>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7" name="Slide Number Placeholder 5">
            <a:extLst>
              <a:ext uri="{FF2B5EF4-FFF2-40B4-BE49-F238E27FC236}">
                <a16:creationId xmlns:a16="http://schemas.microsoft.com/office/drawing/2014/main" id="{144398A2-C78E-5443-DBD7-3F9DDE242D75}"/>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
        <p:nvSpPr>
          <p:cNvPr id="3" name="Picture Placeholder 6">
            <a:extLst>
              <a:ext uri="{FF2B5EF4-FFF2-40B4-BE49-F238E27FC236}">
                <a16:creationId xmlns:a16="http://schemas.microsoft.com/office/drawing/2014/main" id="{B5117208-55EC-AAC7-E7E4-1300620E0C10}"/>
              </a:ext>
            </a:extLst>
          </p:cNvPr>
          <p:cNvSpPr>
            <a:spLocks noGrp="1"/>
          </p:cNvSpPr>
          <p:nvPr>
            <p:ph type="pic" sz="quarter" idx="14" hasCustomPrompt="1"/>
          </p:nvPr>
        </p:nvSpPr>
        <p:spPr>
          <a:xfrm>
            <a:off x="612183" y="175"/>
            <a:ext cx="2634255" cy="5143324"/>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Tree>
    <p:extLst>
      <p:ext uri="{BB962C8B-B14F-4D97-AF65-F5344CB8AC3E}">
        <p14:creationId xmlns:p14="http://schemas.microsoft.com/office/powerpoint/2010/main" val="160384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989784"/>
            <a:ext cx="5562600" cy="669301"/>
          </a:xfrm>
          <a:prstGeom prst="rect">
            <a:avLst/>
          </a:prstGeom>
        </p:spPr>
        <p:txBody>
          <a:bodyPr>
            <a:normAutofit/>
          </a:bodyPr>
          <a:lstStyle>
            <a:lvl1pPr algn="l">
              <a:defRPr sz="2625" b="1">
                <a:solidFill>
                  <a:schemeClr val="bg1"/>
                </a:solidFill>
              </a:defRPr>
            </a:lvl1pPr>
          </a:lstStyle>
          <a:p>
            <a:r>
              <a:rPr lang="en-US"/>
              <a:t>Click to edit Master title style</a:t>
            </a:r>
          </a:p>
        </p:txBody>
      </p:sp>
      <p:sp>
        <p:nvSpPr>
          <p:cNvPr id="8" name="Picture Placeholder 6">
            <a:extLst>
              <a:ext uri="{FF2B5EF4-FFF2-40B4-BE49-F238E27FC236}">
                <a16:creationId xmlns:a16="http://schemas.microsoft.com/office/drawing/2014/main" id="{146BB6C4-D660-1723-E284-51400FB90702}"/>
              </a:ext>
            </a:extLst>
          </p:cNvPr>
          <p:cNvSpPr>
            <a:spLocks noGrp="1"/>
          </p:cNvSpPr>
          <p:nvPr>
            <p:ph type="pic" sz="quarter" idx="13" hasCustomPrompt="1"/>
          </p:nvPr>
        </p:nvSpPr>
        <p:spPr>
          <a:xfrm>
            <a:off x="0" y="0"/>
            <a:ext cx="9144000" cy="3334578"/>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
        <p:nvSpPr>
          <p:cNvPr id="9" name="Date Placeholder 3">
            <a:extLst>
              <a:ext uri="{FF2B5EF4-FFF2-40B4-BE49-F238E27FC236}">
                <a16:creationId xmlns:a16="http://schemas.microsoft.com/office/drawing/2014/main" id="{11042AFC-18AA-0738-5250-FC18745A6D4A}"/>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10" name="Footer Placeholder 4">
            <a:extLst>
              <a:ext uri="{FF2B5EF4-FFF2-40B4-BE49-F238E27FC236}">
                <a16:creationId xmlns:a16="http://schemas.microsoft.com/office/drawing/2014/main" id="{C4C7AA4A-CEF9-E77B-8416-F1C574CFE5C5}"/>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11" name="Slide Number Placeholder 5">
            <a:extLst>
              <a:ext uri="{FF2B5EF4-FFF2-40B4-BE49-F238E27FC236}">
                <a16:creationId xmlns:a16="http://schemas.microsoft.com/office/drawing/2014/main" id="{27D5389F-C82A-7078-B19F-D1293F72DFE6}"/>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2520264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20C68095-C99A-59AD-4B3F-136A2A70FFD5}"/>
              </a:ext>
            </a:extLst>
          </p:cNvPr>
          <p:cNvSpPr>
            <a:spLocks noGrp="1"/>
          </p:cNvSpPr>
          <p:nvPr>
            <p:ph type="pic" sz="quarter" idx="13" hasCustomPrompt="1"/>
          </p:nvPr>
        </p:nvSpPr>
        <p:spPr>
          <a:xfrm>
            <a:off x="0" y="0"/>
            <a:ext cx="9144000" cy="3334578"/>
          </a:xfrm>
          <a:prstGeom prst="rect">
            <a:avLst/>
          </a:prstGeom>
        </p:spPr>
        <p:txBody>
          <a:bodyPr/>
          <a:lstStyle>
            <a:lvl1pPr marL="0" indent="0" algn="ctr">
              <a:buNone/>
              <a:defRPr>
                <a:solidFill>
                  <a:schemeClr val="bg1">
                    <a:lumMod val="65000"/>
                  </a:schemeClr>
                </a:solidFill>
                <a:latin typeface="Arial" panose="020B0604020202020204" pitchFamily="34" charset="0"/>
                <a:cs typeface="Arial" panose="020B0604020202020204" pitchFamily="34" charset="0"/>
              </a:defRPr>
            </a:lvl1pPr>
          </a:lstStyle>
          <a:p>
            <a:r>
              <a:rPr lang="en-US"/>
              <a:t>Click the picture icon to add photo</a:t>
            </a:r>
          </a:p>
        </p:txBody>
      </p:sp>
      <p:sp>
        <p:nvSpPr>
          <p:cNvPr id="7" name="Date Placeholder 3">
            <a:extLst>
              <a:ext uri="{FF2B5EF4-FFF2-40B4-BE49-F238E27FC236}">
                <a16:creationId xmlns:a16="http://schemas.microsoft.com/office/drawing/2014/main" id="{DC1D0E21-ACE7-00FF-BFA7-530DD01F0ED0}"/>
              </a:ext>
            </a:extLst>
          </p:cNvPr>
          <p:cNvSpPr>
            <a:spLocks noGrp="1"/>
          </p:cNvSpPr>
          <p:nvPr>
            <p:ph type="dt" sz="half" idx="10"/>
          </p:nvPr>
        </p:nvSpPr>
        <p:spPr>
          <a:xfrm>
            <a:off x="457200" y="4767263"/>
            <a:ext cx="2133600" cy="273844"/>
          </a:xfrm>
          <a:prstGeom prst="rect">
            <a:avLst/>
          </a:prstGeom>
        </p:spPr>
        <p:txBody>
          <a:bodyPr/>
          <a:lstStyle>
            <a:lvl1pPr>
              <a:defRPr sz="900">
                <a:solidFill>
                  <a:schemeClr val="bg1">
                    <a:lumMod val="65000"/>
                  </a:schemeClr>
                </a:solidFill>
                <a:latin typeface="Arial"/>
                <a:cs typeface="Arial"/>
              </a:defRPr>
            </a:lvl1pPr>
          </a:lstStyle>
          <a:p>
            <a:fld id="{CC3BD2BA-2883-FD40-805C-007EC2993B74}" type="datetimeFigureOut">
              <a:rPr lang="en-US" smtClean="0"/>
              <a:pPr/>
              <a:t>4/24/2026</a:t>
            </a:fld>
            <a:endParaRPr lang="en-US"/>
          </a:p>
        </p:txBody>
      </p:sp>
      <p:sp>
        <p:nvSpPr>
          <p:cNvPr id="8" name="Footer Placeholder 4">
            <a:extLst>
              <a:ext uri="{FF2B5EF4-FFF2-40B4-BE49-F238E27FC236}">
                <a16:creationId xmlns:a16="http://schemas.microsoft.com/office/drawing/2014/main" id="{7E59659A-749A-2ECD-FFC7-3347C103F1F9}"/>
              </a:ext>
            </a:extLst>
          </p:cNvPr>
          <p:cNvSpPr>
            <a:spLocks noGrp="1"/>
          </p:cNvSpPr>
          <p:nvPr>
            <p:ph type="ftr" sz="quarter" idx="11"/>
          </p:nvPr>
        </p:nvSpPr>
        <p:spPr>
          <a:xfrm>
            <a:off x="3124200" y="4767263"/>
            <a:ext cx="2895600" cy="273844"/>
          </a:xfrm>
          <a:prstGeom prst="rect">
            <a:avLst/>
          </a:prstGeom>
        </p:spPr>
        <p:txBody>
          <a:bodyPr/>
          <a:lstStyle>
            <a:lvl1pPr algn="ctr">
              <a:defRPr sz="900">
                <a:solidFill>
                  <a:schemeClr val="bg1">
                    <a:lumMod val="65000"/>
                  </a:schemeClr>
                </a:solidFill>
                <a:latin typeface="Arial"/>
                <a:cs typeface="Arial"/>
              </a:defRPr>
            </a:lvl1pPr>
          </a:lstStyle>
          <a:p>
            <a:endParaRPr lang="en-US"/>
          </a:p>
        </p:txBody>
      </p:sp>
      <p:sp>
        <p:nvSpPr>
          <p:cNvPr id="9" name="Slide Number Placeholder 5">
            <a:extLst>
              <a:ext uri="{FF2B5EF4-FFF2-40B4-BE49-F238E27FC236}">
                <a16:creationId xmlns:a16="http://schemas.microsoft.com/office/drawing/2014/main" id="{042C4624-3141-DD10-4167-86339D17BE9D}"/>
              </a:ext>
            </a:extLst>
          </p:cNvPr>
          <p:cNvSpPr>
            <a:spLocks noGrp="1"/>
          </p:cNvSpPr>
          <p:nvPr>
            <p:ph type="sldNum" sz="quarter" idx="12"/>
          </p:nvPr>
        </p:nvSpPr>
        <p:spPr>
          <a:xfrm>
            <a:off x="6553200" y="4767263"/>
            <a:ext cx="2133600" cy="273844"/>
          </a:xfrm>
          <a:prstGeom prst="rect">
            <a:avLst/>
          </a:prstGeom>
        </p:spPr>
        <p:txBody>
          <a:bodyPr/>
          <a:lstStyle>
            <a:lvl1pPr>
              <a:defRPr sz="900">
                <a:solidFill>
                  <a:schemeClr val="bg1">
                    <a:lumMod val="65000"/>
                  </a:schemeClr>
                </a:solidFill>
                <a:latin typeface="Arial"/>
                <a:cs typeface="Arial"/>
              </a:defRPr>
            </a:lvl1pPr>
          </a:lstStyle>
          <a:p>
            <a:pPr algn="r"/>
            <a:fld id="{87350AA8-8DCB-AE4B-9C05-A61ED8CA6812}" type="slidenum">
              <a:rPr lang="en-US" smtClean="0"/>
              <a:pPr algn="r"/>
              <a:t>‹#›</a:t>
            </a:fld>
            <a:endParaRPr lang="en-US"/>
          </a:p>
        </p:txBody>
      </p:sp>
    </p:spTree>
    <p:extLst>
      <p:ext uri="{BB962C8B-B14F-4D97-AF65-F5344CB8AC3E}">
        <p14:creationId xmlns:p14="http://schemas.microsoft.com/office/powerpoint/2010/main" val="1222262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55664"/>
            <a:ext cx="8229600" cy="1102519"/>
          </a:xfrm>
          <a:prstGeom prst="rect">
            <a:avLst/>
          </a:prstGeom>
        </p:spPr>
        <p:txBody>
          <a:bodyPr/>
          <a:lstStyle>
            <a:lvl1pPr>
              <a:defRPr b="1">
                <a:solidFill>
                  <a:srgbClr val="026937"/>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1371600" y="2772495"/>
            <a:ext cx="6400800" cy="1314450"/>
          </a:xfrm>
          <a:prstGeom prst="rect">
            <a:avLst/>
          </a:prstGeom>
        </p:spPr>
        <p:txBody>
          <a:bodyPr/>
          <a:lstStyle>
            <a:lvl1pPr marL="0" indent="0" algn="ctr">
              <a:buNone/>
              <a:defRPr>
                <a:solidFill>
                  <a:srgbClr val="CD9E52"/>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9807667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74735"/>
            <a:ext cx="8229600" cy="857250"/>
          </a:xfrm>
          <a:prstGeom prst="rect">
            <a:avLst/>
          </a:prstGeom>
        </p:spPr>
        <p:txBody>
          <a:bodyPr/>
          <a:lstStyle>
            <a:lvl1pPr algn="l">
              <a:defRPr>
                <a:latin typeface="Arial"/>
                <a:cs typeface="Arial"/>
              </a:defRPr>
            </a:lvl1pPr>
          </a:lstStyle>
          <a:p>
            <a:r>
              <a:rPr lang="en-US"/>
              <a:t>Click to edit Master title style</a:t>
            </a:r>
          </a:p>
        </p:txBody>
      </p:sp>
      <p:sp>
        <p:nvSpPr>
          <p:cNvPr id="3" name="Content Placeholder 2"/>
          <p:cNvSpPr>
            <a:spLocks noGrp="1"/>
          </p:cNvSpPr>
          <p:nvPr>
            <p:ph idx="1"/>
          </p:nvPr>
        </p:nvSpPr>
        <p:spPr>
          <a:xfrm>
            <a:off x="457200" y="1668907"/>
            <a:ext cx="8229600" cy="3026464"/>
          </a:xfrm>
          <a:prstGeom prst="rect">
            <a:avLst/>
          </a:prstGeom>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40410151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7" name="Title 1"/>
          <p:cNvSpPr>
            <a:spLocks noGrp="1"/>
          </p:cNvSpPr>
          <p:nvPr>
            <p:ph type="ctrTitle"/>
          </p:nvPr>
        </p:nvSpPr>
        <p:spPr>
          <a:xfrm>
            <a:off x="457200" y="1462772"/>
            <a:ext cx="8001000" cy="1102519"/>
          </a:xfrm>
          <a:prstGeom prst="rect">
            <a:avLst/>
          </a:prstGeom>
        </p:spPr>
        <p:txBody>
          <a:bodyPr/>
          <a:lstStyle>
            <a:lvl1pPr algn="l">
              <a:defRPr b="1">
                <a:solidFill>
                  <a:srgbClr val="026937"/>
                </a:solidFill>
                <a:latin typeface="Arial"/>
                <a:cs typeface="Arial"/>
              </a:defRPr>
            </a:lvl1pPr>
          </a:lstStyle>
          <a:p>
            <a:r>
              <a:rPr lang="en-US"/>
              <a:t>Click to edit Master title style</a:t>
            </a:r>
          </a:p>
        </p:txBody>
      </p:sp>
      <p:sp>
        <p:nvSpPr>
          <p:cNvPr id="8" name="Subtitle 2"/>
          <p:cNvSpPr>
            <a:spLocks noGrp="1"/>
          </p:cNvSpPr>
          <p:nvPr>
            <p:ph type="subTitle" idx="1"/>
          </p:nvPr>
        </p:nvSpPr>
        <p:spPr>
          <a:xfrm>
            <a:off x="457200" y="2565290"/>
            <a:ext cx="6400800" cy="1314450"/>
          </a:xfrm>
          <a:prstGeom prst="rect">
            <a:avLst/>
          </a:prstGeom>
        </p:spPr>
        <p:txBody>
          <a:bodyPr/>
          <a:lstStyle>
            <a:lvl1pPr marL="0" indent="0" algn="l">
              <a:buNone/>
              <a:defRPr>
                <a:solidFill>
                  <a:srgbClr val="CD9E52"/>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181905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63995"/>
            <a:ext cx="4038600" cy="3045890"/>
          </a:xfrm>
          <a:prstGeom prst="rect">
            <a:avLst/>
          </a:prstGeom>
        </p:spPr>
        <p:txBody>
          <a:bodyPr/>
          <a:lstStyle>
            <a:lvl1pPr algn="l">
              <a:defRPr sz="2100">
                <a:latin typeface="Arial"/>
                <a:cs typeface="Arial"/>
              </a:defRPr>
            </a:lvl1pPr>
            <a:lvl2pPr algn="l">
              <a:defRPr sz="1800">
                <a:latin typeface="Arial"/>
                <a:cs typeface="Arial"/>
              </a:defRPr>
            </a:lvl2pPr>
            <a:lvl3pPr algn="l">
              <a:defRPr sz="1500">
                <a:latin typeface="Arial"/>
                <a:cs typeface="Arial"/>
              </a:defRPr>
            </a:lvl3pPr>
            <a:lvl4pPr algn="l">
              <a:defRPr sz="1350">
                <a:latin typeface="Arial"/>
                <a:cs typeface="Arial"/>
              </a:defRPr>
            </a:lvl4pPr>
            <a:lvl5pPr algn="l">
              <a:defRPr sz="1350">
                <a:latin typeface="Arial"/>
                <a:cs typeface="Aria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63995"/>
            <a:ext cx="4038600" cy="3045890"/>
          </a:xfrm>
          <a:prstGeom prst="rect">
            <a:avLst/>
          </a:prstGeom>
        </p:spPr>
        <p:txBody>
          <a:bodyPr/>
          <a:lstStyle>
            <a:lvl1pPr algn="l">
              <a:defRPr sz="2100">
                <a:latin typeface="Arial"/>
                <a:cs typeface="Arial"/>
              </a:defRPr>
            </a:lvl1pPr>
            <a:lvl2pPr algn="l">
              <a:defRPr sz="1800">
                <a:latin typeface="Arial"/>
                <a:cs typeface="Arial"/>
              </a:defRPr>
            </a:lvl2pPr>
            <a:lvl3pPr algn="l">
              <a:defRPr sz="1500">
                <a:latin typeface="Arial"/>
                <a:cs typeface="Arial"/>
              </a:defRPr>
            </a:lvl3pPr>
            <a:lvl4pPr algn="l">
              <a:defRPr sz="1350">
                <a:latin typeface="Arial"/>
                <a:cs typeface="Arial"/>
              </a:defRPr>
            </a:lvl4pPr>
            <a:lvl5pPr algn="l">
              <a:defRPr sz="1350">
                <a:latin typeface="Arial"/>
                <a:cs typeface="Aria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10" name="Title 1"/>
          <p:cNvSpPr>
            <a:spLocks noGrp="1"/>
          </p:cNvSpPr>
          <p:nvPr>
            <p:ph type="title"/>
          </p:nvPr>
        </p:nvSpPr>
        <p:spPr>
          <a:xfrm>
            <a:off x="457200" y="677081"/>
            <a:ext cx="8229600" cy="857250"/>
          </a:xfrm>
          <a:prstGeom prst="rect">
            <a:avLst/>
          </a:prstGeom>
        </p:spPr>
        <p:txBody>
          <a:bodyPr/>
          <a:lstStyle>
            <a:lvl1pPr algn="l">
              <a:defRPr>
                <a:latin typeface="Arial"/>
                <a:cs typeface="Arial"/>
              </a:defRPr>
            </a:lvl1pPr>
          </a:lstStyle>
          <a:p>
            <a:r>
              <a:rPr lang="en-US"/>
              <a:t>Click to edit Master title style</a:t>
            </a:r>
          </a:p>
        </p:txBody>
      </p:sp>
    </p:spTree>
    <p:extLst>
      <p:ext uri="{BB962C8B-B14F-4D97-AF65-F5344CB8AC3E}">
        <p14:creationId xmlns:p14="http://schemas.microsoft.com/office/powerpoint/2010/main" val="18284483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54032"/>
            <a:ext cx="4040188" cy="479822"/>
          </a:xfrm>
          <a:prstGeom prst="rect">
            <a:avLst/>
          </a:prstGeom>
        </p:spPr>
        <p:txBody>
          <a:bodyPr anchor="b"/>
          <a:lstStyle>
            <a:lvl1pPr marL="0" indent="0">
              <a:buNone/>
              <a:defRPr sz="1800" b="1">
                <a:latin typeface="Arial"/>
                <a:cs typeface="Aria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242428"/>
            <a:ext cx="4040188" cy="2467458"/>
          </a:xfrm>
          <a:prstGeom prst="rect">
            <a:avLst/>
          </a:prstGeom>
        </p:spPr>
        <p:txBody>
          <a:bodyPr/>
          <a:lstStyle>
            <a:lvl1pPr>
              <a:defRPr sz="1800">
                <a:latin typeface="Arial"/>
                <a:cs typeface="Arial"/>
              </a:defRPr>
            </a:lvl1pPr>
            <a:lvl2pPr>
              <a:defRPr sz="1500">
                <a:latin typeface="Arial"/>
                <a:cs typeface="Arial"/>
              </a:defRPr>
            </a:lvl2pPr>
            <a:lvl3pPr>
              <a:defRPr sz="1350">
                <a:latin typeface="Arial"/>
                <a:cs typeface="Arial"/>
              </a:defRPr>
            </a:lvl3pPr>
            <a:lvl4pPr>
              <a:defRPr sz="1200">
                <a:latin typeface="Arial"/>
                <a:cs typeface="Arial"/>
              </a:defRPr>
            </a:lvl4pPr>
            <a:lvl5pPr>
              <a:defRPr sz="1200">
                <a:latin typeface="Arial"/>
                <a:cs typeface="Aria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654032"/>
            <a:ext cx="4041775" cy="479822"/>
          </a:xfrm>
          <a:prstGeom prst="rect">
            <a:avLst/>
          </a:prstGeom>
        </p:spPr>
        <p:txBody>
          <a:bodyPr anchor="b"/>
          <a:lstStyle>
            <a:lvl1pPr marL="0" indent="0">
              <a:buNone/>
              <a:defRPr sz="1800" b="1">
                <a:latin typeface="Arial"/>
                <a:cs typeface="Aria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242428"/>
            <a:ext cx="4041775" cy="2467458"/>
          </a:xfrm>
          <a:prstGeom prst="rect">
            <a:avLst/>
          </a:prstGeom>
        </p:spPr>
        <p:txBody>
          <a:bodyPr/>
          <a:lstStyle>
            <a:lvl1pPr>
              <a:defRPr sz="1800">
                <a:latin typeface="Arial"/>
                <a:cs typeface="Arial"/>
              </a:defRPr>
            </a:lvl1pPr>
            <a:lvl2pPr>
              <a:defRPr sz="1500">
                <a:latin typeface="Arial"/>
                <a:cs typeface="Arial"/>
              </a:defRPr>
            </a:lvl2pPr>
            <a:lvl3pPr>
              <a:defRPr sz="1350">
                <a:latin typeface="Arial"/>
                <a:cs typeface="Arial"/>
              </a:defRPr>
            </a:lvl3pPr>
            <a:lvl4pPr>
              <a:defRPr sz="1200">
                <a:latin typeface="Arial"/>
                <a:cs typeface="Arial"/>
              </a:defRPr>
            </a:lvl4pPr>
            <a:lvl5pPr>
              <a:defRPr sz="1200">
                <a:latin typeface="Arial"/>
                <a:cs typeface="Aria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9" name="Slide Number Placeholder 8"/>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10" name="Title 1"/>
          <p:cNvSpPr>
            <a:spLocks noGrp="1"/>
          </p:cNvSpPr>
          <p:nvPr>
            <p:ph type="title"/>
          </p:nvPr>
        </p:nvSpPr>
        <p:spPr>
          <a:xfrm>
            <a:off x="457200" y="688208"/>
            <a:ext cx="8229600" cy="857250"/>
          </a:xfrm>
          <a:prstGeom prst="rect">
            <a:avLst/>
          </a:prstGeom>
        </p:spPr>
        <p:txBody>
          <a:bodyPr/>
          <a:lstStyle>
            <a:lvl1pPr algn="l">
              <a:defRPr>
                <a:latin typeface="Arial"/>
                <a:cs typeface="Arial"/>
              </a:defRPr>
            </a:lvl1pPr>
          </a:lstStyle>
          <a:p>
            <a:r>
              <a:rPr lang="en-US"/>
              <a:t>Click to edit Master title style</a:t>
            </a:r>
          </a:p>
        </p:txBody>
      </p:sp>
    </p:spTree>
    <p:extLst>
      <p:ext uri="{BB962C8B-B14F-4D97-AF65-F5344CB8AC3E}">
        <p14:creationId xmlns:p14="http://schemas.microsoft.com/office/powerpoint/2010/main" val="12338665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6" name="Title 1"/>
          <p:cNvSpPr>
            <a:spLocks noGrp="1"/>
          </p:cNvSpPr>
          <p:nvPr>
            <p:ph type="title"/>
          </p:nvPr>
        </p:nvSpPr>
        <p:spPr>
          <a:xfrm>
            <a:off x="457200" y="659400"/>
            <a:ext cx="8229600" cy="857250"/>
          </a:xfrm>
          <a:prstGeom prst="rect">
            <a:avLst/>
          </a:prstGeom>
        </p:spPr>
        <p:txBody>
          <a:bodyPr/>
          <a:lstStyle>
            <a:lvl1pPr algn="l">
              <a:defRPr>
                <a:latin typeface="Arial"/>
                <a:cs typeface="Arial"/>
              </a:defRPr>
            </a:lvl1pPr>
          </a:lstStyle>
          <a:p>
            <a:r>
              <a:rPr lang="en-US"/>
              <a:t>Click to edit Master title style</a:t>
            </a:r>
          </a:p>
        </p:txBody>
      </p:sp>
    </p:spTree>
    <p:extLst>
      <p:ext uri="{BB962C8B-B14F-4D97-AF65-F5344CB8AC3E}">
        <p14:creationId xmlns:p14="http://schemas.microsoft.com/office/powerpoint/2010/main" val="20388862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4" name="Slide Number Placeholder 3"/>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18413296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693401"/>
            <a:ext cx="3008313" cy="1214635"/>
          </a:xfrm>
          <a:prstGeom prst="rect">
            <a:avLst/>
          </a:prstGeom>
        </p:spPr>
        <p:txBody>
          <a:bodyPr anchor="b">
            <a:noAutofit/>
          </a:bodyPr>
          <a:lstStyle>
            <a:lvl1pPr algn="l">
              <a:defRPr sz="2400" b="1">
                <a:latin typeface="Arial"/>
                <a:cs typeface="Arial"/>
              </a:defRPr>
            </a:lvl1pPr>
          </a:lstStyle>
          <a:p>
            <a:r>
              <a:rPr lang="en-US"/>
              <a:t>Click to edit Master title style</a:t>
            </a:r>
          </a:p>
        </p:txBody>
      </p:sp>
      <p:sp>
        <p:nvSpPr>
          <p:cNvPr id="3" name="Content Placeholder 2"/>
          <p:cNvSpPr>
            <a:spLocks noGrp="1"/>
          </p:cNvSpPr>
          <p:nvPr>
            <p:ph idx="1"/>
          </p:nvPr>
        </p:nvSpPr>
        <p:spPr>
          <a:xfrm>
            <a:off x="3575050" y="760122"/>
            <a:ext cx="5111750" cy="3788153"/>
          </a:xfrm>
          <a:prstGeom prst="rect">
            <a:avLst/>
          </a:prstGeom>
        </p:spPr>
        <p:txBody>
          <a:bodyPr/>
          <a:lstStyle>
            <a:lvl1pPr>
              <a:defRPr sz="2400">
                <a:latin typeface="Arial"/>
                <a:cs typeface="Arial"/>
              </a:defRPr>
            </a:lvl1pPr>
            <a:lvl2pPr>
              <a:defRPr sz="2100">
                <a:latin typeface="Arial"/>
                <a:cs typeface="Arial"/>
              </a:defRPr>
            </a:lvl2pPr>
            <a:lvl3pPr>
              <a:defRPr sz="1800">
                <a:latin typeface="Arial"/>
                <a:cs typeface="Arial"/>
              </a:defRPr>
            </a:lvl3pPr>
            <a:lvl4pPr>
              <a:defRPr sz="1500">
                <a:latin typeface="Arial"/>
                <a:cs typeface="Arial"/>
              </a:defRPr>
            </a:lvl4pPr>
            <a:lvl5pPr>
              <a:defRPr sz="1500">
                <a:latin typeface="Arial"/>
                <a:cs typeface="Aria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908036"/>
            <a:ext cx="3008313" cy="2640239"/>
          </a:xfrm>
          <a:prstGeom prst="rect">
            <a:avLst/>
          </a:prstGeom>
        </p:spPr>
        <p:txBody>
          <a:bodyPr/>
          <a:lstStyle>
            <a:lvl1pPr marL="0" indent="0">
              <a:buNone/>
              <a:defRPr sz="1050">
                <a:latin typeface="Arial"/>
                <a:cs typeface="Aria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42234106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529274"/>
            <a:ext cx="5486400" cy="425054"/>
          </a:xfrm>
          <a:prstGeom prst="rect">
            <a:avLst/>
          </a:prstGeom>
        </p:spPr>
        <p:txBody>
          <a:bodyPr anchor="b"/>
          <a:lstStyle>
            <a:lvl1pPr algn="l">
              <a:defRPr sz="1500" b="1">
                <a:latin typeface="Arial"/>
                <a:cs typeface="Arial"/>
              </a:defRPr>
            </a:lvl1pPr>
          </a:lstStyle>
          <a:p>
            <a:r>
              <a:rPr lang="en-US"/>
              <a:t>Click to edit Master title style</a:t>
            </a:r>
          </a:p>
        </p:txBody>
      </p:sp>
      <p:sp>
        <p:nvSpPr>
          <p:cNvPr id="3" name="Picture Placeholder 2"/>
          <p:cNvSpPr>
            <a:spLocks noGrp="1"/>
          </p:cNvSpPr>
          <p:nvPr>
            <p:ph type="pic" idx="1"/>
          </p:nvPr>
        </p:nvSpPr>
        <p:spPr>
          <a:xfrm>
            <a:off x="1792288" y="689375"/>
            <a:ext cx="5486400" cy="2785130"/>
          </a:xfrm>
          <a:prstGeom prst="rect">
            <a:avLst/>
          </a:prstGeom>
        </p:spPr>
        <p:txBody>
          <a:bodyPr/>
          <a:lstStyle>
            <a:lvl1pPr marL="0" indent="0">
              <a:buNone/>
              <a:defRPr sz="2400">
                <a:latin typeface="Arial"/>
                <a:cs typeface="Aria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3954327"/>
            <a:ext cx="5486400" cy="603647"/>
          </a:xfrm>
          <a:prstGeom prst="rect">
            <a:avLst/>
          </a:prstGeom>
        </p:spPr>
        <p:txBody>
          <a:bodyPr/>
          <a:lstStyle>
            <a:lvl1pPr marL="0" indent="0">
              <a:buNone/>
              <a:defRPr sz="1050">
                <a:latin typeface="Arial"/>
                <a:cs typeface="Aria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25586266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9" name="Title 1"/>
          <p:cNvSpPr>
            <a:spLocks noGrp="1"/>
          </p:cNvSpPr>
          <p:nvPr>
            <p:ph type="title"/>
          </p:nvPr>
        </p:nvSpPr>
        <p:spPr>
          <a:xfrm>
            <a:off x="457200" y="641652"/>
            <a:ext cx="8229600" cy="857250"/>
          </a:xfrm>
          <a:prstGeom prst="rect">
            <a:avLst/>
          </a:prstGeom>
        </p:spPr>
        <p:txBody>
          <a:bodyPr/>
          <a:lstStyle>
            <a:lvl1pPr algn="l">
              <a:defRPr>
                <a:latin typeface="Arial"/>
                <a:cs typeface="Arial"/>
              </a:defRPr>
            </a:lvl1pPr>
          </a:lstStyle>
          <a:p>
            <a:r>
              <a:rPr lang="en-US"/>
              <a:t>Click to edit Master title style</a:t>
            </a:r>
          </a:p>
        </p:txBody>
      </p:sp>
      <p:sp>
        <p:nvSpPr>
          <p:cNvPr id="10" name="Vertical Text Placeholder 2"/>
          <p:cNvSpPr>
            <a:spLocks noGrp="1"/>
          </p:cNvSpPr>
          <p:nvPr>
            <p:ph type="body" orient="vert" idx="1"/>
          </p:nvPr>
        </p:nvSpPr>
        <p:spPr>
          <a:xfrm>
            <a:off x="457200" y="1657147"/>
            <a:ext cx="8229600" cy="3030967"/>
          </a:xfrm>
          <a:prstGeom prst="rect">
            <a:avLst/>
          </a:prstGeom>
        </p:spPr>
        <p:txBody>
          <a:bodyPr vert="eaVert"/>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45078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46727"/>
            <a:ext cx="2057400" cy="4041387"/>
          </a:xfrm>
          <a:prstGeom prst="rect">
            <a:avLst/>
          </a:prstGeom>
        </p:spPr>
        <p:txBody>
          <a:bodyPr vert="eaVert"/>
          <a:lstStyle>
            <a:lvl1pPr algn="l">
              <a:defRPr>
                <a:latin typeface="Arial"/>
                <a:cs typeface="Arial"/>
              </a:defRPr>
            </a:lvl1pPr>
          </a:lstStyle>
          <a:p>
            <a:r>
              <a:rPr lang="en-US"/>
              <a:t>Click to edit Master title style</a:t>
            </a:r>
          </a:p>
        </p:txBody>
      </p:sp>
      <p:sp>
        <p:nvSpPr>
          <p:cNvPr id="3" name="Vertical Text Placeholder 2"/>
          <p:cNvSpPr>
            <a:spLocks noGrp="1"/>
          </p:cNvSpPr>
          <p:nvPr>
            <p:ph type="body" orient="vert" idx="1"/>
          </p:nvPr>
        </p:nvSpPr>
        <p:spPr>
          <a:xfrm>
            <a:off x="457200" y="646727"/>
            <a:ext cx="6019800" cy="4041387"/>
          </a:xfrm>
          <a:prstGeom prst="rect">
            <a:avLst/>
          </a:prstGeom>
        </p:spPr>
        <p:txBody>
          <a:bodyPr vert="eaVert"/>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13378798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97819"/>
            <a:ext cx="8229600" cy="1102519"/>
          </a:xfrm>
          <a:prstGeom prst="rect">
            <a:avLst/>
          </a:prstGeom>
        </p:spPr>
        <p:txBody>
          <a:bodyPr/>
          <a:lstStyle>
            <a:lvl1pPr>
              <a:defRPr b="1">
                <a:solidFill>
                  <a:srgbClr val="026937"/>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1371600" y="2914650"/>
            <a:ext cx="6400800" cy="1214664"/>
          </a:xfrm>
          <a:prstGeom prst="rect">
            <a:avLst/>
          </a:prstGeom>
        </p:spPr>
        <p:txBody>
          <a:bodyPr/>
          <a:lstStyle>
            <a:lvl1pPr marL="0" indent="0" algn="ctr">
              <a:buNone/>
              <a:defRPr>
                <a:solidFill>
                  <a:srgbClr val="CD9E52"/>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42030771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01796"/>
            <a:ext cx="8229600" cy="857250"/>
          </a:xfrm>
          <a:prstGeom prst="rect">
            <a:avLst/>
          </a:prstGeom>
        </p:spPr>
        <p:txBody>
          <a:bodyPr/>
          <a:lstStyle>
            <a:lvl1pPr algn="l">
              <a:defRPr>
                <a:latin typeface="Arial"/>
                <a:cs typeface="Arial"/>
              </a:defRPr>
            </a:lvl1pPr>
          </a:lstStyle>
          <a:p>
            <a:r>
              <a:rPr lang="en-US"/>
              <a:t>Click to edit Master title style</a:t>
            </a:r>
          </a:p>
        </p:txBody>
      </p:sp>
      <p:sp>
        <p:nvSpPr>
          <p:cNvPr id="3" name="Content Placeholder 2"/>
          <p:cNvSpPr>
            <a:spLocks noGrp="1"/>
          </p:cNvSpPr>
          <p:nvPr>
            <p:ph idx="1"/>
          </p:nvPr>
        </p:nvSpPr>
        <p:spPr>
          <a:xfrm>
            <a:off x="457200" y="1595968"/>
            <a:ext cx="8229600" cy="2787346"/>
          </a:xfrm>
          <a:prstGeom prst="rect">
            <a:avLst/>
          </a:prstGeom>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20558434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7" name="Title 1"/>
          <p:cNvSpPr>
            <a:spLocks noGrp="1"/>
          </p:cNvSpPr>
          <p:nvPr>
            <p:ph type="ctrTitle"/>
          </p:nvPr>
        </p:nvSpPr>
        <p:spPr>
          <a:xfrm>
            <a:off x="457200" y="1597819"/>
            <a:ext cx="8001000" cy="1102519"/>
          </a:xfrm>
          <a:prstGeom prst="rect">
            <a:avLst/>
          </a:prstGeom>
        </p:spPr>
        <p:txBody>
          <a:bodyPr/>
          <a:lstStyle>
            <a:lvl1pPr algn="l">
              <a:defRPr b="1">
                <a:solidFill>
                  <a:srgbClr val="026937"/>
                </a:solidFill>
                <a:latin typeface="Arial"/>
                <a:cs typeface="Arial"/>
              </a:defRPr>
            </a:lvl1pPr>
          </a:lstStyle>
          <a:p>
            <a:r>
              <a:rPr lang="en-US"/>
              <a:t>Click to edit Master title style</a:t>
            </a:r>
          </a:p>
        </p:txBody>
      </p:sp>
      <p:sp>
        <p:nvSpPr>
          <p:cNvPr id="8" name="Subtitle 2"/>
          <p:cNvSpPr>
            <a:spLocks noGrp="1"/>
          </p:cNvSpPr>
          <p:nvPr>
            <p:ph type="subTitle" idx="1"/>
          </p:nvPr>
        </p:nvSpPr>
        <p:spPr>
          <a:xfrm>
            <a:off x="457200" y="2700338"/>
            <a:ext cx="6400800" cy="1314450"/>
          </a:xfrm>
          <a:prstGeom prst="rect">
            <a:avLst/>
          </a:prstGeom>
        </p:spPr>
        <p:txBody>
          <a:bodyPr/>
          <a:lstStyle>
            <a:lvl1pPr marL="0" indent="0" algn="l">
              <a:buNone/>
              <a:defRPr>
                <a:solidFill>
                  <a:srgbClr val="CD9E52"/>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389795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95968"/>
            <a:ext cx="4038600" cy="2780089"/>
          </a:xfrm>
          <a:prstGeom prst="rect">
            <a:avLst/>
          </a:prstGeom>
        </p:spPr>
        <p:txBody>
          <a:bodyPr/>
          <a:lstStyle>
            <a:lvl1pPr algn="l">
              <a:defRPr sz="2100">
                <a:latin typeface="Arial"/>
                <a:cs typeface="Arial"/>
              </a:defRPr>
            </a:lvl1pPr>
            <a:lvl2pPr algn="l">
              <a:defRPr sz="1800">
                <a:latin typeface="Arial"/>
                <a:cs typeface="Arial"/>
              </a:defRPr>
            </a:lvl2pPr>
            <a:lvl3pPr algn="l">
              <a:defRPr sz="1500">
                <a:latin typeface="Arial"/>
                <a:cs typeface="Arial"/>
              </a:defRPr>
            </a:lvl3pPr>
            <a:lvl4pPr algn="l">
              <a:defRPr sz="1350">
                <a:latin typeface="Arial"/>
                <a:cs typeface="Arial"/>
              </a:defRPr>
            </a:lvl4pPr>
            <a:lvl5pPr algn="l">
              <a:defRPr sz="1350">
                <a:latin typeface="Arial"/>
                <a:cs typeface="Aria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95968"/>
            <a:ext cx="4038600" cy="2780089"/>
          </a:xfrm>
          <a:prstGeom prst="rect">
            <a:avLst/>
          </a:prstGeom>
        </p:spPr>
        <p:txBody>
          <a:bodyPr/>
          <a:lstStyle>
            <a:lvl1pPr algn="l">
              <a:defRPr sz="2100">
                <a:latin typeface="Arial"/>
                <a:cs typeface="Arial"/>
              </a:defRPr>
            </a:lvl1pPr>
            <a:lvl2pPr algn="l">
              <a:defRPr sz="1800">
                <a:latin typeface="Arial"/>
                <a:cs typeface="Arial"/>
              </a:defRPr>
            </a:lvl2pPr>
            <a:lvl3pPr algn="l">
              <a:defRPr sz="1500">
                <a:latin typeface="Arial"/>
                <a:cs typeface="Arial"/>
              </a:defRPr>
            </a:lvl3pPr>
            <a:lvl4pPr algn="l">
              <a:defRPr sz="1350">
                <a:latin typeface="Arial"/>
                <a:cs typeface="Arial"/>
              </a:defRPr>
            </a:lvl4pPr>
            <a:lvl5pPr algn="l">
              <a:defRPr sz="1350">
                <a:latin typeface="Arial"/>
                <a:cs typeface="Aria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8" name="Title 1"/>
          <p:cNvSpPr>
            <a:spLocks noGrp="1"/>
          </p:cNvSpPr>
          <p:nvPr>
            <p:ph type="title"/>
          </p:nvPr>
        </p:nvSpPr>
        <p:spPr>
          <a:xfrm>
            <a:off x="457200" y="599636"/>
            <a:ext cx="8229600" cy="857250"/>
          </a:xfrm>
          <a:prstGeom prst="rect">
            <a:avLst/>
          </a:prstGeom>
        </p:spPr>
        <p:txBody>
          <a:bodyPr/>
          <a:lstStyle>
            <a:lvl1pPr algn="l">
              <a:defRPr>
                <a:latin typeface="Arial"/>
                <a:cs typeface="Arial"/>
              </a:defRPr>
            </a:lvl1pPr>
          </a:lstStyle>
          <a:p>
            <a:r>
              <a:rPr lang="en-US"/>
              <a:t>Click to edit Master title style</a:t>
            </a:r>
          </a:p>
        </p:txBody>
      </p:sp>
    </p:spTree>
    <p:extLst>
      <p:ext uri="{BB962C8B-B14F-4D97-AF65-F5344CB8AC3E}">
        <p14:creationId xmlns:p14="http://schemas.microsoft.com/office/powerpoint/2010/main" val="20749889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2835"/>
            <a:ext cx="4040188" cy="479822"/>
          </a:xfrm>
          <a:prstGeom prst="rect">
            <a:avLst/>
          </a:prstGeom>
        </p:spPr>
        <p:txBody>
          <a:bodyPr anchor="b"/>
          <a:lstStyle>
            <a:lvl1pPr marL="0" indent="0">
              <a:buNone/>
              <a:defRPr sz="1800" b="1">
                <a:latin typeface="Arial"/>
                <a:cs typeface="Aria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082658"/>
            <a:ext cx="4040188" cy="2315172"/>
          </a:xfrm>
          <a:prstGeom prst="rect">
            <a:avLst/>
          </a:prstGeom>
        </p:spPr>
        <p:txBody>
          <a:bodyPr/>
          <a:lstStyle>
            <a:lvl1pPr>
              <a:defRPr sz="1800">
                <a:latin typeface="Arial"/>
                <a:cs typeface="Arial"/>
              </a:defRPr>
            </a:lvl1pPr>
            <a:lvl2pPr>
              <a:defRPr sz="1500">
                <a:latin typeface="Arial"/>
                <a:cs typeface="Arial"/>
              </a:defRPr>
            </a:lvl2pPr>
            <a:lvl3pPr>
              <a:defRPr sz="1350">
                <a:latin typeface="Arial"/>
                <a:cs typeface="Arial"/>
              </a:defRPr>
            </a:lvl3pPr>
            <a:lvl4pPr>
              <a:defRPr sz="1200">
                <a:latin typeface="Arial"/>
                <a:cs typeface="Arial"/>
              </a:defRPr>
            </a:lvl4pPr>
            <a:lvl5pPr>
              <a:defRPr sz="1200">
                <a:latin typeface="Arial"/>
                <a:cs typeface="Aria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602835"/>
            <a:ext cx="4041775" cy="479822"/>
          </a:xfrm>
          <a:prstGeom prst="rect">
            <a:avLst/>
          </a:prstGeom>
        </p:spPr>
        <p:txBody>
          <a:bodyPr anchor="b"/>
          <a:lstStyle>
            <a:lvl1pPr marL="0" indent="0">
              <a:buNone/>
              <a:defRPr sz="1800" b="1">
                <a:latin typeface="Arial"/>
                <a:cs typeface="Aria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082658"/>
            <a:ext cx="4041775" cy="2315172"/>
          </a:xfrm>
          <a:prstGeom prst="rect">
            <a:avLst/>
          </a:prstGeom>
        </p:spPr>
        <p:txBody>
          <a:bodyPr/>
          <a:lstStyle>
            <a:lvl1pPr>
              <a:defRPr sz="1800">
                <a:latin typeface="Arial"/>
                <a:cs typeface="Arial"/>
              </a:defRPr>
            </a:lvl1pPr>
            <a:lvl2pPr>
              <a:defRPr sz="1500">
                <a:latin typeface="Arial"/>
                <a:cs typeface="Arial"/>
              </a:defRPr>
            </a:lvl2pPr>
            <a:lvl3pPr>
              <a:defRPr sz="1350">
                <a:latin typeface="Arial"/>
                <a:cs typeface="Arial"/>
              </a:defRPr>
            </a:lvl3pPr>
            <a:lvl4pPr>
              <a:defRPr sz="1200">
                <a:latin typeface="Arial"/>
                <a:cs typeface="Arial"/>
              </a:defRPr>
            </a:lvl4pPr>
            <a:lvl5pPr>
              <a:defRPr sz="1200">
                <a:latin typeface="Arial"/>
                <a:cs typeface="Aria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9" name="Slide Number Placeholder 8"/>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10" name="Title 1"/>
          <p:cNvSpPr>
            <a:spLocks noGrp="1"/>
          </p:cNvSpPr>
          <p:nvPr>
            <p:ph type="title"/>
          </p:nvPr>
        </p:nvSpPr>
        <p:spPr>
          <a:xfrm>
            <a:off x="457200" y="601796"/>
            <a:ext cx="8229600" cy="857250"/>
          </a:xfrm>
          <a:prstGeom prst="rect">
            <a:avLst/>
          </a:prstGeom>
        </p:spPr>
        <p:txBody>
          <a:bodyPr/>
          <a:lstStyle>
            <a:lvl1pPr algn="l">
              <a:defRPr>
                <a:latin typeface="Arial"/>
                <a:cs typeface="Arial"/>
              </a:defRPr>
            </a:lvl1pPr>
          </a:lstStyle>
          <a:p>
            <a:r>
              <a:rPr lang="en-US"/>
              <a:t>Click to edit Master title style</a:t>
            </a:r>
          </a:p>
        </p:txBody>
      </p:sp>
    </p:spTree>
    <p:extLst>
      <p:ext uri="{BB962C8B-B14F-4D97-AF65-F5344CB8AC3E}">
        <p14:creationId xmlns:p14="http://schemas.microsoft.com/office/powerpoint/2010/main" val="328626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6" name="Title 1"/>
          <p:cNvSpPr>
            <a:spLocks noGrp="1"/>
          </p:cNvSpPr>
          <p:nvPr>
            <p:ph type="title"/>
          </p:nvPr>
        </p:nvSpPr>
        <p:spPr>
          <a:xfrm>
            <a:off x="457200" y="601796"/>
            <a:ext cx="8229600" cy="857250"/>
          </a:xfrm>
          <a:prstGeom prst="rect">
            <a:avLst/>
          </a:prstGeom>
        </p:spPr>
        <p:txBody>
          <a:bodyPr/>
          <a:lstStyle>
            <a:lvl1pPr algn="l">
              <a:defRPr>
                <a:latin typeface="Arial"/>
                <a:cs typeface="Arial"/>
              </a:defRPr>
            </a:lvl1pPr>
          </a:lstStyle>
          <a:p>
            <a:r>
              <a:rPr lang="en-US"/>
              <a:t>Click to edit Master title style</a:t>
            </a:r>
          </a:p>
        </p:txBody>
      </p:sp>
    </p:spTree>
    <p:extLst>
      <p:ext uri="{BB962C8B-B14F-4D97-AF65-F5344CB8AC3E}">
        <p14:creationId xmlns:p14="http://schemas.microsoft.com/office/powerpoint/2010/main" val="18818244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4" name="Slide Number Placeholder 3"/>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16690468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47830"/>
            <a:ext cx="3008313" cy="1214635"/>
          </a:xfrm>
          <a:prstGeom prst="rect">
            <a:avLst/>
          </a:prstGeom>
        </p:spPr>
        <p:txBody>
          <a:bodyPr anchor="b">
            <a:noAutofit/>
          </a:bodyPr>
          <a:lstStyle>
            <a:lvl1pPr algn="l">
              <a:defRPr sz="2400" b="1">
                <a:latin typeface="Arial"/>
                <a:cs typeface="Arial"/>
              </a:defRPr>
            </a:lvl1pPr>
          </a:lstStyle>
          <a:p>
            <a:r>
              <a:rPr lang="en-US"/>
              <a:t>Click to edit Master title style</a:t>
            </a:r>
          </a:p>
        </p:txBody>
      </p:sp>
      <p:sp>
        <p:nvSpPr>
          <p:cNvPr id="3" name="Content Placeholder 2"/>
          <p:cNvSpPr>
            <a:spLocks noGrp="1"/>
          </p:cNvSpPr>
          <p:nvPr>
            <p:ph idx="1"/>
          </p:nvPr>
        </p:nvSpPr>
        <p:spPr>
          <a:xfrm>
            <a:off x="3575050" y="314551"/>
            <a:ext cx="5111750" cy="4002073"/>
          </a:xfrm>
          <a:prstGeom prst="rect">
            <a:avLst/>
          </a:prstGeom>
        </p:spPr>
        <p:txBody>
          <a:bodyPr/>
          <a:lstStyle>
            <a:lvl1pPr>
              <a:defRPr sz="2400">
                <a:latin typeface="Arial"/>
                <a:cs typeface="Arial"/>
              </a:defRPr>
            </a:lvl1pPr>
            <a:lvl2pPr>
              <a:defRPr sz="2100">
                <a:latin typeface="Arial"/>
                <a:cs typeface="Arial"/>
              </a:defRPr>
            </a:lvl2pPr>
            <a:lvl3pPr>
              <a:defRPr sz="1800">
                <a:latin typeface="Arial"/>
                <a:cs typeface="Arial"/>
              </a:defRPr>
            </a:lvl3pPr>
            <a:lvl4pPr>
              <a:defRPr sz="1500">
                <a:latin typeface="Arial"/>
                <a:cs typeface="Arial"/>
              </a:defRPr>
            </a:lvl4pPr>
            <a:lvl5pPr>
              <a:defRPr sz="1500">
                <a:latin typeface="Arial"/>
                <a:cs typeface="Aria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62465"/>
            <a:ext cx="3008313" cy="2854159"/>
          </a:xfrm>
          <a:prstGeom prst="rect">
            <a:avLst/>
          </a:prstGeom>
        </p:spPr>
        <p:txBody>
          <a:bodyPr/>
          <a:lstStyle>
            <a:lvl1pPr marL="0" indent="0">
              <a:buNone/>
              <a:defRPr sz="1050">
                <a:latin typeface="Arial"/>
                <a:cs typeface="Aria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40396439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37593"/>
            <a:ext cx="5486400" cy="425054"/>
          </a:xfrm>
          <a:prstGeom prst="rect">
            <a:avLst/>
          </a:prstGeom>
        </p:spPr>
        <p:txBody>
          <a:bodyPr anchor="b"/>
          <a:lstStyle>
            <a:lvl1pPr algn="l">
              <a:defRPr sz="1500" b="1">
                <a:latin typeface="Arial"/>
                <a:cs typeface="Arial"/>
              </a:defRPr>
            </a:lvl1pPr>
          </a:lstStyle>
          <a:p>
            <a:r>
              <a:rPr lang="en-US"/>
              <a:t>Click to edit Master title style</a:t>
            </a:r>
          </a:p>
        </p:txBody>
      </p:sp>
      <p:sp>
        <p:nvSpPr>
          <p:cNvPr id="3" name="Picture Placeholder 2"/>
          <p:cNvSpPr>
            <a:spLocks noGrp="1"/>
          </p:cNvSpPr>
          <p:nvPr>
            <p:ph type="pic" idx="1"/>
          </p:nvPr>
        </p:nvSpPr>
        <p:spPr>
          <a:xfrm>
            <a:off x="1792288" y="397695"/>
            <a:ext cx="5486400" cy="2785130"/>
          </a:xfrm>
          <a:prstGeom prst="rect">
            <a:avLst/>
          </a:prstGeom>
        </p:spPr>
        <p:txBody>
          <a:bodyPr/>
          <a:lstStyle>
            <a:lvl1pPr marL="0" indent="0">
              <a:buNone/>
              <a:defRPr sz="2400">
                <a:latin typeface="Arial"/>
                <a:cs typeface="Aria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3662646"/>
            <a:ext cx="5486400" cy="590040"/>
          </a:xfrm>
          <a:prstGeom prst="rect">
            <a:avLst/>
          </a:prstGeom>
        </p:spPr>
        <p:txBody>
          <a:bodyPr/>
          <a:lstStyle>
            <a:lvl1pPr marL="0" indent="0">
              <a:buNone/>
              <a:defRPr sz="1050">
                <a:latin typeface="Arial"/>
                <a:cs typeface="Aria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20916343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
        <p:nvSpPr>
          <p:cNvPr id="9" name="Title 1"/>
          <p:cNvSpPr>
            <a:spLocks noGrp="1"/>
          </p:cNvSpPr>
          <p:nvPr>
            <p:ph type="title"/>
          </p:nvPr>
        </p:nvSpPr>
        <p:spPr>
          <a:xfrm>
            <a:off x="457200" y="219041"/>
            <a:ext cx="8229600" cy="857250"/>
          </a:xfrm>
          <a:prstGeom prst="rect">
            <a:avLst/>
          </a:prstGeom>
        </p:spPr>
        <p:txBody>
          <a:bodyPr/>
          <a:lstStyle>
            <a:lvl1pPr algn="l">
              <a:defRPr>
                <a:latin typeface="Arial"/>
                <a:cs typeface="Arial"/>
              </a:defRPr>
            </a:lvl1pPr>
          </a:lstStyle>
          <a:p>
            <a:r>
              <a:rPr lang="en-US"/>
              <a:t>Click to edit Master title style</a:t>
            </a:r>
          </a:p>
        </p:txBody>
      </p:sp>
      <p:sp>
        <p:nvSpPr>
          <p:cNvPr id="10" name="Vertical Text Placeholder 2"/>
          <p:cNvSpPr>
            <a:spLocks noGrp="1"/>
          </p:cNvSpPr>
          <p:nvPr>
            <p:ph type="body" orient="vert" idx="1"/>
          </p:nvPr>
        </p:nvSpPr>
        <p:spPr>
          <a:xfrm>
            <a:off x="457200" y="1213214"/>
            <a:ext cx="8229600" cy="3141072"/>
          </a:xfrm>
          <a:prstGeom prst="rect">
            <a:avLst/>
          </a:prstGeom>
        </p:spPr>
        <p:txBody>
          <a:bodyPr vert="eaVert"/>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63119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52105"/>
            <a:ext cx="2057400" cy="4131209"/>
          </a:xfrm>
          <a:prstGeom prst="rect">
            <a:avLst/>
          </a:prstGeom>
        </p:spPr>
        <p:txBody>
          <a:bodyPr vert="eaVert"/>
          <a:lstStyle>
            <a:lvl1pPr algn="l">
              <a:defRPr>
                <a:latin typeface="Arial"/>
                <a:cs typeface="Arial"/>
              </a:defRPr>
            </a:lvl1pPr>
          </a:lstStyle>
          <a:p>
            <a:r>
              <a:rPr lang="en-US"/>
              <a:t>Click to edit Master title style</a:t>
            </a:r>
          </a:p>
        </p:txBody>
      </p:sp>
      <p:sp>
        <p:nvSpPr>
          <p:cNvPr id="3" name="Vertical Text Placeholder 2"/>
          <p:cNvSpPr>
            <a:spLocks noGrp="1"/>
          </p:cNvSpPr>
          <p:nvPr>
            <p:ph type="body" orient="vert" idx="1"/>
          </p:nvPr>
        </p:nvSpPr>
        <p:spPr>
          <a:xfrm>
            <a:off x="457200" y="252105"/>
            <a:ext cx="6019800" cy="4131209"/>
          </a:xfrm>
          <a:prstGeom prst="rect">
            <a:avLst/>
          </a:prstGeom>
        </p:spPr>
        <p:txBody>
          <a:bodyPr vert="eaVert"/>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atin typeface="Arial"/>
                <a:cs typeface="Arial"/>
              </a:defRPr>
            </a:lvl1pPr>
          </a:lstStyle>
          <a:p>
            <a:fld id="{F99458C6-6EA7-0747-AD3E-29AE00637213}" type="datetimeFigureOut">
              <a:rPr lang="en-US" smtClean="0"/>
              <a:pPr/>
              <a:t>4/24/2026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atin typeface="Arial"/>
                <a:cs typeface="Arial"/>
              </a:defRPr>
            </a:lvl1p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atin typeface="Arial"/>
                <a:cs typeface="Arial"/>
              </a:defRPr>
            </a:lvl1pPr>
          </a:lstStyle>
          <a:p>
            <a:fld id="{C59E8A03-9FD3-E846-B7D6-1BC2DFA4AAD7}" type="slidenum">
              <a:rPr lang="en-US" smtClean="0"/>
              <a:pPr/>
              <a:t>‹#›</a:t>
            </a:fld>
            <a:endParaRPr lang="en-US"/>
          </a:p>
        </p:txBody>
      </p:sp>
    </p:spTree>
    <p:extLst>
      <p:ext uri="{BB962C8B-B14F-4D97-AF65-F5344CB8AC3E}">
        <p14:creationId xmlns:p14="http://schemas.microsoft.com/office/powerpoint/2010/main" val="13796506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image" Target="../media/image1.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1.png"/><Relationship Id="rId4" Type="http://schemas.openxmlformats.org/officeDocument/2006/relationships/image" Target="../media/image2.emf"/></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2.emf"/><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7.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4.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8.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9B25DF-99AC-2547-4DF7-2DCFF220107E}"/>
              </a:ext>
            </a:extLst>
          </p:cNvPr>
          <p:cNvSpPr/>
          <p:nvPr userDrawn="1"/>
        </p:nvSpPr>
        <p:spPr>
          <a:xfrm>
            <a:off x="0" y="-1"/>
            <a:ext cx="9144000" cy="5143499"/>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A1C1DD8-CB3E-D5B9-8573-F591CACDFCDB}"/>
              </a:ext>
            </a:extLst>
          </p:cNvPr>
          <p:cNvPicPr>
            <a:picLocks noChangeAspect="1"/>
          </p:cNvPicPr>
          <p:nvPr userDrawn="1"/>
        </p:nvPicPr>
        <p:blipFill>
          <a:blip r:embed="rId5"/>
          <a:stretch>
            <a:fillRect/>
          </a:stretch>
        </p:blipFill>
        <p:spPr>
          <a:xfrm>
            <a:off x="3582686" y="3787456"/>
            <a:ext cx="1978628" cy="936043"/>
          </a:xfrm>
          <a:prstGeom prst="rect">
            <a:avLst/>
          </a:prstGeom>
        </p:spPr>
      </p:pic>
    </p:spTree>
    <p:extLst>
      <p:ext uri="{BB962C8B-B14F-4D97-AF65-F5344CB8AC3E}">
        <p14:creationId xmlns:p14="http://schemas.microsoft.com/office/powerpoint/2010/main" val="37346598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09F55-3911-538D-6B8B-3471AD7B8364}"/>
              </a:ext>
            </a:extLst>
          </p:cNvPr>
          <p:cNvSpPr/>
          <p:nvPr userDrawn="1"/>
        </p:nvSpPr>
        <p:spPr>
          <a:xfrm>
            <a:off x="0" y="-1"/>
            <a:ext cx="9144000" cy="5143499"/>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5BE4971-A596-24B6-B0CB-B8785D87A5A7}"/>
              </a:ext>
            </a:extLst>
          </p:cNvPr>
          <p:cNvPicPr>
            <a:picLocks noChangeAspect="1"/>
          </p:cNvPicPr>
          <p:nvPr userDrawn="1"/>
        </p:nvPicPr>
        <p:blipFill>
          <a:blip r:embed="rId5"/>
          <a:stretch>
            <a:fillRect/>
          </a:stretch>
        </p:blipFill>
        <p:spPr>
          <a:xfrm>
            <a:off x="3582686" y="394977"/>
            <a:ext cx="1978628" cy="936043"/>
          </a:xfrm>
          <a:prstGeom prst="rect">
            <a:avLst/>
          </a:prstGeom>
        </p:spPr>
      </p:pic>
    </p:spTree>
    <p:extLst>
      <p:ext uri="{BB962C8B-B14F-4D97-AF65-F5344CB8AC3E}">
        <p14:creationId xmlns:p14="http://schemas.microsoft.com/office/powerpoint/2010/main" val="209665561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ctr"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A6CFA1A-A022-D649-8AD9-9F30A5C06CF5}" type="datetimeFigureOut">
              <a:rPr lang="en-US" smtClean="0"/>
              <a:t>4/24/2026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907A361-AE56-CD4A-B91B-4241634854C6}" type="slidenum">
              <a:rPr lang="en-US" smtClean="0"/>
              <a:t>‹#›</a:t>
            </a:fld>
            <a:endParaRPr lang="en-US"/>
          </a:p>
        </p:txBody>
      </p:sp>
      <p:sp>
        <p:nvSpPr>
          <p:cNvPr id="7" name="Rectangle 6">
            <a:extLst>
              <a:ext uri="{FF2B5EF4-FFF2-40B4-BE49-F238E27FC236}">
                <a16:creationId xmlns:a16="http://schemas.microsoft.com/office/drawing/2014/main" id="{B6CD8B00-B92F-98D3-5A68-050180315E86}"/>
              </a:ext>
            </a:extLst>
          </p:cNvPr>
          <p:cNvSpPr/>
          <p:nvPr userDrawn="1"/>
        </p:nvSpPr>
        <p:spPr>
          <a:xfrm>
            <a:off x="0" y="0"/>
            <a:ext cx="9144000" cy="3410632"/>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9CC4C1A-247E-320C-3022-BF90EE99BE5F}"/>
              </a:ext>
            </a:extLst>
          </p:cNvPr>
          <p:cNvPicPr>
            <a:picLocks/>
          </p:cNvPicPr>
          <p:nvPr userDrawn="1"/>
        </p:nvPicPr>
        <p:blipFill>
          <a:blip r:embed="rId5"/>
          <a:stretch>
            <a:fillRect/>
          </a:stretch>
        </p:blipFill>
        <p:spPr>
          <a:xfrm rot="5400000">
            <a:off x="4520045" y="-1200150"/>
            <a:ext cx="103910" cy="9144000"/>
          </a:xfrm>
          <a:prstGeom prst="rect">
            <a:avLst/>
          </a:prstGeom>
          <a:effectLst/>
        </p:spPr>
      </p:pic>
      <p:pic>
        <p:nvPicPr>
          <p:cNvPr id="11" name="Picture 10">
            <a:extLst>
              <a:ext uri="{FF2B5EF4-FFF2-40B4-BE49-F238E27FC236}">
                <a16:creationId xmlns:a16="http://schemas.microsoft.com/office/drawing/2014/main" id="{70F72FC0-1C4B-A715-2C85-36C1CBBFE22A}"/>
              </a:ext>
            </a:extLst>
          </p:cNvPr>
          <p:cNvPicPr>
            <a:picLocks noChangeAspect="1"/>
          </p:cNvPicPr>
          <p:nvPr userDrawn="1"/>
        </p:nvPicPr>
        <p:blipFill>
          <a:blip r:embed="rId6"/>
          <a:stretch>
            <a:fillRect/>
          </a:stretch>
        </p:blipFill>
        <p:spPr>
          <a:xfrm>
            <a:off x="3601911" y="3813573"/>
            <a:ext cx="1940429" cy="917972"/>
          </a:xfrm>
          <a:prstGeom prst="rect">
            <a:avLst/>
          </a:prstGeom>
        </p:spPr>
      </p:pic>
    </p:spTree>
    <p:extLst>
      <p:ext uri="{BB962C8B-B14F-4D97-AF65-F5344CB8AC3E}">
        <p14:creationId xmlns:p14="http://schemas.microsoft.com/office/powerpoint/2010/main" val="221665321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119DD4-135B-1221-6368-65B3AD3D6F83}"/>
              </a:ext>
            </a:extLst>
          </p:cNvPr>
          <p:cNvSpPr/>
          <p:nvPr userDrawn="1"/>
        </p:nvSpPr>
        <p:spPr>
          <a:xfrm>
            <a:off x="6465729" y="-1"/>
            <a:ext cx="2678271" cy="5143499"/>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8A76F54-62D0-0EE7-D82C-4F3167A46813}"/>
              </a:ext>
            </a:extLst>
          </p:cNvPr>
          <p:cNvPicPr>
            <a:picLocks noChangeAspect="1"/>
          </p:cNvPicPr>
          <p:nvPr userDrawn="1"/>
        </p:nvPicPr>
        <p:blipFill>
          <a:blip r:embed="rId5"/>
          <a:stretch>
            <a:fillRect/>
          </a:stretch>
        </p:blipFill>
        <p:spPr>
          <a:xfrm>
            <a:off x="6815551" y="3787455"/>
            <a:ext cx="1978628" cy="936043"/>
          </a:xfrm>
          <a:prstGeom prst="rect">
            <a:avLst/>
          </a:prstGeom>
        </p:spPr>
      </p:pic>
    </p:spTree>
    <p:extLst>
      <p:ext uri="{BB962C8B-B14F-4D97-AF65-F5344CB8AC3E}">
        <p14:creationId xmlns:p14="http://schemas.microsoft.com/office/powerpoint/2010/main" val="138050337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txStyles>
    <p:titleStyle>
      <a:lvl1pPr algn="ctr"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2A4B40-A4C1-8385-0F89-EC24E2C34D31}"/>
              </a:ext>
            </a:extLst>
          </p:cNvPr>
          <p:cNvSpPr/>
          <p:nvPr userDrawn="1"/>
        </p:nvSpPr>
        <p:spPr>
          <a:xfrm>
            <a:off x="0" y="-1"/>
            <a:ext cx="9144000" cy="5143499"/>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245256B-4C14-8B33-752B-6E269B622B0E}"/>
              </a:ext>
            </a:extLst>
          </p:cNvPr>
          <p:cNvPicPr>
            <a:picLocks noChangeAspect="1"/>
          </p:cNvPicPr>
          <p:nvPr userDrawn="1"/>
        </p:nvPicPr>
        <p:blipFill>
          <a:blip r:embed="rId5"/>
          <a:stretch>
            <a:fillRect/>
          </a:stretch>
        </p:blipFill>
        <p:spPr>
          <a:xfrm>
            <a:off x="5168007" y="3787455"/>
            <a:ext cx="1978628" cy="936043"/>
          </a:xfrm>
          <a:prstGeom prst="rect">
            <a:avLst/>
          </a:prstGeom>
        </p:spPr>
      </p:pic>
    </p:spTree>
    <p:extLst>
      <p:ext uri="{BB962C8B-B14F-4D97-AF65-F5344CB8AC3E}">
        <p14:creationId xmlns:p14="http://schemas.microsoft.com/office/powerpoint/2010/main" val="10116647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txStyles>
    <p:titleStyle>
      <a:lvl1pPr algn="ctr"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58DAB6-B128-357B-53F0-94EC127933BD}"/>
              </a:ext>
            </a:extLst>
          </p:cNvPr>
          <p:cNvSpPr/>
          <p:nvPr userDrawn="1"/>
        </p:nvSpPr>
        <p:spPr>
          <a:xfrm>
            <a:off x="0" y="3423806"/>
            <a:ext cx="9144000" cy="1719694"/>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7D12A83-E5A8-56EB-70BB-24F22BB75519}"/>
              </a:ext>
            </a:extLst>
          </p:cNvPr>
          <p:cNvPicPr>
            <a:picLocks/>
          </p:cNvPicPr>
          <p:nvPr userDrawn="1"/>
        </p:nvPicPr>
        <p:blipFill>
          <a:blip r:embed="rId4"/>
          <a:stretch>
            <a:fillRect/>
          </a:stretch>
        </p:blipFill>
        <p:spPr>
          <a:xfrm rot="5400000">
            <a:off x="4520045" y="-1200150"/>
            <a:ext cx="103910" cy="9144000"/>
          </a:xfrm>
          <a:prstGeom prst="rect">
            <a:avLst/>
          </a:prstGeom>
          <a:effectLst/>
        </p:spPr>
      </p:pic>
      <p:pic>
        <p:nvPicPr>
          <p:cNvPr id="5" name="Picture 4">
            <a:extLst>
              <a:ext uri="{FF2B5EF4-FFF2-40B4-BE49-F238E27FC236}">
                <a16:creationId xmlns:a16="http://schemas.microsoft.com/office/drawing/2014/main" id="{02AD03BC-527E-D423-7026-84C67047E23D}"/>
              </a:ext>
            </a:extLst>
          </p:cNvPr>
          <p:cNvPicPr>
            <a:picLocks noChangeAspect="1"/>
          </p:cNvPicPr>
          <p:nvPr userDrawn="1"/>
        </p:nvPicPr>
        <p:blipFill>
          <a:blip r:embed="rId5"/>
          <a:stretch>
            <a:fillRect/>
          </a:stretch>
        </p:blipFill>
        <p:spPr>
          <a:xfrm>
            <a:off x="6585595" y="3787234"/>
            <a:ext cx="1978628" cy="936043"/>
          </a:xfrm>
          <a:prstGeom prst="rect">
            <a:avLst/>
          </a:prstGeom>
        </p:spPr>
      </p:pic>
    </p:spTree>
    <p:extLst>
      <p:ext uri="{BB962C8B-B14F-4D97-AF65-F5344CB8AC3E}">
        <p14:creationId xmlns:p14="http://schemas.microsoft.com/office/powerpoint/2010/main" val="3856286213"/>
      </p:ext>
    </p:extLst>
  </p:cSld>
  <p:clrMap bg1="lt1" tx1="dk1" bg2="lt2" tx2="dk2" accent1="accent1" accent2="accent2" accent3="accent3" accent4="accent4" accent5="accent5" accent6="accent6" hlink="hlink" folHlink="folHlink"/>
  <p:sldLayoutIdLst>
    <p:sldLayoutId id="2147483710" r:id="rId1"/>
    <p:sldLayoutId id="2147483711" r:id="rId2"/>
  </p:sldLayoutIdLst>
  <p:txStyles>
    <p:titleStyle>
      <a:lvl1pPr algn="ctr"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CC4253-5EA4-2DE4-D822-DBE80ECA3598}"/>
              </a:ext>
            </a:extLst>
          </p:cNvPr>
          <p:cNvSpPr/>
          <p:nvPr userDrawn="1"/>
        </p:nvSpPr>
        <p:spPr>
          <a:xfrm>
            <a:off x="0" y="0"/>
            <a:ext cx="9144000" cy="548640"/>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EF0E0A7-06C7-D5A3-969E-CF0D2C2DA60B}"/>
              </a:ext>
            </a:extLst>
          </p:cNvPr>
          <p:cNvPicPr>
            <a:picLocks/>
          </p:cNvPicPr>
          <p:nvPr userDrawn="1"/>
        </p:nvPicPr>
        <p:blipFill>
          <a:blip r:embed="rId13"/>
          <a:stretch>
            <a:fillRect/>
          </a:stretch>
        </p:blipFill>
        <p:spPr>
          <a:xfrm rot="5400000">
            <a:off x="4553712" y="-4005609"/>
            <a:ext cx="36576" cy="9144000"/>
          </a:xfrm>
          <a:prstGeom prst="rect">
            <a:avLst/>
          </a:prstGeom>
          <a:effectLst/>
        </p:spPr>
      </p:pic>
      <p:pic>
        <p:nvPicPr>
          <p:cNvPr id="7" name="Picture 6">
            <a:extLst>
              <a:ext uri="{FF2B5EF4-FFF2-40B4-BE49-F238E27FC236}">
                <a16:creationId xmlns:a16="http://schemas.microsoft.com/office/drawing/2014/main" id="{3F5967DF-49A0-989D-6161-3FA5B631AAD2}"/>
              </a:ext>
            </a:extLst>
          </p:cNvPr>
          <p:cNvPicPr>
            <a:picLocks noChangeAspect="1"/>
          </p:cNvPicPr>
          <p:nvPr userDrawn="1"/>
        </p:nvPicPr>
        <p:blipFill>
          <a:blip r:embed="rId14"/>
          <a:stretch>
            <a:fillRect/>
          </a:stretch>
        </p:blipFill>
        <p:spPr>
          <a:xfrm>
            <a:off x="178552" y="185065"/>
            <a:ext cx="3154409" cy="200383"/>
          </a:xfrm>
          <a:prstGeom prst="rect">
            <a:avLst/>
          </a:prstGeom>
        </p:spPr>
      </p:pic>
    </p:spTree>
    <p:extLst>
      <p:ext uri="{BB962C8B-B14F-4D97-AF65-F5344CB8AC3E}">
        <p14:creationId xmlns:p14="http://schemas.microsoft.com/office/powerpoint/2010/main" val="197087650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ctr"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3B2884-69FE-28D0-AA19-FE76F2657D9D}"/>
              </a:ext>
            </a:extLst>
          </p:cNvPr>
          <p:cNvSpPr/>
          <p:nvPr userDrawn="1"/>
        </p:nvSpPr>
        <p:spPr>
          <a:xfrm>
            <a:off x="0" y="4601210"/>
            <a:ext cx="9144000" cy="548640"/>
          </a:xfrm>
          <a:prstGeom prst="rect">
            <a:avLst/>
          </a:prstGeom>
          <a:gradFill flip="none" rotWithShape="1">
            <a:gsLst>
              <a:gs pos="0">
                <a:srgbClr val="046A38">
                  <a:shade val="30000"/>
                  <a:satMod val="115000"/>
                </a:srgbClr>
              </a:gs>
              <a:gs pos="50000">
                <a:srgbClr val="046A38">
                  <a:shade val="67500"/>
                  <a:satMod val="115000"/>
                </a:srgbClr>
              </a:gs>
              <a:gs pos="100000">
                <a:srgbClr val="046A38">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F2C4967-E63E-C6D7-EF97-95086D6CA450}"/>
              </a:ext>
            </a:extLst>
          </p:cNvPr>
          <p:cNvPicPr>
            <a:picLocks noChangeAspect="1"/>
          </p:cNvPicPr>
          <p:nvPr userDrawn="1"/>
        </p:nvPicPr>
        <p:blipFill>
          <a:blip r:embed="rId13"/>
          <a:stretch>
            <a:fillRect/>
          </a:stretch>
        </p:blipFill>
        <p:spPr>
          <a:xfrm>
            <a:off x="178552" y="4786275"/>
            <a:ext cx="3154409" cy="200383"/>
          </a:xfrm>
          <a:prstGeom prst="rect">
            <a:avLst/>
          </a:prstGeom>
        </p:spPr>
      </p:pic>
    </p:spTree>
    <p:extLst>
      <p:ext uri="{BB962C8B-B14F-4D97-AF65-F5344CB8AC3E}">
        <p14:creationId xmlns:p14="http://schemas.microsoft.com/office/powerpoint/2010/main" val="3644786717"/>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30.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32.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3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301.02723" TargetMode="External"/><Relationship Id="rId2" Type="http://schemas.openxmlformats.org/officeDocument/2006/relationships/hyperlink" Target="https://doi.org/10.4236/jis.2014.52006" TargetMode="External"/><Relationship Id="rId1" Type="http://schemas.openxmlformats.org/officeDocument/2006/relationships/slideLayout" Target="../slideLayouts/slideLayout30.xml"/><Relationship Id="rId4" Type="http://schemas.openxmlformats.org/officeDocument/2006/relationships/hyperlink" Target="https://doi.org/10.1145/3447772"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jena.apache.org/" TargetMode="External"/><Relationship Id="rId2" Type="http://schemas.openxmlformats.org/officeDocument/2006/relationships/hyperlink" Target="https://dl.acm.org/doi/abs/10.4018/ijswis.2014040102" TargetMode="External"/><Relationship Id="rId1" Type="http://schemas.openxmlformats.org/officeDocument/2006/relationships/slideLayout" Target="../slideLayouts/slideLayout30.xml"/><Relationship Id="rId4" Type="http://schemas.openxmlformats.org/officeDocument/2006/relationships/hyperlink" Target="https://ieeexplore.ieee.org/abstract/document/8538636?casa_token=mqQ4rYCpb6AAAAAA:bHUXfCbJXT30Ta_bSpdfkO946mNZgR1bm2EM9kRJY5hyPLim8SAKYWey9wZlpj0TZQ0CaGpxmonv"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22lavonne/Malware-Behavior-Knowledge-Graph" TargetMode="Externa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B304A-7C91-BFA4-FB94-1BBF4CD01BF9}"/>
              </a:ext>
            </a:extLst>
          </p:cNvPr>
          <p:cNvSpPr>
            <a:spLocks noGrp="1"/>
          </p:cNvSpPr>
          <p:nvPr>
            <p:ph type="ctrTitle"/>
          </p:nvPr>
        </p:nvSpPr>
        <p:spPr/>
        <p:txBody>
          <a:bodyPr/>
          <a:lstStyle/>
          <a:p>
            <a:r>
              <a:rPr lang="en-US"/>
              <a:t>An Ontology for the Detection of Malware Behavior in Executables</a:t>
            </a:r>
            <a:endParaRPr lang="en-US" b="0"/>
          </a:p>
          <a:p>
            <a:endParaRPr lang="en-US"/>
          </a:p>
        </p:txBody>
      </p:sp>
      <p:sp>
        <p:nvSpPr>
          <p:cNvPr id="3" name="Subtitle 2">
            <a:extLst>
              <a:ext uri="{FF2B5EF4-FFF2-40B4-BE49-F238E27FC236}">
                <a16:creationId xmlns:a16="http://schemas.microsoft.com/office/drawing/2014/main" id="{41F59259-DF20-689D-FBE9-33122E3B72AF}"/>
              </a:ext>
            </a:extLst>
          </p:cNvPr>
          <p:cNvSpPr>
            <a:spLocks noGrp="1"/>
          </p:cNvSpPr>
          <p:nvPr>
            <p:ph type="subTitle" idx="1"/>
          </p:nvPr>
        </p:nvSpPr>
        <p:spPr/>
        <p:txBody>
          <a:bodyPr vert="horz" lIns="91440" tIns="45720" rIns="91440" bIns="45720" rtlCol="0" anchor="t">
            <a:normAutofit/>
          </a:bodyPr>
          <a:lstStyle/>
          <a:p>
            <a:r>
              <a:rPr lang="en-US"/>
              <a:t>Emily Miller</a:t>
            </a:r>
          </a:p>
          <a:p>
            <a:r>
              <a:rPr lang="en-US"/>
              <a:t>Advisor: Dr. Cogan Shimizu</a:t>
            </a:r>
          </a:p>
          <a:p>
            <a:endParaRPr lang="en-US"/>
          </a:p>
        </p:txBody>
      </p:sp>
      <p:pic>
        <p:nvPicPr>
          <p:cNvPr id="4" name="Picture 3" descr="A blue and black text with towers&#10;&#10;AI-generated content may be incorrect.">
            <a:extLst>
              <a:ext uri="{FF2B5EF4-FFF2-40B4-BE49-F238E27FC236}">
                <a16:creationId xmlns:a16="http://schemas.microsoft.com/office/drawing/2014/main" id="{484CC7C4-DC04-69DF-61B1-60A058EFF9D6}"/>
              </a:ext>
            </a:extLst>
          </p:cNvPr>
          <p:cNvPicPr>
            <a:picLocks noChangeAspect="1"/>
          </p:cNvPicPr>
          <p:nvPr/>
        </p:nvPicPr>
        <p:blipFill>
          <a:blip r:embed="rId3"/>
          <a:stretch>
            <a:fillRect/>
          </a:stretch>
        </p:blipFill>
        <p:spPr>
          <a:xfrm>
            <a:off x="618238" y="3640326"/>
            <a:ext cx="1514475" cy="1504950"/>
          </a:xfrm>
          <a:prstGeom prst="rect">
            <a:avLst/>
          </a:prstGeom>
        </p:spPr>
      </p:pic>
    </p:spTree>
    <p:extLst>
      <p:ext uri="{BB962C8B-B14F-4D97-AF65-F5344CB8AC3E}">
        <p14:creationId xmlns:p14="http://schemas.microsoft.com/office/powerpoint/2010/main" val="3509475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364CE-1EF6-8B83-F4B1-A73D6A3040A0}"/>
              </a:ext>
            </a:extLst>
          </p:cNvPr>
          <p:cNvSpPr>
            <a:spLocks noGrp="1"/>
          </p:cNvSpPr>
          <p:nvPr>
            <p:ph type="title"/>
          </p:nvPr>
        </p:nvSpPr>
        <p:spPr/>
        <p:txBody>
          <a:bodyPr lIns="91440" tIns="45720" rIns="91440" bIns="45720" anchor="t"/>
          <a:lstStyle/>
          <a:p>
            <a:r>
              <a:rPr lang="en-US"/>
              <a:t>Table of Contents</a:t>
            </a:r>
          </a:p>
        </p:txBody>
      </p:sp>
      <p:sp>
        <p:nvSpPr>
          <p:cNvPr id="3" name="Content Placeholder 2">
            <a:extLst>
              <a:ext uri="{FF2B5EF4-FFF2-40B4-BE49-F238E27FC236}">
                <a16:creationId xmlns:a16="http://schemas.microsoft.com/office/drawing/2014/main" id="{78E2DA6A-3EC9-D2E1-B292-077202D18E84}"/>
              </a:ext>
            </a:extLst>
          </p:cNvPr>
          <p:cNvSpPr>
            <a:spLocks noGrp="1"/>
          </p:cNvSpPr>
          <p:nvPr>
            <p:ph idx="1"/>
          </p:nvPr>
        </p:nvSpPr>
        <p:spPr/>
        <p:txBody>
          <a:bodyPr lIns="91440" tIns="45720" rIns="91440" bIns="45720" anchor="t"/>
          <a:lstStyle/>
          <a:p>
            <a:r>
              <a:rPr lang="en-US"/>
              <a:t>Introduction</a:t>
            </a:r>
          </a:p>
          <a:p>
            <a:r>
              <a:rPr lang="en-US"/>
              <a:t>Background</a:t>
            </a:r>
          </a:p>
          <a:p>
            <a:r>
              <a:rPr lang="en-US"/>
              <a:t>Approach</a:t>
            </a:r>
          </a:p>
          <a:p>
            <a:r>
              <a:rPr lang="en-US"/>
              <a:t>Results</a:t>
            </a:r>
          </a:p>
          <a:p>
            <a:r>
              <a:rPr lang="en-US"/>
              <a:t>Conclusion</a:t>
            </a:r>
          </a:p>
        </p:txBody>
      </p:sp>
      <p:pic>
        <p:nvPicPr>
          <p:cNvPr id="4" name="Graphic 3" descr="List with solid fill">
            <a:extLst>
              <a:ext uri="{FF2B5EF4-FFF2-40B4-BE49-F238E27FC236}">
                <a16:creationId xmlns:a16="http://schemas.microsoft.com/office/drawing/2014/main" id="{AD7F9E9C-D3F4-C906-03DA-809A865AF8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98046" y="1221078"/>
            <a:ext cx="2725491" cy="2709392"/>
          </a:xfrm>
          <a:prstGeom prst="rect">
            <a:avLst/>
          </a:prstGeom>
        </p:spPr>
      </p:pic>
    </p:spTree>
    <p:extLst>
      <p:ext uri="{BB962C8B-B14F-4D97-AF65-F5344CB8AC3E}">
        <p14:creationId xmlns:p14="http://schemas.microsoft.com/office/powerpoint/2010/main" val="4096350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442815-3576-F358-03FB-D22EF22A3232}"/>
              </a:ext>
            </a:extLst>
          </p:cNvPr>
          <p:cNvSpPr>
            <a:spLocks noGrp="1"/>
          </p:cNvSpPr>
          <p:nvPr>
            <p:ph type="title"/>
          </p:nvPr>
        </p:nvSpPr>
        <p:spPr/>
        <p:txBody>
          <a:bodyPr lIns="91440" tIns="45720" rIns="91440" bIns="45720" anchor="t"/>
          <a:lstStyle/>
          <a:p>
            <a:r>
              <a:rPr lang="en-US"/>
              <a:t>Introduction</a:t>
            </a:r>
          </a:p>
        </p:txBody>
      </p:sp>
      <p:sp>
        <p:nvSpPr>
          <p:cNvPr id="2" name="Content Placeholder 1">
            <a:extLst>
              <a:ext uri="{FF2B5EF4-FFF2-40B4-BE49-F238E27FC236}">
                <a16:creationId xmlns:a16="http://schemas.microsoft.com/office/drawing/2014/main" id="{D6521FE8-960F-9B72-0C49-E86AF1B84E63}"/>
              </a:ext>
            </a:extLst>
          </p:cNvPr>
          <p:cNvSpPr>
            <a:spLocks noGrp="1"/>
          </p:cNvSpPr>
          <p:nvPr>
            <p:ph idx="1"/>
          </p:nvPr>
        </p:nvSpPr>
        <p:spPr>
          <a:xfrm>
            <a:off x="457200" y="1595968"/>
            <a:ext cx="5044880" cy="2787346"/>
          </a:xfrm>
        </p:spPr>
        <p:txBody>
          <a:bodyPr lIns="91440" tIns="45720" rIns="91440" bIns="45720" anchor="t"/>
          <a:lstStyle/>
          <a:p>
            <a:r>
              <a:rPr lang="en-US" sz="1600"/>
              <a:t>Malware has evolved significantly in the past decade</a:t>
            </a:r>
          </a:p>
          <a:p>
            <a:r>
              <a:rPr lang="en-US" sz="1600"/>
              <a:t>Average data breach cost $3.86 million in 2023 [1]</a:t>
            </a:r>
          </a:p>
          <a:p>
            <a:r>
              <a:rPr lang="en-US" sz="1600"/>
              <a:t>Malware analysis techniques</a:t>
            </a:r>
          </a:p>
          <a:p>
            <a:pPr marL="556895" lvl="1" indent="-213995">
              <a:buFont typeface="Courier New"/>
              <a:buChar char="o"/>
            </a:pPr>
            <a:r>
              <a:rPr lang="en-US" sz="1600"/>
              <a:t>Dynamic vs Static analysis [2]</a:t>
            </a:r>
          </a:p>
          <a:p>
            <a:pPr marL="556895" lvl="1" indent="-213995">
              <a:buFont typeface="Courier New"/>
              <a:buChar char="o"/>
            </a:pPr>
            <a:r>
              <a:rPr lang="en-US" sz="1600"/>
              <a:t>Software reverse engineering for analyzing malware</a:t>
            </a:r>
          </a:p>
          <a:p>
            <a:r>
              <a:rPr lang="en-US" sz="1600"/>
              <a:t>Research goal: construct an ontology to represent reverse engineering process for malware </a:t>
            </a:r>
          </a:p>
        </p:txBody>
      </p:sp>
      <p:pic>
        <p:nvPicPr>
          <p:cNvPr id="6" name="Graphic 5" descr="Laptop with solid fill">
            <a:extLst>
              <a:ext uri="{FF2B5EF4-FFF2-40B4-BE49-F238E27FC236}">
                <a16:creationId xmlns:a16="http://schemas.microsoft.com/office/drawing/2014/main" id="{1B3140D1-0AAD-8446-673D-858E63FCB6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6117" y="1454507"/>
            <a:ext cx="2934773" cy="2814033"/>
          </a:xfrm>
          <a:prstGeom prst="rect">
            <a:avLst/>
          </a:prstGeom>
        </p:spPr>
      </p:pic>
      <p:pic>
        <p:nvPicPr>
          <p:cNvPr id="7" name="Graphic 6" descr="Skull with solid fill">
            <a:extLst>
              <a:ext uri="{FF2B5EF4-FFF2-40B4-BE49-F238E27FC236}">
                <a16:creationId xmlns:a16="http://schemas.microsoft.com/office/drawing/2014/main" id="{3E1FB830-CF34-5F89-D18C-3DF123CBF9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48316" y="2241327"/>
            <a:ext cx="914400" cy="914400"/>
          </a:xfrm>
          <a:prstGeom prst="rect">
            <a:avLst/>
          </a:prstGeom>
        </p:spPr>
      </p:pic>
    </p:spTree>
    <p:extLst>
      <p:ext uri="{BB962C8B-B14F-4D97-AF65-F5344CB8AC3E}">
        <p14:creationId xmlns:p14="http://schemas.microsoft.com/office/powerpoint/2010/main" val="1431062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6EC798-02BD-5D61-7F02-D98F0B2B9577}"/>
              </a:ext>
            </a:extLst>
          </p:cNvPr>
          <p:cNvSpPr>
            <a:spLocks noGrp="1"/>
          </p:cNvSpPr>
          <p:nvPr>
            <p:ph type="ctrTitle"/>
          </p:nvPr>
        </p:nvSpPr>
        <p:spPr/>
        <p:txBody>
          <a:bodyPr/>
          <a:lstStyle/>
          <a:p>
            <a:r>
              <a:rPr lang="en-US"/>
              <a:t>Background</a:t>
            </a:r>
          </a:p>
        </p:txBody>
      </p:sp>
      <p:sp>
        <p:nvSpPr>
          <p:cNvPr id="2" name="Subtitle 1">
            <a:extLst>
              <a:ext uri="{FF2B5EF4-FFF2-40B4-BE49-F238E27FC236}">
                <a16:creationId xmlns:a16="http://schemas.microsoft.com/office/drawing/2014/main" id="{877A9C97-8444-FFB3-9813-4993C89F25E0}"/>
              </a:ext>
            </a:extLst>
          </p:cNvPr>
          <p:cNvSpPr>
            <a:spLocks noGrp="1"/>
          </p:cNvSpPr>
          <p:nvPr>
            <p:ph type="subTitle" idx="1"/>
          </p:nvPr>
        </p:nvSpPr>
        <p:spPr>
          <a:xfrm>
            <a:off x="2386652" y="2009842"/>
            <a:ext cx="4379226" cy="1129576"/>
          </a:xfrm>
        </p:spPr>
        <p:txBody>
          <a:bodyPr vert="horz" lIns="91440" tIns="45720" rIns="91440" bIns="45720" rtlCol="0" anchor="t">
            <a:normAutofit fontScale="92500" lnSpcReduction="20000"/>
          </a:bodyPr>
          <a:lstStyle/>
          <a:p>
            <a:pPr marL="342900" indent="-342900" algn="l">
              <a:buChar char="•"/>
            </a:pPr>
            <a:r>
              <a:rPr lang="en-US"/>
              <a:t>Software Reverse Engineering</a:t>
            </a:r>
          </a:p>
          <a:p>
            <a:pPr marL="342900" indent="-342900" algn="l">
              <a:buChar char="•"/>
            </a:pPr>
            <a:r>
              <a:rPr lang="en-US" err="1"/>
              <a:t>Ghidra</a:t>
            </a:r>
          </a:p>
          <a:p>
            <a:pPr marL="342900" indent="-342900" algn="l">
              <a:buChar char="•"/>
            </a:pPr>
            <a:r>
              <a:rPr lang="en-US"/>
              <a:t>Knowledge Graphs</a:t>
            </a:r>
          </a:p>
        </p:txBody>
      </p:sp>
    </p:spTree>
    <p:extLst>
      <p:ext uri="{BB962C8B-B14F-4D97-AF65-F5344CB8AC3E}">
        <p14:creationId xmlns:p14="http://schemas.microsoft.com/office/powerpoint/2010/main" val="3609051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68AB-E72B-9E3F-CA60-7B51AF71412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F8BEB4-4DA2-14AE-97A1-2C9F962EBAB4}"/>
              </a:ext>
            </a:extLst>
          </p:cNvPr>
          <p:cNvSpPr>
            <a:spLocks noGrp="1"/>
          </p:cNvSpPr>
          <p:nvPr>
            <p:ph sz="half" idx="1"/>
          </p:nvPr>
        </p:nvSpPr>
        <p:spPr>
          <a:xfrm>
            <a:off x="457200" y="1595969"/>
            <a:ext cx="2955236" cy="1649402"/>
          </a:xfrm>
        </p:spPr>
        <p:txBody>
          <a:bodyPr lIns="91440" tIns="45720" rIns="91440" bIns="45720" anchor="t"/>
          <a:lstStyle/>
          <a:p>
            <a:r>
              <a:rPr lang="en-US" sz="2000"/>
              <a:t>Process of analyzing an executable to understand how it works without the source code [3]</a:t>
            </a:r>
          </a:p>
          <a:p>
            <a:pPr marL="556895" lvl="1" indent="-213995">
              <a:buFont typeface="Courier New"/>
              <a:buChar char="o"/>
            </a:pPr>
            <a:r>
              <a:rPr lang="en-US" sz="1600"/>
              <a:t>Useful in combating malware</a:t>
            </a:r>
          </a:p>
          <a:p>
            <a:r>
              <a:rPr lang="en-US" sz="2000"/>
              <a:t>Reversing process of compilation</a:t>
            </a:r>
          </a:p>
        </p:txBody>
      </p:sp>
      <p:sp>
        <p:nvSpPr>
          <p:cNvPr id="4" name="Title 3">
            <a:extLst>
              <a:ext uri="{FF2B5EF4-FFF2-40B4-BE49-F238E27FC236}">
                <a16:creationId xmlns:a16="http://schemas.microsoft.com/office/drawing/2014/main" id="{61DD5233-EF4D-111E-883E-06F94F3321C8}"/>
              </a:ext>
            </a:extLst>
          </p:cNvPr>
          <p:cNvSpPr>
            <a:spLocks noGrp="1"/>
          </p:cNvSpPr>
          <p:nvPr>
            <p:ph type="title"/>
          </p:nvPr>
        </p:nvSpPr>
        <p:spPr/>
        <p:txBody>
          <a:bodyPr lIns="91440" tIns="45720" rIns="91440" bIns="45720" anchor="t"/>
          <a:lstStyle/>
          <a:p>
            <a:r>
              <a:rPr lang="en-US"/>
              <a:t>Software Reverse Engineering</a:t>
            </a:r>
          </a:p>
        </p:txBody>
      </p:sp>
      <p:pic>
        <p:nvPicPr>
          <p:cNvPr id="6" name="Graphic 7" descr="Single gear with solid fill">
            <a:extLst>
              <a:ext uri="{FF2B5EF4-FFF2-40B4-BE49-F238E27FC236}">
                <a16:creationId xmlns:a16="http://schemas.microsoft.com/office/drawing/2014/main" id="{2883A1F3-BE9F-F080-E1C2-06BBB55335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56749" y="1617648"/>
            <a:ext cx="1560896" cy="1567282"/>
          </a:xfrm>
          <a:prstGeom prst="rect">
            <a:avLst/>
          </a:prstGeom>
        </p:spPr>
      </p:pic>
      <p:pic>
        <p:nvPicPr>
          <p:cNvPr id="7" name="Content Placeholder 5" descr="Refresh with solid fill">
            <a:extLst>
              <a:ext uri="{FF2B5EF4-FFF2-40B4-BE49-F238E27FC236}">
                <a16:creationId xmlns:a16="http://schemas.microsoft.com/office/drawing/2014/main" id="{60BF8459-B53F-05F9-524B-EB95CAAF53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52533" y="1301777"/>
            <a:ext cx="2282588" cy="2257041"/>
          </a:xfrm>
          <a:prstGeom prst="rect">
            <a:avLst/>
          </a:prstGeom>
        </p:spPr>
      </p:pic>
      <p:sp>
        <p:nvSpPr>
          <p:cNvPr id="28" name="Rectangle: Rounded Corners 27">
            <a:extLst>
              <a:ext uri="{FF2B5EF4-FFF2-40B4-BE49-F238E27FC236}">
                <a16:creationId xmlns:a16="http://schemas.microsoft.com/office/drawing/2014/main" id="{A6CCA8CB-3C66-422B-AA40-F5DEA632AEEA}"/>
              </a:ext>
            </a:extLst>
          </p:cNvPr>
          <p:cNvSpPr/>
          <p:nvPr/>
        </p:nvSpPr>
        <p:spPr>
          <a:xfrm>
            <a:off x="5550754" y="3686615"/>
            <a:ext cx="1258562" cy="465519"/>
          </a:xfrm>
          <a:prstGeom prst="roundRect">
            <a:avLst/>
          </a:prstGeom>
          <a:noFill/>
          <a:ln w="57150">
            <a:solidFill>
              <a:srgbClr val="046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tx1"/>
                </a:solidFill>
                <a:ea typeface="Calibri"/>
                <a:cs typeface="Calibri"/>
              </a:rPr>
              <a:t>Assembly</a:t>
            </a:r>
          </a:p>
        </p:txBody>
      </p:sp>
      <p:cxnSp>
        <p:nvCxnSpPr>
          <p:cNvPr id="29" name="Straight Arrow Connector 28">
            <a:extLst>
              <a:ext uri="{FF2B5EF4-FFF2-40B4-BE49-F238E27FC236}">
                <a16:creationId xmlns:a16="http://schemas.microsoft.com/office/drawing/2014/main" id="{F0A2A992-6B2E-8DAC-40F0-0C000DB80140}"/>
              </a:ext>
            </a:extLst>
          </p:cNvPr>
          <p:cNvCxnSpPr>
            <a:cxnSpLocks/>
          </p:cNvCxnSpPr>
          <p:nvPr/>
        </p:nvCxnSpPr>
        <p:spPr>
          <a:xfrm>
            <a:off x="4292193" y="3783037"/>
            <a:ext cx="1258561" cy="0"/>
          </a:xfrm>
          <a:prstGeom prst="straightConnector1">
            <a:avLst/>
          </a:prstGeom>
          <a:ln>
            <a:solidFill>
              <a:srgbClr val="CBA052"/>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3CD24AE5-7C45-5E78-3305-D7F6DE0F146F}"/>
              </a:ext>
            </a:extLst>
          </p:cNvPr>
          <p:cNvSpPr/>
          <p:nvPr/>
        </p:nvSpPr>
        <p:spPr>
          <a:xfrm>
            <a:off x="3479281" y="3690809"/>
            <a:ext cx="787501" cy="465519"/>
          </a:xfrm>
          <a:prstGeom prst="roundRect">
            <a:avLst/>
          </a:prstGeom>
          <a:noFill/>
          <a:ln w="57150">
            <a:solidFill>
              <a:srgbClr val="046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tx1"/>
                </a:solidFill>
                <a:ea typeface="Calibri"/>
                <a:cs typeface="Calibri"/>
              </a:rPr>
              <a:t>Code</a:t>
            </a:r>
          </a:p>
        </p:txBody>
      </p:sp>
      <p:cxnSp>
        <p:nvCxnSpPr>
          <p:cNvPr id="31" name="Straight Arrow Connector 30">
            <a:extLst>
              <a:ext uri="{FF2B5EF4-FFF2-40B4-BE49-F238E27FC236}">
                <a16:creationId xmlns:a16="http://schemas.microsoft.com/office/drawing/2014/main" id="{0ECA4CA0-C917-56EC-DA9B-E78F8EB97F9E}"/>
              </a:ext>
            </a:extLst>
          </p:cNvPr>
          <p:cNvCxnSpPr>
            <a:cxnSpLocks/>
          </p:cNvCxnSpPr>
          <p:nvPr/>
        </p:nvCxnSpPr>
        <p:spPr>
          <a:xfrm flipH="1">
            <a:off x="4266782" y="4070151"/>
            <a:ext cx="125589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A4A95DA-3162-DF37-766D-C57371B1529A}"/>
              </a:ext>
            </a:extLst>
          </p:cNvPr>
          <p:cNvSpPr txBox="1"/>
          <p:nvPr/>
        </p:nvSpPr>
        <p:spPr>
          <a:xfrm>
            <a:off x="4478238" y="3482955"/>
            <a:ext cx="861060" cy="300082"/>
          </a:xfrm>
          <a:prstGeom prst="rect">
            <a:avLst/>
          </a:prstGeom>
          <a:noFill/>
        </p:spPr>
        <p:txBody>
          <a:bodyPr wrap="square" rtlCol="0">
            <a:spAutoFit/>
          </a:bodyPr>
          <a:lstStyle/>
          <a:p>
            <a:r>
              <a:rPr lang="en-US"/>
              <a:t>Compiler</a:t>
            </a:r>
          </a:p>
        </p:txBody>
      </p:sp>
      <p:sp>
        <p:nvSpPr>
          <p:cNvPr id="33" name="TextBox 32">
            <a:extLst>
              <a:ext uri="{FF2B5EF4-FFF2-40B4-BE49-F238E27FC236}">
                <a16:creationId xmlns:a16="http://schemas.microsoft.com/office/drawing/2014/main" id="{5E9CFC8B-52FF-6890-910B-576FB6BC6D06}"/>
              </a:ext>
            </a:extLst>
          </p:cNvPr>
          <p:cNvSpPr txBox="1"/>
          <p:nvPr/>
        </p:nvSpPr>
        <p:spPr>
          <a:xfrm>
            <a:off x="6989498" y="3482955"/>
            <a:ext cx="923607" cy="300082"/>
          </a:xfrm>
          <a:prstGeom prst="rect">
            <a:avLst/>
          </a:prstGeom>
          <a:noFill/>
        </p:spPr>
        <p:txBody>
          <a:bodyPr wrap="square" rtlCol="0">
            <a:spAutoFit/>
          </a:bodyPr>
          <a:lstStyle/>
          <a:p>
            <a:r>
              <a:rPr lang="en-US"/>
              <a:t>Assembler</a:t>
            </a:r>
          </a:p>
        </p:txBody>
      </p:sp>
      <p:sp>
        <p:nvSpPr>
          <p:cNvPr id="34" name="TextBox 33">
            <a:extLst>
              <a:ext uri="{FF2B5EF4-FFF2-40B4-BE49-F238E27FC236}">
                <a16:creationId xmlns:a16="http://schemas.microsoft.com/office/drawing/2014/main" id="{DD1142FC-823C-C51C-6F21-76577790AB70}"/>
              </a:ext>
            </a:extLst>
          </p:cNvPr>
          <p:cNvSpPr txBox="1"/>
          <p:nvPr/>
        </p:nvSpPr>
        <p:spPr>
          <a:xfrm>
            <a:off x="4409590" y="3820034"/>
            <a:ext cx="999422" cy="300082"/>
          </a:xfrm>
          <a:prstGeom prst="rect">
            <a:avLst/>
          </a:prstGeom>
          <a:noFill/>
        </p:spPr>
        <p:txBody>
          <a:bodyPr wrap="square" rtlCol="0">
            <a:spAutoFit/>
          </a:bodyPr>
          <a:lstStyle/>
          <a:p>
            <a:r>
              <a:rPr lang="en-US"/>
              <a:t>Decompiler</a:t>
            </a:r>
          </a:p>
        </p:txBody>
      </p:sp>
      <p:sp>
        <p:nvSpPr>
          <p:cNvPr id="35" name="TextBox 34">
            <a:extLst>
              <a:ext uri="{FF2B5EF4-FFF2-40B4-BE49-F238E27FC236}">
                <a16:creationId xmlns:a16="http://schemas.microsoft.com/office/drawing/2014/main" id="{BB73A951-A3F8-37BF-64B5-608A1A6BF19D}"/>
              </a:ext>
            </a:extLst>
          </p:cNvPr>
          <p:cNvSpPr txBox="1"/>
          <p:nvPr/>
        </p:nvSpPr>
        <p:spPr>
          <a:xfrm>
            <a:off x="6868371" y="3814557"/>
            <a:ext cx="1137786" cy="300082"/>
          </a:xfrm>
          <a:prstGeom prst="rect">
            <a:avLst/>
          </a:prstGeom>
          <a:noFill/>
        </p:spPr>
        <p:txBody>
          <a:bodyPr wrap="square" rtlCol="0">
            <a:spAutoFit/>
          </a:bodyPr>
          <a:lstStyle/>
          <a:p>
            <a:r>
              <a:rPr lang="en-US"/>
              <a:t>Disassembler</a:t>
            </a:r>
          </a:p>
        </p:txBody>
      </p:sp>
      <p:sp>
        <p:nvSpPr>
          <p:cNvPr id="36" name="Rectangle: Rounded Corners 35">
            <a:extLst>
              <a:ext uri="{FF2B5EF4-FFF2-40B4-BE49-F238E27FC236}">
                <a16:creationId xmlns:a16="http://schemas.microsoft.com/office/drawing/2014/main" id="{B3FAE074-ECF6-54C6-A6EA-441999E32509}"/>
              </a:ext>
            </a:extLst>
          </p:cNvPr>
          <p:cNvSpPr/>
          <p:nvPr/>
        </p:nvSpPr>
        <p:spPr>
          <a:xfrm>
            <a:off x="8093288" y="3684558"/>
            <a:ext cx="942836" cy="465519"/>
          </a:xfrm>
          <a:prstGeom prst="roundRect">
            <a:avLst/>
          </a:prstGeom>
          <a:noFill/>
          <a:ln w="57150">
            <a:solidFill>
              <a:srgbClr val="046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tx1"/>
                </a:solidFill>
                <a:ea typeface="Calibri"/>
                <a:cs typeface="Calibri"/>
              </a:rPr>
              <a:t>Binary</a:t>
            </a:r>
          </a:p>
        </p:txBody>
      </p:sp>
      <p:cxnSp>
        <p:nvCxnSpPr>
          <p:cNvPr id="37" name="Straight Arrow Connector 36">
            <a:extLst>
              <a:ext uri="{FF2B5EF4-FFF2-40B4-BE49-F238E27FC236}">
                <a16:creationId xmlns:a16="http://schemas.microsoft.com/office/drawing/2014/main" id="{2C50BD3A-9214-82C5-B8B7-59A7277C3174}"/>
              </a:ext>
            </a:extLst>
          </p:cNvPr>
          <p:cNvCxnSpPr>
            <a:cxnSpLocks/>
          </p:cNvCxnSpPr>
          <p:nvPr/>
        </p:nvCxnSpPr>
        <p:spPr>
          <a:xfrm>
            <a:off x="6834727" y="3786953"/>
            <a:ext cx="1258561" cy="0"/>
          </a:xfrm>
          <a:prstGeom prst="straightConnector1">
            <a:avLst/>
          </a:prstGeom>
          <a:ln>
            <a:solidFill>
              <a:srgbClr val="CBA052"/>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EB1BCF7-5103-2C9A-E211-1184EFD2CBE5}"/>
              </a:ext>
            </a:extLst>
          </p:cNvPr>
          <p:cNvCxnSpPr>
            <a:cxnSpLocks/>
          </p:cNvCxnSpPr>
          <p:nvPr/>
        </p:nvCxnSpPr>
        <p:spPr>
          <a:xfrm rot="10800000">
            <a:off x="6806651" y="4070151"/>
            <a:ext cx="125856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382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1E2E64-2413-FDFB-0F54-6F492406970C}"/>
              </a:ext>
            </a:extLst>
          </p:cNvPr>
          <p:cNvSpPr>
            <a:spLocks noGrp="1"/>
          </p:cNvSpPr>
          <p:nvPr>
            <p:ph sz="half" idx="1"/>
          </p:nvPr>
        </p:nvSpPr>
        <p:spPr>
          <a:xfrm>
            <a:off x="457200" y="1595968"/>
            <a:ext cx="4761904" cy="2780089"/>
          </a:xfrm>
        </p:spPr>
        <p:txBody>
          <a:bodyPr lIns="91440" tIns="45720" rIns="91440" bIns="45720" anchor="t"/>
          <a:lstStyle/>
          <a:p>
            <a:r>
              <a:rPr lang="en-US"/>
              <a:t>Framework used to conduct software reverse engineering [4]</a:t>
            </a:r>
          </a:p>
          <a:p>
            <a:pPr marL="556895" lvl="1" indent="-213995">
              <a:buFont typeface="Courier New"/>
              <a:buChar char="o"/>
            </a:pPr>
            <a:r>
              <a:rPr lang="en-US"/>
              <a:t>Analyzes executables to get their disassembly and </a:t>
            </a:r>
            <a:r>
              <a:rPr lang="en-US" err="1"/>
              <a:t>decompilation</a:t>
            </a:r>
          </a:p>
          <a:p>
            <a:pPr marL="556895" lvl="1" indent="-213995">
              <a:buFont typeface="Courier New"/>
              <a:buChar char="o"/>
            </a:pPr>
            <a:r>
              <a:rPr lang="en-US"/>
              <a:t>Includes other fields like symbol tree, defined strings, etc.</a:t>
            </a:r>
          </a:p>
          <a:p>
            <a:pPr marL="556895" lvl="1" indent="-213995">
              <a:buFont typeface="Courier New"/>
              <a:buChar char="o"/>
            </a:pPr>
            <a:r>
              <a:rPr lang="en-US"/>
              <a:t>Specially made to analyze malware [4]</a:t>
            </a:r>
          </a:p>
          <a:p>
            <a:r>
              <a:rPr lang="en-US"/>
              <a:t>Drawback: produces a lot of data</a:t>
            </a:r>
          </a:p>
        </p:txBody>
      </p:sp>
      <p:sp>
        <p:nvSpPr>
          <p:cNvPr id="4" name="Title 3">
            <a:extLst>
              <a:ext uri="{FF2B5EF4-FFF2-40B4-BE49-F238E27FC236}">
                <a16:creationId xmlns:a16="http://schemas.microsoft.com/office/drawing/2014/main" id="{97A34A21-906E-9AF7-46F0-A86512BE9B7B}"/>
              </a:ext>
            </a:extLst>
          </p:cNvPr>
          <p:cNvSpPr>
            <a:spLocks noGrp="1"/>
          </p:cNvSpPr>
          <p:nvPr>
            <p:ph type="title"/>
          </p:nvPr>
        </p:nvSpPr>
        <p:spPr/>
        <p:txBody>
          <a:bodyPr lIns="91440" tIns="45720" rIns="91440" bIns="45720" anchor="t"/>
          <a:lstStyle/>
          <a:p>
            <a:r>
              <a:rPr lang="en-US" err="1"/>
              <a:t>Ghidra</a:t>
            </a:r>
          </a:p>
        </p:txBody>
      </p:sp>
      <p:pic>
        <p:nvPicPr>
          <p:cNvPr id="5" name="Picture 4" descr="ghidra.net&#10;">
            <a:extLst>
              <a:ext uri="{FF2B5EF4-FFF2-40B4-BE49-F238E27FC236}">
                <a16:creationId xmlns:a16="http://schemas.microsoft.com/office/drawing/2014/main" id="{6F958532-0DF4-126D-3EE1-9346A5E9B9F4}"/>
              </a:ext>
            </a:extLst>
          </p:cNvPr>
          <p:cNvPicPr>
            <a:picLocks noChangeAspect="1"/>
          </p:cNvPicPr>
          <p:nvPr/>
        </p:nvPicPr>
        <p:blipFill>
          <a:blip r:embed="rId3"/>
          <a:stretch>
            <a:fillRect/>
          </a:stretch>
        </p:blipFill>
        <p:spPr>
          <a:xfrm>
            <a:off x="5413498" y="1471613"/>
            <a:ext cx="3381375" cy="2200275"/>
          </a:xfrm>
          <a:prstGeom prst="rect">
            <a:avLst/>
          </a:prstGeom>
        </p:spPr>
      </p:pic>
    </p:spTree>
    <p:extLst>
      <p:ext uri="{BB962C8B-B14F-4D97-AF65-F5344CB8AC3E}">
        <p14:creationId xmlns:p14="http://schemas.microsoft.com/office/powerpoint/2010/main" val="2370081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1DD8D7-73B3-D6E0-979B-E82C8279BFD2}"/>
              </a:ext>
            </a:extLst>
          </p:cNvPr>
          <p:cNvSpPr>
            <a:spLocks noGrp="1"/>
          </p:cNvSpPr>
          <p:nvPr>
            <p:ph sz="half" idx="1"/>
          </p:nvPr>
        </p:nvSpPr>
        <p:spPr/>
        <p:txBody>
          <a:bodyPr lIns="91440" tIns="45720" rIns="91440" bIns="45720" anchor="t"/>
          <a:lstStyle/>
          <a:p>
            <a:r>
              <a:rPr lang="en-US" sz="2000"/>
              <a:t>A graph structure to represent knowledge about data [6]</a:t>
            </a:r>
          </a:p>
          <a:p>
            <a:pPr marL="556895" lvl="1" indent="-213995">
              <a:buFont typeface="Courier New"/>
              <a:buChar char="o"/>
            </a:pPr>
            <a:r>
              <a:rPr lang="en-US" sz="1600"/>
              <a:t>Two components: nodes and edges</a:t>
            </a:r>
          </a:p>
          <a:p>
            <a:pPr marL="556895" lvl="1" indent="-213995">
              <a:buFont typeface="Courier New"/>
              <a:buChar char="o"/>
            </a:pPr>
            <a:r>
              <a:rPr lang="en-US" sz="1600"/>
              <a:t>Graph consists of triples in the form &lt;node, edge, node&gt;</a:t>
            </a:r>
          </a:p>
          <a:p>
            <a:r>
              <a:rPr lang="en-US" sz="2000"/>
              <a:t>Ontology: defines how to structure the data</a:t>
            </a:r>
          </a:p>
          <a:p>
            <a:r>
              <a:rPr lang="en-US" sz="2000"/>
              <a:t>Uses RDF format</a:t>
            </a:r>
          </a:p>
        </p:txBody>
      </p:sp>
      <p:sp>
        <p:nvSpPr>
          <p:cNvPr id="4" name="Title 3">
            <a:extLst>
              <a:ext uri="{FF2B5EF4-FFF2-40B4-BE49-F238E27FC236}">
                <a16:creationId xmlns:a16="http://schemas.microsoft.com/office/drawing/2014/main" id="{5390BCBB-992C-9254-3C33-AC7BB205BBDB}"/>
              </a:ext>
            </a:extLst>
          </p:cNvPr>
          <p:cNvSpPr>
            <a:spLocks noGrp="1"/>
          </p:cNvSpPr>
          <p:nvPr>
            <p:ph type="title"/>
          </p:nvPr>
        </p:nvSpPr>
        <p:spPr/>
        <p:txBody>
          <a:bodyPr lIns="91440" tIns="45720" rIns="91440" bIns="45720" anchor="t"/>
          <a:lstStyle/>
          <a:p>
            <a:r>
              <a:rPr lang="en-US"/>
              <a:t>Knowledge Graphs</a:t>
            </a:r>
          </a:p>
        </p:txBody>
      </p:sp>
      <p:pic>
        <p:nvPicPr>
          <p:cNvPr id="7" name="Picture 6" descr="A diagram of a network&#10;&#10;AI-generated content may be incorrect.">
            <a:extLst>
              <a:ext uri="{FF2B5EF4-FFF2-40B4-BE49-F238E27FC236}">
                <a16:creationId xmlns:a16="http://schemas.microsoft.com/office/drawing/2014/main" id="{9E71D0F5-F42D-EA33-FABE-9B75803B46EC}"/>
              </a:ext>
            </a:extLst>
          </p:cNvPr>
          <p:cNvPicPr>
            <a:picLocks noChangeAspect="1"/>
          </p:cNvPicPr>
          <p:nvPr/>
        </p:nvPicPr>
        <p:blipFill>
          <a:blip r:embed="rId3"/>
          <a:stretch>
            <a:fillRect/>
          </a:stretch>
        </p:blipFill>
        <p:spPr>
          <a:xfrm>
            <a:off x="5073696" y="1270487"/>
            <a:ext cx="3515170" cy="2598540"/>
          </a:xfrm>
          <a:prstGeom prst="rect">
            <a:avLst/>
          </a:prstGeom>
        </p:spPr>
      </p:pic>
    </p:spTree>
    <p:extLst>
      <p:ext uri="{BB962C8B-B14F-4D97-AF65-F5344CB8AC3E}">
        <p14:creationId xmlns:p14="http://schemas.microsoft.com/office/powerpoint/2010/main" val="2367676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5F888-FD9A-3EE4-0283-AB04736F4D26}"/>
              </a:ext>
            </a:extLst>
          </p:cNvPr>
          <p:cNvSpPr>
            <a:spLocks noGrp="1"/>
          </p:cNvSpPr>
          <p:nvPr>
            <p:ph type="ctrTitle"/>
          </p:nvPr>
        </p:nvSpPr>
        <p:spPr/>
        <p:txBody>
          <a:bodyPr/>
          <a:lstStyle/>
          <a:p>
            <a:r>
              <a:rPr lang="en-US"/>
              <a:t>Approach</a:t>
            </a:r>
          </a:p>
        </p:txBody>
      </p:sp>
      <p:sp>
        <p:nvSpPr>
          <p:cNvPr id="4" name="Subtitle 3">
            <a:extLst>
              <a:ext uri="{FF2B5EF4-FFF2-40B4-BE49-F238E27FC236}">
                <a16:creationId xmlns:a16="http://schemas.microsoft.com/office/drawing/2014/main" id="{FC8D1BA8-BB8D-094F-8181-3EDDB120EA79}"/>
              </a:ext>
            </a:extLst>
          </p:cNvPr>
          <p:cNvSpPr>
            <a:spLocks noGrp="1"/>
          </p:cNvSpPr>
          <p:nvPr>
            <p:ph type="subTitle" idx="1"/>
          </p:nvPr>
        </p:nvSpPr>
        <p:spPr>
          <a:xfrm>
            <a:off x="2015544" y="1860750"/>
            <a:ext cx="5112913" cy="1129576"/>
          </a:xfrm>
        </p:spPr>
        <p:txBody>
          <a:bodyPr vert="horz" lIns="91440" tIns="45720" rIns="91440" bIns="45720" rtlCol="0" anchor="t">
            <a:normAutofit fontScale="92500" lnSpcReduction="20000"/>
          </a:bodyPr>
          <a:lstStyle/>
          <a:p>
            <a:pPr marL="342900" indent="-342900" algn="l">
              <a:buChar char="•"/>
            </a:pPr>
            <a:r>
              <a:rPr lang="en-US"/>
              <a:t>Competency Questions and Data set</a:t>
            </a:r>
          </a:p>
          <a:p>
            <a:pPr marL="342900" indent="-342900" algn="l">
              <a:buChar char="•"/>
            </a:pPr>
            <a:r>
              <a:rPr lang="en-US"/>
              <a:t>Schema and Ontology</a:t>
            </a:r>
          </a:p>
          <a:p>
            <a:pPr marL="342900" indent="-342900" algn="l">
              <a:buChar char="•"/>
            </a:pPr>
            <a:r>
              <a:rPr lang="en-US"/>
              <a:t>Knowledge Graph</a:t>
            </a:r>
          </a:p>
        </p:txBody>
      </p:sp>
    </p:spTree>
    <p:extLst>
      <p:ext uri="{BB962C8B-B14F-4D97-AF65-F5344CB8AC3E}">
        <p14:creationId xmlns:p14="http://schemas.microsoft.com/office/powerpoint/2010/main" val="4176450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EDA369-AF7A-F6A5-4C41-27DA27EEC97B}"/>
              </a:ext>
            </a:extLst>
          </p:cNvPr>
          <p:cNvSpPr>
            <a:spLocks noGrp="1"/>
          </p:cNvSpPr>
          <p:nvPr>
            <p:ph sz="half" idx="1"/>
          </p:nvPr>
        </p:nvSpPr>
        <p:spPr/>
        <p:txBody>
          <a:bodyPr lIns="91440" tIns="45720" rIns="91440" bIns="45720" anchor="t"/>
          <a:lstStyle/>
          <a:p>
            <a:r>
              <a:rPr lang="en-US"/>
              <a:t>Competency Questions: derived from the use case of the ontology to specify what questions the knowledge graph should be able to answer</a:t>
            </a:r>
          </a:p>
          <a:p>
            <a:r>
              <a:rPr lang="en-US"/>
              <a:t>Data: repository of </a:t>
            </a:r>
            <a:r>
              <a:rPr lang="en-US" err="1"/>
              <a:t>unix</a:t>
            </a:r>
            <a:r>
              <a:rPr lang="en-US"/>
              <a:t>-based executable files [6]</a:t>
            </a:r>
          </a:p>
        </p:txBody>
      </p:sp>
      <p:sp>
        <p:nvSpPr>
          <p:cNvPr id="4" name="Title 3">
            <a:extLst>
              <a:ext uri="{FF2B5EF4-FFF2-40B4-BE49-F238E27FC236}">
                <a16:creationId xmlns:a16="http://schemas.microsoft.com/office/drawing/2014/main" id="{A5C8CD6F-A626-7B56-8AA2-B8896FBA8FBA}"/>
              </a:ext>
            </a:extLst>
          </p:cNvPr>
          <p:cNvSpPr>
            <a:spLocks noGrp="1"/>
          </p:cNvSpPr>
          <p:nvPr>
            <p:ph type="title"/>
          </p:nvPr>
        </p:nvSpPr>
        <p:spPr/>
        <p:txBody>
          <a:bodyPr lIns="91440" tIns="45720" rIns="91440" bIns="45720" anchor="t"/>
          <a:lstStyle/>
          <a:p>
            <a:r>
              <a:rPr lang="en-US"/>
              <a:t>Competency Questions and Choosing a Dataset</a:t>
            </a:r>
          </a:p>
        </p:txBody>
      </p:sp>
      <p:sp>
        <p:nvSpPr>
          <p:cNvPr id="5" name="Rectangle: Rounded Corners 4">
            <a:extLst>
              <a:ext uri="{FF2B5EF4-FFF2-40B4-BE49-F238E27FC236}">
                <a16:creationId xmlns:a16="http://schemas.microsoft.com/office/drawing/2014/main" id="{139997B0-9243-1279-8D14-AEF3F9ADD12F}"/>
              </a:ext>
            </a:extLst>
          </p:cNvPr>
          <p:cNvSpPr/>
          <p:nvPr/>
        </p:nvSpPr>
        <p:spPr>
          <a:xfrm>
            <a:off x="4992174" y="1462556"/>
            <a:ext cx="3482124" cy="769513"/>
          </a:xfrm>
          <a:prstGeom prst="roundRect">
            <a:avLst/>
          </a:prstGeom>
          <a:noFill/>
          <a:ln w="57150">
            <a:solidFill>
              <a:srgbClr val="046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ea typeface="Calibri"/>
                <a:cs typeface="Calibri"/>
              </a:rPr>
              <a:t>Is there any suspicious networking activity in the executable?</a:t>
            </a:r>
          </a:p>
        </p:txBody>
      </p:sp>
      <p:sp>
        <p:nvSpPr>
          <p:cNvPr id="6" name="Rectangle: Rounded Corners 5">
            <a:extLst>
              <a:ext uri="{FF2B5EF4-FFF2-40B4-BE49-F238E27FC236}">
                <a16:creationId xmlns:a16="http://schemas.microsoft.com/office/drawing/2014/main" id="{575DC86E-8267-BC37-BB2E-5F40EAAB7378}"/>
              </a:ext>
            </a:extLst>
          </p:cNvPr>
          <p:cNvSpPr/>
          <p:nvPr/>
        </p:nvSpPr>
        <p:spPr>
          <a:xfrm>
            <a:off x="4992173" y="2573359"/>
            <a:ext cx="3482124" cy="769513"/>
          </a:xfrm>
          <a:prstGeom prst="roundRect">
            <a:avLst/>
          </a:prstGeom>
          <a:noFill/>
          <a:ln w="57150">
            <a:solidFill>
              <a:srgbClr val="046A38"/>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a:solidFill>
                  <a:schemeClr val="tx1"/>
                </a:solidFill>
                <a:ea typeface="+mn-lt"/>
                <a:cs typeface="+mn-lt"/>
              </a:rPr>
              <a:t>Can sections of entropy be detected through the ratio of unique opcodes and total number of instructions in a function?</a:t>
            </a:r>
          </a:p>
        </p:txBody>
      </p:sp>
      <p:sp>
        <p:nvSpPr>
          <p:cNvPr id="7" name="Rectangle: Rounded Corners 6">
            <a:extLst>
              <a:ext uri="{FF2B5EF4-FFF2-40B4-BE49-F238E27FC236}">
                <a16:creationId xmlns:a16="http://schemas.microsoft.com/office/drawing/2014/main" id="{6104AEED-D9BB-692F-F850-3FFE3C399D3A}"/>
              </a:ext>
            </a:extLst>
          </p:cNvPr>
          <p:cNvSpPr/>
          <p:nvPr/>
        </p:nvSpPr>
        <p:spPr>
          <a:xfrm>
            <a:off x="4992173" y="3619768"/>
            <a:ext cx="3482124" cy="769513"/>
          </a:xfrm>
          <a:prstGeom prst="roundRect">
            <a:avLst/>
          </a:prstGeom>
          <a:noFill/>
          <a:ln w="57150">
            <a:solidFill>
              <a:srgbClr val="046A38"/>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a:solidFill>
                  <a:schemeClr val="tx1"/>
                </a:solidFill>
                <a:ea typeface="Calibri"/>
                <a:cs typeface="Calibri"/>
              </a:rPr>
              <a:t>What percentage of the functions in the binary file are imported?</a:t>
            </a:r>
          </a:p>
        </p:txBody>
      </p:sp>
    </p:spTree>
    <p:extLst>
      <p:ext uri="{BB962C8B-B14F-4D97-AF65-F5344CB8AC3E}">
        <p14:creationId xmlns:p14="http://schemas.microsoft.com/office/powerpoint/2010/main" val="2233563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20750A0-B4F3-F724-4D63-8A152B509EBC}"/>
              </a:ext>
            </a:extLst>
          </p:cNvPr>
          <p:cNvSpPr>
            <a:spLocks noGrp="1"/>
          </p:cNvSpPr>
          <p:nvPr>
            <p:ph sz="half" idx="1"/>
          </p:nvPr>
        </p:nvSpPr>
        <p:spPr>
          <a:xfrm>
            <a:off x="457200" y="1595968"/>
            <a:ext cx="2889871" cy="2780089"/>
          </a:xfrm>
        </p:spPr>
        <p:txBody>
          <a:bodyPr lIns="91440" tIns="45720" rIns="91440" bIns="45720" anchor="t"/>
          <a:lstStyle/>
          <a:p>
            <a:r>
              <a:rPr lang="en-US" sz="1800"/>
              <a:t>Designed using </a:t>
            </a:r>
            <a:r>
              <a:rPr lang="en-US" sz="1800" err="1"/>
              <a:t>yEd</a:t>
            </a:r>
            <a:r>
              <a:rPr lang="en-US" sz="1800"/>
              <a:t> [7]</a:t>
            </a:r>
          </a:p>
          <a:p>
            <a:r>
              <a:rPr lang="en-US" sz="1800"/>
              <a:t>Based on Symbol Tree in </a:t>
            </a:r>
            <a:r>
              <a:rPr lang="en-US" sz="1800" err="1"/>
              <a:t>Ghidra</a:t>
            </a:r>
            <a:endParaRPr lang="en-US" sz="1800"/>
          </a:p>
          <a:p>
            <a:r>
              <a:rPr lang="en-US" sz="1800"/>
              <a:t>Symbol &amp; Subclasses</a:t>
            </a:r>
          </a:p>
          <a:p>
            <a:pPr marL="556895" lvl="1" indent="-213995">
              <a:buFont typeface="Courier New"/>
              <a:buChar char="o"/>
            </a:pPr>
            <a:r>
              <a:rPr lang="en-US" sz="1600"/>
              <a:t>Label</a:t>
            </a:r>
          </a:p>
          <a:p>
            <a:pPr marL="556895" lvl="1" indent="-213995">
              <a:buFont typeface="Courier New"/>
              <a:buChar char="o"/>
            </a:pPr>
            <a:r>
              <a:rPr lang="en-US" sz="1600"/>
              <a:t>Namespace Symbol</a:t>
            </a:r>
          </a:p>
          <a:p>
            <a:r>
              <a:rPr lang="en-US" sz="1800"/>
              <a:t>Instruction objects</a:t>
            </a:r>
          </a:p>
          <a:p>
            <a:r>
              <a:rPr lang="en-US" sz="1800"/>
              <a:t>Define axioms</a:t>
            </a:r>
          </a:p>
          <a:p>
            <a:endParaRPr lang="en-US" sz="1600"/>
          </a:p>
        </p:txBody>
      </p:sp>
      <p:sp>
        <p:nvSpPr>
          <p:cNvPr id="2" name="Title 1">
            <a:extLst>
              <a:ext uri="{FF2B5EF4-FFF2-40B4-BE49-F238E27FC236}">
                <a16:creationId xmlns:a16="http://schemas.microsoft.com/office/drawing/2014/main" id="{6A4D9549-F1AA-85A2-FC25-C99528AB9E9A}"/>
              </a:ext>
            </a:extLst>
          </p:cNvPr>
          <p:cNvSpPr>
            <a:spLocks noGrp="1"/>
          </p:cNvSpPr>
          <p:nvPr>
            <p:ph type="title"/>
          </p:nvPr>
        </p:nvSpPr>
        <p:spPr/>
        <p:txBody>
          <a:bodyPr lIns="91440" tIns="45720" rIns="91440" bIns="45720" anchor="t"/>
          <a:lstStyle/>
          <a:p>
            <a:r>
              <a:rPr lang="en-US"/>
              <a:t>Designing the Shema</a:t>
            </a:r>
          </a:p>
        </p:txBody>
      </p:sp>
      <p:pic>
        <p:nvPicPr>
          <p:cNvPr id="4" name="Content Placeholder 4" descr="A screenshot of a computer&#10;&#10;AI-generated content may be incorrect.">
            <a:extLst>
              <a:ext uri="{FF2B5EF4-FFF2-40B4-BE49-F238E27FC236}">
                <a16:creationId xmlns:a16="http://schemas.microsoft.com/office/drawing/2014/main" id="{1FCE83D1-8C58-4123-65AC-0B0B2734A61D}"/>
              </a:ext>
            </a:extLst>
          </p:cNvPr>
          <p:cNvPicPr>
            <a:picLocks noChangeAspect="1"/>
          </p:cNvPicPr>
          <p:nvPr/>
        </p:nvPicPr>
        <p:blipFill>
          <a:blip r:embed="rId3"/>
          <a:stretch>
            <a:fillRect/>
          </a:stretch>
        </p:blipFill>
        <p:spPr>
          <a:xfrm>
            <a:off x="3403899" y="1496315"/>
            <a:ext cx="5673804" cy="2586012"/>
          </a:xfrm>
          <a:prstGeom prst="rect">
            <a:avLst/>
          </a:prstGeom>
        </p:spPr>
      </p:pic>
    </p:spTree>
    <p:extLst>
      <p:ext uri="{BB962C8B-B14F-4D97-AF65-F5344CB8AC3E}">
        <p14:creationId xmlns:p14="http://schemas.microsoft.com/office/powerpoint/2010/main" val="93521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7E2DB4-A345-7C83-FFD8-3ED673D914B8}"/>
              </a:ext>
            </a:extLst>
          </p:cNvPr>
          <p:cNvSpPr>
            <a:spLocks noGrp="1"/>
          </p:cNvSpPr>
          <p:nvPr>
            <p:ph sz="half" idx="1"/>
          </p:nvPr>
        </p:nvSpPr>
        <p:spPr>
          <a:xfrm>
            <a:off x="457200" y="1595968"/>
            <a:ext cx="4823201" cy="2780089"/>
          </a:xfrm>
        </p:spPr>
        <p:txBody>
          <a:bodyPr lIns="91440" tIns="45720" rIns="91440" bIns="45720" anchor="t"/>
          <a:lstStyle/>
          <a:p>
            <a:r>
              <a:rPr lang="en-US"/>
              <a:t>Developed ontology in Protégé [8]</a:t>
            </a:r>
          </a:p>
          <a:p>
            <a:pPr marL="556895" lvl="1" indent="-213995">
              <a:buFont typeface="Courier New"/>
              <a:buChar char="o"/>
            </a:pPr>
            <a:r>
              <a:rPr lang="en-US"/>
              <a:t>Contains classes (objects), object properties, and data properties</a:t>
            </a:r>
          </a:p>
          <a:p>
            <a:r>
              <a:rPr lang="en-US"/>
              <a:t>Axioms, domain, and range specified for all relations</a:t>
            </a:r>
          </a:p>
          <a:p>
            <a:r>
              <a:rPr lang="en-US"/>
              <a:t>Saves ontology into turtle (</a:t>
            </a:r>
            <a:r>
              <a:rPr lang="en-US" err="1"/>
              <a:t>ttl</a:t>
            </a:r>
            <a:r>
              <a:rPr lang="en-US"/>
              <a:t>) format</a:t>
            </a:r>
          </a:p>
          <a:p>
            <a:pPr marL="556895" lvl="1" indent="-257175">
              <a:buFont typeface="Courier New"/>
              <a:buChar char="o"/>
            </a:pPr>
            <a:r>
              <a:rPr lang="en-US"/>
              <a:t>Basis of knowledge graph</a:t>
            </a:r>
          </a:p>
        </p:txBody>
      </p:sp>
      <p:sp>
        <p:nvSpPr>
          <p:cNvPr id="4" name="Title 3">
            <a:extLst>
              <a:ext uri="{FF2B5EF4-FFF2-40B4-BE49-F238E27FC236}">
                <a16:creationId xmlns:a16="http://schemas.microsoft.com/office/drawing/2014/main" id="{17E6D31C-84AC-CC0B-64C7-067A984B6F11}"/>
              </a:ext>
            </a:extLst>
          </p:cNvPr>
          <p:cNvSpPr>
            <a:spLocks noGrp="1"/>
          </p:cNvSpPr>
          <p:nvPr>
            <p:ph type="title"/>
          </p:nvPr>
        </p:nvSpPr>
        <p:spPr/>
        <p:txBody>
          <a:bodyPr lIns="91440" tIns="45720" rIns="91440" bIns="45720" anchor="t"/>
          <a:lstStyle/>
          <a:p>
            <a:r>
              <a:rPr lang="en-US"/>
              <a:t>Developing the Ontology</a:t>
            </a:r>
          </a:p>
        </p:txBody>
      </p:sp>
      <p:pic>
        <p:nvPicPr>
          <p:cNvPr id="5" name="Picture 4" descr="A screenshot of a computer&#10;&#10;AI-generated content may be incorrect.">
            <a:extLst>
              <a:ext uri="{FF2B5EF4-FFF2-40B4-BE49-F238E27FC236}">
                <a16:creationId xmlns:a16="http://schemas.microsoft.com/office/drawing/2014/main" id="{41A68088-C747-132B-6E82-01913CBB500B}"/>
              </a:ext>
            </a:extLst>
          </p:cNvPr>
          <p:cNvPicPr>
            <a:picLocks noChangeAspect="1"/>
          </p:cNvPicPr>
          <p:nvPr/>
        </p:nvPicPr>
        <p:blipFill>
          <a:blip r:embed="rId3"/>
          <a:stretch>
            <a:fillRect/>
          </a:stretch>
        </p:blipFill>
        <p:spPr>
          <a:xfrm>
            <a:off x="5405370" y="1104254"/>
            <a:ext cx="3399269" cy="3274018"/>
          </a:xfrm>
          <a:prstGeom prst="rect">
            <a:avLst/>
          </a:prstGeom>
        </p:spPr>
      </p:pic>
    </p:spTree>
    <p:extLst>
      <p:ext uri="{BB962C8B-B14F-4D97-AF65-F5344CB8AC3E}">
        <p14:creationId xmlns:p14="http://schemas.microsoft.com/office/powerpoint/2010/main" val="124401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0F1DD-F6DA-BE30-FE22-C74C4F43BA24}"/>
              </a:ext>
            </a:extLst>
          </p:cNvPr>
          <p:cNvSpPr>
            <a:spLocks noGrp="1"/>
          </p:cNvSpPr>
          <p:nvPr>
            <p:ph sz="half" idx="1"/>
          </p:nvPr>
        </p:nvSpPr>
        <p:spPr>
          <a:xfrm>
            <a:off x="457200" y="1595968"/>
            <a:ext cx="4098942" cy="2780089"/>
          </a:xfrm>
        </p:spPr>
        <p:txBody>
          <a:bodyPr lIns="91440" tIns="45720" rIns="91440" bIns="45720" anchor="t"/>
          <a:lstStyle/>
          <a:p>
            <a:pPr marL="342900" indent="-342900"/>
            <a:r>
              <a:rPr lang="en-US"/>
              <a:t>Data extraction</a:t>
            </a:r>
            <a:endParaRPr lang="en-US" sz="1800"/>
          </a:p>
          <a:p>
            <a:pPr marL="556895" lvl="1" indent="-213995">
              <a:buFont typeface="Courier New"/>
              <a:buChar char="o"/>
            </a:pPr>
            <a:r>
              <a:rPr lang="en-US"/>
              <a:t>Extract data about file from </a:t>
            </a:r>
            <a:r>
              <a:rPr lang="en-US" err="1"/>
              <a:t>Ghidra</a:t>
            </a:r>
            <a:r>
              <a:rPr lang="en-US"/>
              <a:t> Analysis</a:t>
            </a:r>
          </a:p>
          <a:p>
            <a:r>
              <a:rPr lang="en-US"/>
              <a:t>Data parsing</a:t>
            </a:r>
          </a:p>
          <a:p>
            <a:pPr marL="556895" lvl="1" indent="-213995">
              <a:buFont typeface="Courier New"/>
              <a:buChar char="o"/>
            </a:pPr>
            <a:r>
              <a:rPr lang="en-US"/>
              <a:t>Parse data into dictionaries</a:t>
            </a:r>
          </a:p>
          <a:p>
            <a:r>
              <a:rPr lang="en-US"/>
              <a:t>Materialization</a:t>
            </a:r>
            <a:endParaRPr lang="en-US" sz="1800"/>
          </a:p>
          <a:p>
            <a:pPr marL="556895" lvl="1" indent="-213995">
              <a:buFont typeface="Courier New"/>
              <a:buChar char="o"/>
            </a:pPr>
            <a:r>
              <a:rPr lang="en-US"/>
              <a:t>Materialize KG by making triples based on data and ontology</a:t>
            </a:r>
          </a:p>
        </p:txBody>
      </p:sp>
      <p:pic>
        <p:nvPicPr>
          <p:cNvPr id="6" name="Content Placeholder 5" descr="A diagram of data processing&#10;&#10;AI-generated content may be incorrect.">
            <a:extLst>
              <a:ext uri="{FF2B5EF4-FFF2-40B4-BE49-F238E27FC236}">
                <a16:creationId xmlns:a16="http://schemas.microsoft.com/office/drawing/2014/main" id="{D78D01EF-3AAA-0A50-4FFA-AE7AE3E9E588}"/>
              </a:ext>
            </a:extLst>
          </p:cNvPr>
          <p:cNvPicPr>
            <a:picLocks noGrp="1" noChangeAspect="1"/>
          </p:cNvPicPr>
          <p:nvPr>
            <p:ph sz="half" idx="2"/>
          </p:nvPr>
        </p:nvPicPr>
        <p:blipFill>
          <a:blip r:embed="rId3"/>
          <a:stretch>
            <a:fillRect/>
          </a:stretch>
        </p:blipFill>
        <p:spPr>
          <a:xfrm>
            <a:off x="4231981" y="1812548"/>
            <a:ext cx="4909423" cy="1356209"/>
          </a:xfrm>
          <a:prstGeom prst="rect">
            <a:avLst/>
          </a:prstGeom>
        </p:spPr>
      </p:pic>
      <p:sp>
        <p:nvSpPr>
          <p:cNvPr id="4" name="Title 3">
            <a:extLst>
              <a:ext uri="{FF2B5EF4-FFF2-40B4-BE49-F238E27FC236}">
                <a16:creationId xmlns:a16="http://schemas.microsoft.com/office/drawing/2014/main" id="{054C0BA9-7C3B-579F-F51E-BC0BDB250E3A}"/>
              </a:ext>
            </a:extLst>
          </p:cNvPr>
          <p:cNvSpPr>
            <a:spLocks noGrp="1"/>
          </p:cNvSpPr>
          <p:nvPr>
            <p:ph type="title"/>
          </p:nvPr>
        </p:nvSpPr>
        <p:spPr/>
        <p:txBody>
          <a:bodyPr lIns="91440" tIns="45720" rIns="91440" bIns="45720" anchor="t"/>
          <a:lstStyle/>
          <a:p>
            <a:r>
              <a:rPr lang="en-US"/>
              <a:t>Generating a Knowledge Graph</a:t>
            </a:r>
          </a:p>
        </p:txBody>
      </p:sp>
      <p:sp>
        <p:nvSpPr>
          <p:cNvPr id="3" name="TextBox 2">
            <a:extLst>
              <a:ext uri="{FF2B5EF4-FFF2-40B4-BE49-F238E27FC236}">
                <a16:creationId xmlns:a16="http://schemas.microsoft.com/office/drawing/2014/main" id="{F90E272A-F09D-8FC7-8E74-389047BC9A2F}"/>
              </a:ext>
            </a:extLst>
          </p:cNvPr>
          <p:cNvSpPr txBox="1"/>
          <p:nvPr/>
        </p:nvSpPr>
        <p:spPr>
          <a:xfrm>
            <a:off x="4234526" y="3172960"/>
            <a:ext cx="4452152"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Figure made in </a:t>
            </a:r>
            <a:r>
              <a:rPr lang="en-US" err="1">
                <a:ea typeface="Calibri"/>
                <a:cs typeface="Calibri"/>
              </a:rPr>
              <a:t>yEd</a:t>
            </a:r>
            <a:r>
              <a:rPr lang="en-US">
                <a:ea typeface="Calibri"/>
                <a:cs typeface="Calibri"/>
              </a:rPr>
              <a:t> [7]</a:t>
            </a:r>
          </a:p>
        </p:txBody>
      </p:sp>
    </p:spTree>
    <p:extLst>
      <p:ext uri="{BB962C8B-B14F-4D97-AF65-F5344CB8AC3E}">
        <p14:creationId xmlns:p14="http://schemas.microsoft.com/office/powerpoint/2010/main" val="973538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B5C14-8762-57AC-2F1F-8841D9793016}"/>
              </a:ext>
            </a:extLst>
          </p:cNvPr>
          <p:cNvSpPr>
            <a:spLocks noGrp="1"/>
          </p:cNvSpPr>
          <p:nvPr>
            <p:ph type="ctrTitle"/>
          </p:nvPr>
        </p:nvSpPr>
        <p:spPr/>
        <p:txBody>
          <a:bodyPr/>
          <a:lstStyle/>
          <a:p>
            <a:r>
              <a:rPr lang="en-US"/>
              <a:t>Results</a:t>
            </a:r>
          </a:p>
        </p:txBody>
      </p:sp>
      <p:sp>
        <p:nvSpPr>
          <p:cNvPr id="3" name="Subtitle 2">
            <a:extLst>
              <a:ext uri="{FF2B5EF4-FFF2-40B4-BE49-F238E27FC236}">
                <a16:creationId xmlns:a16="http://schemas.microsoft.com/office/drawing/2014/main" id="{8AA4DB91-8387-66CC-335E-934230FD6AF1}"/>
              </a:ext>
            </a:extLst>
          </p:cNvPr>
          <p:cNvSpPr>
            <a:spLocks noGrp="1"/>
          </p:cNvSpPr>
          <p:nvPr>
            <p:ph type="subTitle" idx="1"/>
          </p:nvPr>
        </p:nvSpPr>
        <p:spPr>
          <a:xfrm>
            <a:off x="1460142" y="2078081"/>
            <a:ext cx="6223716" cy="1129576"/>
          </a:xfrm>
        </p:spPr>
        <p:txBody>
          <a:bodyPr vert="horz" lIns="91440" tIns="45720" rIns="91440" bIns="45720" rtlCol="0" anchor="t">
            <a:normAutofit fontScale="92500"/>
          </a:bodyPr>
          <a:lstStyle/>
          <a:p>
            <a:pPr marL="342900" indent="-342900" algn="l">
              <a:buChar char="•"/>
            </a:pPr>
            <a:r>
              <a:rPr lang="en-US"/>
              <a:t>Evaluating Ontology Structure</a:t>
            </a:r>
          </a:p>
          <a:p>
            <a:pPr marL="342900" indent="-342900" algn="l">
              <a:buChar char="•"/>
            </a:pPr>
            <a:r>
              <a:rPr lang="en-US"/>
              <a:t>Querying Knowledge Graph to detect patterns</a:t>
            </a:r>
          </a:p>
        </p:txBody>
      </p:sp>
    </p:spTree>
    <p:extLst>
      <p:ext uri="{BB962C8B-B14F-4D97-AF65-F5344CB8AC3E}">
        <p14:creationId xmlns:p14="http://schemas.microsoft.com/office/powerpoint/2010/main" val="4030052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DD8794-CA86-1CD5-4A64-20072473F267}"/>
              </a:ext>
            </a:extLst>
          </p:cNvPr>
          <p:cNvSpPr>
            <a:spLocks noGrp="1"/>
          </p:cNvSpPr>
          <p:nvPr>
            <p:ph sz="half" idx="1"/>
          </p:nvPr>
        </p:nvSpPr>
        <p:spPr>
          <a:xfrm>
            <a:off x="457200" y="1585763"/>
            <a:ext cx="5344885" cy="2790294"/>
          </a:xfrm>
        </p:spPr>
        <p:txBody>
          <a:bodyPr lIns="91440" tIns="45720" rIns="91440" bIns="45720" anchor="t"/>
          <a:lstStyle/>
          <a:p>
            <a:r>
              <a:rPr lang="en-US" sz="2400"/>
              <a:t>Used OOPS! Ontology Pitfall Scanner to evaluate ontology [9]</a:t>
            </a:r>
          </a:p>
          <a:p>
            <a:pPr marL="556895" lvl="1" indent="-213995">
              <a:buFont typeface="Courier New"/>
              <a:buChar char="o"/>
            </a:pPr>
            <a:r>
              <a:rPr lang="en-US"/>
              <a:t>Multiple major pitfalls were fixed</a:t>
            </a:r>
          </a:p>
          <a:p>
            <a:r>
              <a:rPr lang="en-US" sz="2400"/>
              <a:t>Few pitfalls identified but disregarded for the current scope</a:t>
            </a:r>
          </a:p>
          <a:p>
            <a:pPr marL="556895" lvl="1" indent="-213995">
              <a:buFont typeface="Courier New"/>
              <a:buChar char="o"/>
            </a:pPr>
            <a:r>
              <a:rPr lang="en-US"/>
              <a:t>Recursive definition</a:t>
            </a:r>
          </a:p>
          <a:p>
            <a:pPr marL="556895" lvl="1" indent="-213995">
              <a:buFont typeface="Courier New"/>
              <a:buChar char="o"/>
            </a:pPr>
            <a:r>
              <a:rPr lang="en-US"/>
              <a:t>Equivalent classes not explicitly declared</a:t>
            </a:r>
          </a:p>
          <a:p>
            <a:pPr marL="556895" lvl="1" indent="-213995">
              <a:buFont typeface="Courier New"/>
              <a:buChar char="o"/>
            </a:pPr>
            <a:r>
              <a:rPr lang="en-US"/>
              <a:t>No explicitly defined inverse relations</a:t>
            </a:r>
          </a:p>
        </p:txBody>
      </p:sp>
      <p:sp>
        <p:nvSpPr>
          <p:cNvPr id="4" name="Title 3">
            <a:extLst>
              <a:ext uri="{FF2B5EF4-FFF2-40B4-BE49-F238E27FC236}">
                <a16:creationId xmlns:a16="http://schemas.microsoft.com/office/drawing/2014/main" id="{F6C46CF6-1E1C-9FF1-205A-7B2664951D99}"/>
              </a:ext>
            </a:extLst>
          </p:cNvPr>
          <p:cNvSpPr>
            <a:spLocks noGrp="1"/>
          </p:cNvSpPr>
          <p:nvPr>
            <p:ph type="title"/>
          </p:nvPr>
        </p:nvSpPr>
        <p:spPr/>
        <p:txBody>
          <a:bodyPr lIns="91440" tIns="45720" rIns="91440" bIns="45720" anchor="t"/>
          <a:lstStyle/>
          <a:p>
            <a:r>
              <a:rPr lang="en-US"/>
              <a:t>Ontology</a:t>
            </a:r>
          </a:p>
        </p:txBody>
      </p:sp>
      <p:pic>
        <p:nvPicPr>
          <p:cNvPr id="8" name="Picture 7" descr="Important pitfalls were found">
            <a:extLst>
              <a:ext uri="{FF2B5EF4-FFF2-40B4-BE49-F238E27FC236}">
                <a16:creationId xmlns:a16="http://schemas.microsoft.com/office/drawing/2014/main" id="{0C7BF0C6-B9A1-77DC-0307-D0580AC0455F}"/>
              </a:ext>
            </a:extLst>
          </p:cNvPr>
          <p:cNvPicPr>
            <a:picLocks noChangeAspect="1"/>
          </p:cNvPicPr>
          <p:nvPr/>
        </p:nvPicPr>
        <p:blipFill>
          <a:blip r:embed="rId3"/>
          <a:stretch>
            <a:fillRect/>
          </a:stretch>
        </p:blipFill>
        <p:spPr>
          <a:xfrm>
            <a:off x="5848024" y="1584256"/>
            <a:ext cx="2832239" cy="1966706"/>
          </a:xfrm>
          <a:prstGeom prst="rect">
            <a:avLst/>
          </a:prstGeom>
        </p:spPr>
      </p:pic>
    </p:spTree>
    <p:extLst>
      <p:ext uri="{BB962C8B-B14F-4D97-AF65-F5344CB8AC3E}">
        <p14:creationId xmlns:p14="http://schemas.microsoft.com/office/powerpoint/2010/main" val="2910698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058007-92AB-686C-F4CD-A4387F9B73CE}"/>
              </a:ext>
            </a:extLst>
          </p:cNvPr>
          <p:cNvSpPr>
            <a:spLocks noGrp="1"/>
          </p:cNvSpPr>
          <p:nvPr>
            <p:ph sz="half" idx="1"/>
          </p:nvPr>
        </p:nvSpPr>
        <p:spPr/>
        <p:txBody>
          <a:bodyPr lIns="91440" tIns="45720" rIns="91440" bIns="45720" anchor="t"/>
          <a:lstStyle/>
          <a:p>
            <a:r>
              <a:rPr lang="en-US"/>
              <a:t>SPARQL Protocol and RDF Query Language</a:t>
            </a:r>
          </a:p>
          <a:p>
            <a:r>
              <a:rPr lang="en-US"/>
              <a:t>Drafted queries based on the competency questions</a:t>
            </a:r>
          </a:p>
          <a:p>
            <a:r>
              <a:rPr lang="en-US"/>
              <a:t>Used Apache Jena </a:t>
            </a:r>
            <a:r>
              <a:rPr lang="en-US" err="1"/>
              <a:t>Fuseki</a:t>
            </a:r>
            <a:r>
              <a:rPr lang="en-US"/>
              <a:t> to run queries against KG [10]</a:t>
            </a:r>
          </a:p>
          <a:p>
            <a:r>
              <a:rPr lang="en-US"/>
              <a:t>Showcasing the most interesting results in DHT</a:t>
            </a:r>
          </a:p>
        </p:txBody>
      </p:sp>
      <p:sp>
        <p:nvSpPr>
          <p:cNvPr id="3" name="Content Placeholder 2">
            <a:extLst>
              <a:ext uri="{FF2B5EF4-FFF2-40B4-BE49-F238E27FC236}">
                <a16:creationId xmlns:a16="http://schemas.microsoft.com/office/drawing/2014/main" id="{9A5B2019-A843-FD36-878F-DC5C107753C5}"/>
              </a:ext>
            </a:extLst>
          </p:cNvPr>
          <p:cNvSpPr>
            <a:spLocks noGrp="1"/>
          </p:cNvSpPr>
          <p:nvPr>
            <p:ph sz="half" idx="2"/>
          </p:nvPr>
        </p:nvSpPr>
        <p:spPr>
          <a:xfrm>
            <a:off x="4439597" y="1595968"/>
            <a:ext cx="4647614" cy="2450068"/>
          </a:xfrm>
          <a:solidFill>
            <a:schemeClr val="tx1"/>
          </a:solidFill>
        </p:spPr>
        <p:txBody>
          <a:bodyPr lIns="91440" tIns="45720" rIns="91440" bIns="45720" anchor="t"/>
          <a:lstStyle/>
          <a:p>
            <a:pPr>
              <a:buNone/>
            </a:pPr>
            <a:r>
              <a:rPr lang="en-US" sz="1100">
                <a:solidFill>
                  <a:srgbClr val="C586C0"/>
                </a:solidFill>
                <a:highlight>
                  <a:srgbClr val="121314"/>
                </a:highlight>
                <a:latin typeface="Consolas"/>
              </a:rPr>
              <a:t>SELECT</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?function</a:t>
            </a:r>
            <a:r>
              <a:rPr lang="en-US" sz="1100">
                <a:solidFill>
                  <a:srgbClr val="BBBEBF"/>
                </a:solidFill>
                <a:highlight>
                  <a:srgbClr val="121314"/>
                </a:highlight>
                <a:latin typeface="Consolas"/>
              </a:rPr>
              <a:t> </a:t>
            </a:r>
            <a:endParaRPr lang="en-US" sz="1100">
              <a:latin typeface="Consolas"/>
            </a:endParaRPr>
          </a:p>
          <a:p>
            <a:pPr>
              <a:buNone/>
            </a:pPr>
            <a:r>
              <a:rPr lang="en-US" sz="1100">
                <a:solidFill>
                  <a:srgbClr val="BBBEBF"/>
                </a:solidFill>
                <a:highlight>
                  <a:srgbClr val="121314"/>
                </a:highlight>
                <a:latin typeface="Consolas"/>
              </a:rPr>
              <a:t>    (</a:t>
            </a:r>
            <a:r>
              <a:rPr lang="en-US" sz="1100">
                <a:solidFill>
                  <a:srgbClr val="DCDCAA"/>
                </a:solidFill>
                <a:highlight>
                  <a:srgbClr val="121314"/>
                </a:highlight>
                <a:latin typeface="Consolas"/>
              </a:rPr>
              <a:t>COUNT</a:t>
            </a:r>
            <a:r>
              <a:rPr lang="en-US" sz="1100">
                <a:solidFill>
                  <a:srgbClr val="BBBEBF"/>
                </a:solidFill>
                <a:highlight>
                  <a:srgbClr val="121314"/>
                </a:highlight>
                <a:latin typeface="Consolas"/>
              </a:rPr>
              <a:t>(</a:t>
            </a:r>
            <a:r>
              <a:rPr lang="en-US" sz="1100">
                <a:solidFill>
                  <a:srgbClr val="C586C0"/>
                </a:solidFill>
                <a:highlight>
                  <a:srgbClr val="121314"/>
                </a:highlight>
                <a:latin typeface="Consolas"/>
              </a:rPr>
              <a:t>DISTINCT</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?opcode</a:t>
            </a:r>
            <a:r>
              <a:rPr lang="en-US" sz="1100">
                <a:solidFill>
                  <a:srgbClr val="BBBEBF"/>
                </a:solidFill>
                <a:highlight>
                  <a:srgbClr val="121314"/>
                </a:highlight>
                <a:latin typeface="Consolas"/>
              </a:rPr>
              <a:t>) </a:t>
            </a:r>
            <a:r>
              <a:rPr lang="en-US" sz="1100">
                <a:solidFill>
                  <a:srgbClr val="C586C0"/>
                </a:solidFill>
                <a:highlight>
                  <a:srgbClr val="121314"/>
                </a:highlight>
                <a:latin typeface="Consolas"/>
              </a:rPr>
              <a:t>AS</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a:t>
            </a:r>
            <a:r>
              <a:rPr lang="en-US" sz="1100" err="1">
                <a:solidFill>
                  <a:srgbClr val="79C0FF"/>
                </a:solidFill>
                <a:highlight>
                  <a:srgbClr val="121314"/>
                </a:highlight>
                <a:latin typeface="Consolas"/>
              </a:rPr>
              <a:t>uniqueOpcodes</a:t>
            </a:r>
            <a:r>
              <a:rPr lang="en-US" sz="1100">
                <a:solidFill>
                  <a:srgbClr val="BBBEBF"/>
                </a:solidFill>
                <a:highlight>
                  <a:srgbClr val="121314"/>
                </a:highlight>
                <a:latin typeface="Consolas"/>
              </a:rPr>
              <a:t>) </a:t>
            </a:r>
            <a:endParaRPr lang="en-US" sz="1100">
              <a:latin typeface="Consolas"/>
            </a:endParaRPr>
          </a:p>
          <a:p>
            <a:pPr>
              <a:buNone/>
            </a:pPr>
            <a:r>
              <a:rPr lang="en-US" sz="1100">
                <a:solidFill>
                  <a:srgbClr val="BBBEBF"/>
                </a:solidFill>
                <a:highlight>
                  <a:srgbClr val="121314"/>
                </a:highlight>
                <a:latin typeface="Consolas"/>
              </a:rPr>
              <a:t>    (</a:t>
            </a:r>
            <a:r>
              <a:rPr lang="en-US" sz="1100">
                <a:solidFill>
                  <a:srgbClr val="DCDCAA"/>
                </a:solidFill>
                <a:highlight>
                  <a:srgbClr val="121314"/>
                </a:highlight>
                <a:latin typeface="Consolas"/>
              </a:rPr>
              <a:t>COUNT</a:t>
            </a:r>
            <a:r>
              <a:rPr lang="en-US" sz="1100">
                <a:solidFill>
                  <a:srgbClr val="BBBEBF"/>
                </a:solidFill>
                <a:highlight>
                  <a:srgbClr val="121314"/>
                </a:highlight>
                <a:latin typeface="Consolas"/>
              </a:rPr>
              <a:t>(</a:t>
            </a:r>
            <a:r>
              <a:rPr lang="en-US" sz="1100">
                <a:solidFill>
                  <a:srgbClr val="79C0FF"/>
                </a:solidFill>
                <a:highlight>
                  <a:srgbClr val="121314"/>
                </a:highlight>
                <a:latin typeface="Consolas"/>
              </a:rPr>
              <a:t>?instruction</a:t>
            </a:r>
            <a:r>
              <a:rPr lang="en-US" sz="1100">
                <a:solidFill>
                  <a:srgbClr val="BBBEBF"/>
                </a:solidFill>
                <a:highlight>
                  <a:srgbClr val="121314"/>
                </a:highlight>
                <a:latin typeface="Consolas"/>
              </a:rPr>
              <a:t>) </a:t>
            </a:r>
            <a:r>
              <a:rPr lang="en-US" sz="1100">
                <a:solidFill>
                  <a:srgbClr val="C586C0"/>
                </a:solidFill>
                <a:highlight>
                  <a:srgbClr val="121314"/>
                </a:highlight>
                <a:latin typeface="Consolas"/>
              </a:rPr>
              <a:t>AS</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a:t>
            </a:r>
            <a:r>
              <a:rPr lang="en-US" sz="1100" err="1">
                <a:solidFill>
                  <a:srgbClr val="79C0FF"/>
                </a:solidFill>
                <a:highlight>
                  <a:srgbClr val="121314"/>
                </a:highlight>
                <a:latin typeface="Consolas"/>
              </a:rPr>
              <a:t>totalInstructions</a:t>
            </a:r>
            <a:r>
              <a:rPr lang="en-US" sz="1100">
                <a:solidFill>
                  <a:srgbClr val="BBBEBF"/>
                </a:solidFill>
                <a:highlight>
                  <a:srgbClr val="121314"/>
                </a:highlight>
                <a:latin typeface="Consolas"/>
              </a:rPr>
              <a:t>)</a:t>
            </a:r>
            <a:endParaRPr lang="en-US" sz="1100">
              <a:latin typeface="Consolas"/>
            </a:endParaRPr>
          </a:p>
          <a:p>
            <a:pPr>
              <a:buNone/>
            </a:pPr>
            <a:r>
              <a:rPr lang="en-US" sz="1100">
                <a:solidFill>
                  <a:srgbClr val="BBBEBF"/>
                </a:solidFill>
                <a:highlight>
                  <a:srgbClr val="121314"/>
                </a:highlight>
                <a:latin typeface="Consolas"/>
              </a:rPr>
              <a:t>    ((</a:t>
            </a:r>
            <a:r>
              <a:rPr lang="en-US" sz="1100">
                <a:solidFill>
                  <a:srgbClr val="DCDCAA"/>
                </a:solidFill>
                <a:highlight>
                  <a:srgbClr val="121314"/>
                </a:highlight>
                <a:latin typeface="Consolas"/>
              </a:rPr>
              <a:t>COUNT</a:t>
            </a:r>
            <a:r>
              <a:rPr lang="en-US" sz="1100">
                <a:solidFill>
                  <a:srgbClr val="BBBEBF"/>
                </a:solidFill>
                <a:highlight>
                  <a:srgbClr val="121314"/>
                </a:highlight>
                <a:latin typeface="Consolas"/>
              </a:rPr>
              <a:t>(</a:t>
            </a:r>
            <a:r>
              <a:rPr lang="en-US" sz="1100">
                <a:solidFill>
                  <a:srgbClr val="C586C0"/>
                </a:solidFill>
                <a:highlight>
                  <a:srgbClr val="121314"/>
                </a:highlight>
                <a:latin typeface="Consolas"/>
              </a:rPr>
              <a:t>DISTINCT</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?opcode</a:t>
            </a:r>
            <a:r>
              <a:rPr lang="en-US" sz="1100">
                <a:solidFill>
                  <a:srgbClr val="BBBEBF"/>
                </a:solidFill>
                <a:highlight>
                  <a:srgbClr val="121314"/>
                </a:highlight>
                <a:latin typeface="Consolas"/>
              </a:rPr>
              <a:t>) </a:t>
            </a:r>
            <a:r>
              <a:rPr lang="en-US" sz="1100">
                <a:solidFill>
                  <a:srgbClr val="4EC9B0"/>
                </a:solidFill>
                <a:highlight>
                  <a:srgbClr val="121314"/>
                </a:highlight>
                <a:latin typeface="Consolas"/>
              </a:rPr>
              <a:t>*</a:t>
            </a:r>
            <a:r>
              <a:rPr lang="en-US" sz="1100">
                <a:solidFill>
                  <a:srgbClr val="BBBEBF"/>
                </a:solidFill>
                <a:highlight>
                  <a:srgbClr val="121314"/>
                </a:highlight>
                <a:latin typeface="Consolas"/>
              </a:rPr>
              <a:t> </a:t>
            </a:r>
            <a:r>
              <a:rPr lang="en-US" sz="1100">
                <a:solidFill>
                  <a:srgbClr val="B5CEA8"/>
                </a:solidFill>
                <a:highlight>
                  <a:srgbClr val="121314"/>
                </a:highlight>
                <a:latin typeface="Consolas"/>
              </a:rPr>
              <a:t>1.0</a:t>
            </a:r>
            <a:r>
              <a:rPr lang="en-US" sz="1100">
                <a:solidFill>
                  <a:srgbClr val="BBBEBF"/>
                </a:solidFill>
                <a:highlight>
                  <a:srgbClr val="121314"/>
                </a:highlight>
                <a:latin typeface="Consolas"/>
              </a:rPr>
              <a:t> </a:t>
            </a:r>
            <a:r>
              <a:rPr lang="en-US" sz="1100">
                <a:solidFill>
                  <a:srgbClr val="4EC9B0"/>
                </a:solidFill>
                <a:highlight>
                  <a:srgbClr val="121314"/>
                </a:highlight>
                <a:latin typeface="Consolas"/>
              </a:rPr>
              <a:t>/</a:t>
            </a:r>
            <a:r>
              <a:rPr lang="en-US" sz="1100">
                <a:solidFill>
                  <a:srgbClr val="BBBEBF"/>
                </a:solidFill>
                <a:highlight>
                  <a:srgbClr val="121314"/>
                </a:highlight>
                <a:latin typeface="Consolas"/>
              </a:rPr>
              <a:t> </a:t>
            </a:r>
            <a:r>
              <a:rPr lang="en-US" sz="1100">
                <a:solidFill>
                  <a:srgbClr val="DCDCAA"/>
                </a:solidFill>
                <a:highlight>
                  <a:srgbClr val="121314"/>
                </a:highlight>
                <a:latin typeface="Consolas"/>
              </a:rPr>
              <a:t>COUNT</a:t>
            </a:r>
            <a:r>
              <a:rPr lang="en-US" sz="1100">
                <a:solidFill>
                  <a:srgbClr val="BBBEBF"/>
                </a:solidFill>
                <a:highlight>
                  <a:srgbClr val="121314"/>
                </a:highlight>
                <a:latin typeface="Consolas"/>
              </a:rPr>
              <a:t>(</a:t>
            </a:r>
            <a:r>
              <a:rPr lang="en-US" sz="1100">
                <a:solidFill>
                  <a:srgbClr val="79C0FF"/>
                </a:solidFill>
                <a:highlight>
                  <a:srgbClr val="121314"/>
                </a:highlight>
                <a:latin typeface="Consolas"/>
              </a:rPr>
              <a:t>?instruction</a:t>
            </a:r>
            <a:r>
              <a:rPr lang="en-US" sz="1100">
                <a:solidFill>
                  <a:srgbClr val="BBBEBF"/>
                </a:solidFill>
                <a:highlight>
                  <a:srgbClr val="121314"/>
                </a:highlight>
                <a:latin typeface="Consolas"/>
              </a:rPr>
              <a:t>)) </a:t>
            </a:r>
            <a:r>
              <a:rPr lang="en-US" sz="1100">
                <a:solidFill>
                  <a:srgbClr val="C586C0"/>
                </a:solidFill>
                <a:highlight>
                  <a:srgbClr val="121314"/>
                </a:highlight>
                <a:latin typeface="Consolas"/>
              </a:rPr>
              <a:t>AS</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a:t>
            </a:r>
            <a:r>
              <a:rPr lang="en-US" sz="1100" err="1">
                <a:solidFill>
                  <a:srgbClr val="79C0FF"/>
                </a:solidFill>
                <a:highlight>
                  <a:srgbClr val="121314"/>
                </a:highlight>
                <a:latin typeface="Consolas"/>
              </a:rPr>
              <a:t>entropyRatio</a:t>
            </a:r>
            <a:r>
              <a:rPr lang="en-US" sz="1100">
                <a:solidFill>
                  <a:srgbClr val="BBBEBF"/>
                </a:solidFill>
                <a:highlight>
                  <a:srgbClr val="121314"/>
                </a:highlight>
                <a:latin typeface="Consolas"/>
              </a:rPr>
              <a:t>)</a:t>
            </a:r>
            <a:endParaRPr lang="en-US" sz="1100">
              <a:latin typeface="Consolas"/>
            </a:endParaRPr>
          </a:p>
          <a:p>
            <a:pPr>
              <a:buNone/>
            </a:pPr>
            <a:r>
              <a:rPr lang="en-US" sz="1100">
                <a:solidFill>
                  <a:srgbClr val="C586C0"/>
                </a:solidFill>
                <a:highlight>
                  <a:srgbClr val="121314"/>
                </a:highlight>
                <a:latin typeface="Consolas"/>
              </a:rPr>
              <a:t>WHERE</a:t>
            </a:r>
            <a:r>
              <a:rPr lang="en-US" sz="1100">
                <a:solidFill>
                  <a:srgbClr val="BBBEBF"/>
                </a:solidFill>
                <a:highlight>
                  <a:srgbClr val="121314"/>
                </a:highlight>
                <a:latin typeface="Consolas"/>
              </a:rPr>
              <a:t> {</a:t>
            </a:r>
            <a:endParaRPr lang="en-US" sz="1100">
              <a:latin typeface="Consolas"/>
            </a:endParaRPr>
          </a:p>
          <a:p>
            <a:pPr>
              <a:buNone/>
            </a:pP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?function</a:t>
            </a:r>
            <a:r>
              <a:rPr lang="en-US" sz="1100">
                <a:solidFill>
                  <a:srgbClr val="BBBEBF"/>
                </a:solidFill>
                <a:highlight>
                  <a:srgbClr val="121314"/>
                </a:highlight>
                <a:latin typeface="Consolas"/>
              </a:rPr>
              <a:t> </a:t>
            </a:r>
            <a:r>
              <a:rPr lang="en-US" sz="1100" err="1">
                <a:solidFill>
                  <a:srgbClr val="FF7B72"/>
                </a:solidFill>
                <a:highlight>
                  <a:srgbClr val="121314"/>
                </a:highlight>
                <a:latin typeface="Consolas"/>
              </a:rPr>
              <a:t>ontology:</a:t>
            </a:r>
            <a:r>
              <a:rPr lang="en-US" sz="1100" err="1">
                <a:solidFill>
                  <a:srgbClr val="79C0FF"/>
                </a:solidFill>
                <a:highlight>
                  <a:srgbClr val="121314"/>
                </a:highlight>
                <a:latin typeface="Consolas"/>
              </a:rPr>
              <a:t>containsInstruction</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?instruction</a:t>
            </a:r>
            <a:r>
              <a:rPr lang="en-US" sz="1100">
                <a:solidFill>
                  <a:srgbClr val="BBBEBF"/>
                </a:solidFill>
                <a:highlight>
                  <a:srgbClr val="121314"/>
                </a:highlight>
                <a:latin typeface="Consolas"/>
              </a:rPr>
              <a:t> .</a:t>
            </a:r>
            <a:endParaRPr lang="en-US" sz="1100">
              <a:latin typeface="Consolas"/>
            </a:endParaRPr>
          </a:p>
          <a:p>
            <a:pPr>
              <a:buNone/>
            </a:pP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?instruction</a:t>
            </a:r>
            <a:r>
              <a:rPr lang="en-US" sz="1100">
                <a:solidFill>
                  <a:srgbClr val="BBBEBF"/>
                </a:solidFill>
                <a:highlight>
                  <a:srgbClr val="121314"/>
                </a:highlight>
                <a:latin typeface="Consolas"/>
              </a:rPr>
              <a:t> </a:t>
            </a:r>
            <a:r>
              <a:rPr lang="en-US" sz="1100" err="1">
                <a:solidFill>
                  <a:srgbClr val="FF7B72"/>
                </a:solidFill>
                <a:highlight>
                  <a:srgbClr val="121314"/>
                </a:highlight>
                <a:latin typeface="Consolas"/>
              </a:rPr>
              <a:t>ontology:</a:t>
            </a:r>
            <a:r>
              <a:rPr lang="en-US" sz="1100" err="1">
                <a:solidFill>
                  <a:srgbClr val="79C0FF"/>
                </a:solidFill>
                <a:highlight>
                  <a:srgbClr val="121314"/>
                </a:highlight>
                <a:latin typeface="Consolas"/>
              </a:rPr>
              <a:t>hasOpcode</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?opcode</a:t>
            </a:r>
            <a:r>
              <a:rPr lang="en-US" sz="1100">
                <a:solidFill>
                  <a:srgbClr val="BBBEBF"/>
                </a:solidFill>
                <a:highlight>
                  <a:srgbClr val="121314"/>
                </a:highlight>
                <a:latin typeface="Consolas"/>
              </a:rPr>
              <a:t> .</a:t>
            </a:r>
            <a:endParaRPr lang="en-US" sz="1100">
              <a:latin typeface="Consolas"/>
            </a:endParaRPr>
          </a:p>
          <a:p>
            <a:pPr>
              <a:buNone/>
            </a:pPr>
            <a:r>
              <a:rPr lang="en-US" sz="1100">
                <a:solidFill>
                  <a:srgbClr val="BBBEBF"/>
                </a:solidFill>
                <a:highlight>
                  <a:srgbClr val="121314"/>
                </a:highlight>
                <a:latin typeface="Consolas"/>
              </a:rPr>
              <a:t>}</a:t>
            </a:r>
            <a:endParaRPr lang="en-US" sz="1100">
              <a:latin typeface="Consolas"/>
            </a:endParaRPr>
          </a:p>
          <a:p>
            <a:pPr>
              <a:buNone/>
            </a:pPr>
            <a:r>
              <a:rPr lang="en-US" sz="1100">
                <a:solidFill>
                  <a:srgbClr val="C586C0"/>
                </a:solidFill>
                <a:highlight>
                  <a:srgbClr val="121314"/>
                </a:highlight>
                <a:latin typeface="Consolas"/>
              </a:rPr>
              <a:t>GROUP</a:t>
            </a:r>
            <a:r>
              <a:rPr lang="en-US" sz="1100">
                <a:solidFill>
                  <a:srgbClr val="BBBEBF"/>
                </a:solidFill>
                <a:highlight>
                  <a:srgbClr val="121314"/>
                </a:highlight>
                <a:latin typeface="Consolas"/>
              </a:rPr>
              <a:t> </a:t>
            </a:r>
            <a:r>
              <a:rPr lang="en-US" sz="1100">
                <a:solidFill>
                  <a:srgbClr val="C586C0"/>
                </a:solidFill>
                <a:highlight>
                  <a:srgbClr val="121314"/>
                </a:highlight>
                <a:latin typeface="Consolas"/>
              </a:rPr>
              <a:t>BY</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?function</a:t>
            </a:r>
            <a:endParaRPr lang="en-US" sz="1100">
              <a:latin typeface="Consolas"/>
            </a:endParaRPr>
          </a:p>
          <a:p>
            <a:pPr>
              <a:buNone/>
            </a:pPr>
            <a:r>
              <a:rPr lang="en-US" sz="1100">
                <a:solidFill>
                  <a:srgbClr val="C586C0"/>
                </a:solidFill>
                <a:highlight>
                  <a:srgbClr val="121314"/>
                </a:highlight>
                <a:latin typeface="Consolas"/>
              </a:rPr>
              <a:t>HAVING</a:t>
            </a:r>
            <a:r>
              <a:rPr lang="en-US" sz="1100">
                <a:solidFill>
                  <a:srgbClr val="BBBEBF"/>
                </a:solidFill>
                <a:highlight>
                  <a:srgbClr val="121314"/>
                </a:highlight>
                <a:latin typeface="Consolas"/>
              </a:rPr>
              <a:t> (</a:t>
            </a:r>
            <a:r>
              <a:rPr lang="en-US" sz="1100">
                <a:solidFill>
                  <a:srgbClr val="79C0FF"/>
                </a:solidFill>
                <a:highlight>
                  <a:srgbClr val="121314"/>
                </a:highlight>
                <a:latin typeface="Consolas"/>
              </a:rPr>
              <a:t>?</a:t>
            </a:r>
            <a:r>
              <a:rPr lang="en-US" sz="1100" err="1">
                <a:solidFill>
                  <a:srgbClr val="79C0FF"/>
                </a:solidFill>
                <a:highlight>
                  <a:srgbClr val="121314"/>
                </a:highlight>
                <a:latin typeface="Consolas"/>
              </a:rPr>
              <a:t>totalInstructions</a:t>
            </a:r>
            <a:r>
              <a:rPr lang="en-US" sz="1100">
                <a:solidFill>
                  <a:srgbClr val="BBBEBF"/>
                </a:solidFill>
                <a:highlight>
                  <a:srgbClr val="121314"/>
                </a:highlight>
                <a:latin typeface="Consolas"/>
              </a:rPr>
              <a:t> </a:t>
            </a:r>
            <a:r>
              <a:rPr lang="en-US" sz="1100">
                <a:solidFill>
                  <a:srgbClr val="4EC9B0"/>
                </a:solidFill>
                <a:highlight>
                  <a:srgbClr val="121314"/>
                </a:highlight>
                <a:latin typeface="Consolas"/>
              </a:rPr>
              <a:t>&gt;</a:t>
            </a:r>
            <a:r>
              <a:rPr lang="en-US" sz="1100">
                <a:solidFill>
                  <a:srgbClr val="BBBEBF"/>
                </a:solidFill>
                <a:highlight>
                  <a:srgbClr val="121314"/>
                </a:highlight>
                <a:latin typeface="Consolas"/>
              </a:rPr>
              <a:t> </a:t>
            </a:r>
            <a:r>
              <a:rPr lang="en-US" sz="1100">
                <a:solidFill>
                  <a:srgbClr val="B5CEA8"/>
                </a:solidFill>
                <a:highlight>
                  <a:srgbClr val="121314"/>
                </a:highlight>
                <a:latin typeface="Consolas"/>
              </a:rPr>
              <a:t>10</a:t>
            </a:r>
            <a:r>
              <a:rPr lang="en-US" sz="1100">
                <a:solidFill>
                  <a:srgbClr val="BBBEBF"/>
                </a:solidFill>
                <a:highlight>
                  <a:srgbClr val="121314"/>
                </a:highlight>
                <a:latin typeface="Consolas"/>
              </a:rPr>
              <a:t>)</a:t>
            </a:r>
            <a:endParaRPr lang="en-US" sz="1100">
              <a:latin typeface="Consolas"/>
            </a:endParaRPr>
          </a:p>
          <a:p>
            <a:pPr>
              <a:buNone/>
            </a:pPr>
            <a:r>
              <a:rPr lang="en-US" sz="1100">
                <a:solidFill>
                  <a:srgbClr val="C586C0"/>
                </a:solidFill>
                <a:highlight>
                  <a:srgbClr val="121314"/>
                </a:highlight>
                <a:latin typeface="Consolas"/>
              </a:rPr>
              <a:t>ORDER</a:t>
            </a:r>
            <a:r>
              <a:rPr lang="en-US" sz="1100">
                <a:solidFill>
                  <a:srgbClr val="BBBEBF"/>
                </a:solidFill>
                <a:highlight>
                  <a:srgbClr val="121314"/>
                </a:highlight>
                <a:latin typeface="Consolas"/>
              </a:rPr>
              <a:t> </a:t>
            </a:r>
            <a:r>
              <a:rPr lang="en-US" sz="1100">
                <a:solidFill>
                  <a:srgbClr val="C586C0"/>
                </a:solidFill>
                <a:highlight>
                  <a:srgbClr val="121314"/>
                </a:highlight>
                <a:latin typeface="Consolas"/>
              </a:rPr>
              <a:t>BY</a:t>
            </a:r>
            <a:r>
              <a:rPr lang="en-US" sz="1100">
                <a:solidFill>
                  <a:srgbClr val="BBBEBF"/>
                </a:solidFill>
                <a:highlight>
                  <a:srgbClr val="121314"/>
                </a:highlight>
                <a:latin typeface="Consolas"/>
              </a:rPr>
              <a:t> </a:t>
            </a:r>
            <a:r>
              <a:rPr lang="en-US" sz="1100">
                <a:solidFill>
                  <a:srgbClr val="DCDCAA"/>
                </a:solidFill>
                <a:highlight>
                  <a:srgbClr val="121314"/>
                </a:highlight>
                <a:latin typeface="Consolas"/>
              </a:rPr>
              <a:t>DESC</a:t>
            </a:r>
            <a:r>
              <a:rPr lang="en-US" sz="1100">
                <a:solidFill>
                  <a:srgbClr val="BBBEBF"/>
                </a:solidFill>
                <a:highlight>
                  <a:srgbClr val="121314"/>
                </a:highlight>
                <a:latin typeface="Consolas"/>
              </a:rPr>
              <a:t>(</a:t>
            </a:r>
            <a:r>
              <a:rPr lang="en-US" sz="1100">
                <a:solidFill>
                  <a:srgbClr val="79C0FF"/>
                </a:solidFill>
                <a:highlight>
                  <a:srgbClr val="121314"/>
                </a:highlight>
                <a:latin typeface="Consolas"/>
              </a:rPr>
              <a:t>?</a:t>
            </a:r>
            <a:r>
              <a:rPr lang="en-US" sz="1100" err="1">
                <a:solidFill>
                  <a:srgbClr val="79C0FF"/>
                </a:solidFill>
                <a:highlight>
                  <a:srgbClr val="121314"/>
                </a:highlight>
                <a:latin typeface="Consolas"/>
              </a:rPr>
              <a:t>entropyRatio</a:t>
            </a:r>
            <a:r>
              <a:rPr lang="en-US" sz="1100">
                <a:solidFill>
                  <a:srgbClr val="BBBEBF"/>
                </a:solidFill>
                <a:highlight>
                  <a:srgbClr val="121314"/>
                </a:highlight>
                <a:latin typeface="Consolas"/>
              </a:rPr>
              <a:t>)</a:t>
            </a:r>
            <a:endParaRPr lang="en-US" sz="1100">
              <a:latin typeface="Consolas"/>
            </a:endParaRPr>
          </a:p>
          <a:p>
            <a:pPr>
              <a:buNone/>
            </a:pPr>
            <a:endParaRPr lang="en-US" sz="1100">
              <a:solidFill>
                <a:srgbClr val="BBBEBF"/>
              </a:solidFill>
              <a:highlight>
                <a:srgbClr val="121314"/>
              </a:highlight>
              <a:latin typeface="Aptos Mono"/>
            </a:endParaRPr>
          </a:p>
          <a:p>
            <a:pPr marL="0" indent="0">
              <a:buNone/>
            </a:pPr>
            <a:endParaRPr lang="en-US"/>
          </a:p>
        </p:txBody>
      </p:sp>
      <p:sp>
        <p:nvSpPr>
          <p:cNvPr id="4" name="Title 3">
            <a:extLst>
              <a:ext uri="{FF2B5EF4-FFF2-40B4-BE49-F238E27FC236}">
                <a16:creationId xmlns:a16="http://schemas.microsoft.com/office/drawing/2014/main" id="{EC99EB32-1608-5642-8DBB-208582FADADA}"/>
              </a:ext>
            </a:extLst>
          </p:cNvPr>
          <p:cNvSpPr>
            <a:spLocks noGrp="1"/>
          </p:cNvSpPr>
          <p:nvPr>
            <p:ph type="title"/>
          </p:nvPr>
        </p:nvSpPr>
        <p:spPr>
          <a:xfrm>
            <a:off x="457200" y="599636"/>
            <a:ext cx="3804337" cy="857250"/>
          </a:xfrm>
        </p:spPr>
        <p:txBody>
          <a:bodyPr lIns="91440" tIns="45720" rIns="91440" bIns="45720" anchor="t"/>
          <a:lstStyle/>
          <a:p>
            <a:r>
              <a:rPr lang="en-US"/>
              <a:t>SPARQL Queries</a:t>
            </a:r>
          </a:p>
        </p:txBody>
      </p:sp>
      <p:sp>
        <p:nvSpPr>
          <p:cNvPr id="6" name="TextBox 5">
            <a:extLst>
              <a:ext uri="{FF2B5EF4-FFF2-40B4-BE49-F238E27FC236}">
                <a16:creationId xmlns:a16="http://schemas.microsoft.com/office/drawing/2014/main" id="{76604063-9CD6-54DB-7484-308AD242BBE6}"/>
              </a:ext>
            </a:extLst>
          </p:cNvPr>
          <p:cNvSpPr txBox="1"/>
          <p:nvPr/>
        </p:nvSpPr>
        <p:spPr>
          <a:xfrm>
            <a:off x="4439597" y="935045"/>
            <a:ext cx="4529876" cy="6618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rial"/>
                <a:ea typeface="Calibri"/>
                <a:cs typeface="Arial"/>
              </a:rPr>
              <a:t>Query based on competency question: "Can sections of entropy be detected through the ratio of unique opcodes and total number of instructions in a function?"</a:t>
            </a:r>
          </a:p>
        </p:txBody>
      </p:sp>
    </p:spTree>
    <p:extLst>
      <p:ext uri="{BB962C8B-B14F-4D97-AF65-F5344CB8AC3E}">
        <p14:creationId xmlns:p14="http://schemas.microsoft.com/office/powerpoint/2010/main" val="1914759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3109C0-B775-39CB-E93B-9B599F907273}"/>
              </a:ext>
            </a:extLst>
          </p:cNvPr>
          <p:cNvSpPr>
            <a:spLocks noGrp="1"/>
          </p:cNvSpPr>
          <p:nvPr>
            <p:ph sz="half" idx="1"/>
          </p:nvPr>
        </p:nvSpPr>
        <p:spPr/>
        <p:txBody>
          <a:bodyPr lIns="91440" tIns="45720" rIns="91440" bIns="45720" anchor="t"/>
          <a:lstStyle/>
          <a:p>
            <a:r>
              <a:rPr lang="en-US"/>
              <a:t>Patterns that indicate malware:</a:t>
            </a:r>
          </a:p>
          <a:p>
            <a:pPr marL="556895" lvl="1" indent="-213995">
              <a:buFont typeface="Courier New,monospace"/>
              <a:buChar char="o"/>
            </a:pPr>
            <a:r>
              <a:rPr lang="en-US"/>
              <a:t>Noticeable differences in the number of networking API calls</a:t>
            </a:r>
          </a:p>
          <a:p>
            <a:pPr marL="556895" lvl="1" indent="-213995">
              <a:buFont typeface="Courier New,monospace"/>
              <a:buChar char="o"/>
            </a:pPr>
            <a:r>
              <a:rPr lang="en-US"/>
              <a:t>High percentages of imported functions</a:t>
            </a:r>
          </a:p>
          <a:p>
            <a:pPr marL="556895" lvl="1" indent="-213995">
              <a:buFont typeface="Courier New,monospace"/>
              <a:buChar char="o"/>
            </a:pPr>
            <a:r>
              <a:rPr lang="en-US"/>
              <a:t>High entropy ratios in certain functions</a:t>
            </a:r>
          </a:p>
        </p:txBody>
      </p:sp>
      <p:pic>
        <p:nvPicPr>
          <p:cNvPr id="7" name="Content Placeholder 6" descr="A white rectangular grid with black text&#10;&#10;AI-generated content may be incorrect.">
            <a:extLst>
              <a:ext uri="{FF2B5EF4-FFF2-40B4-BE49-F238E27FC236}">
                <a16:creationId xmlns:a16="http://schemas.microsoft.com/office/drawing/2014/main" id="{03CF4127-F5D6-F8A6-D1A8-1C98527FADAA}"/>
              </a:ext>
            </a:extLst>
          </p:cNvPr>
          <p:cNvPicPr>
            <a:picLocks noGrp="1" noChangeAspect="1"/>
          </p:cNvPicPr>
          <p:nvPr>
            <p:ph sz="half" idx="2"/>
          </p:nvPr>
        </p:nvPicPr>
        <p:blipFill>
          <a:blip r:embed="rId3"/>
          <a:stretch>
            <a:fillRect/>
          </a:stretch>
        </p:blipFill>
        <p:spPr>
          <a:xfrm>
            <a:off x="4825571" y="2439226"/>
            <a:ext cx="3714750" cy="1943100"/>
          </a:xfrm>
          <a:prstGeom prst="rect">
            <a:avLst/>
          </a:prstGeom>
        </p:spPr>
      </p:pic>
      <p:sp>
        <p:nvSpPr>
          <p:cNvPr id="4" name="Title 3">
            <a:extLst>
              <a:ext uri="{FF2B5EF4-FFF2-40B4-BE49-F238E27FC236}">
                <a16:creationId xmlns:a16="http://schemas.microsoft.com/office/drawing/2014/main" id="{923D6C62-E9E7-173F-B0C7-C556EDC20B66}"/>
              </a:ext>
            </a:extLst>
          </p:cNvPr>
          <p:cNvSpPr>
            <a:spLocks noGrp="1"/>
          </p:cNvSpPr>
          <p:nvPr>
            <p:ph type="title"/>
          </p:nvPr>
        </p:nvSpPr>
        <p:spPr/>
        <p:txBody>
          <a:bodyPr lIns="91440" tIns="45720" rIns="91440" bIns="45720" anchor="t"/>
          <a:lstStyle/>
          <a:p>
            <a:r>
              <a:rPr lang="en-US"/>
              <a:t>Analysis</a:t>
            </a:r>
          </a:p>
        </p:txBody>
      </p:sp>
      <p:pic>
        <p:nvPicPr>
          <p:cNvPr id="8" name="Picture 7" descr="A white paper with black text&#10;&#10;AI-generated content may be incorrect.">
            <a:extLst>
              <a:ext uri="{FF2B5EF4-FFF2-40B4-BE49-F238E27FC236}">
                <a16:creationId xmlns:a16="http://schemas.microsoft.com/office/drawing/2014/main" id="{075EDA01-D92C-0CD9-B259-08EA289D6A1E}"/>
              </a:ext>
            </a:extLst>
          </p:cNvPr>
          <p:cNvPicPr>
            <a:picLocks noChangeAspect="1"/>
          </p:cNvPicPr>
          <p:nvPr/>
        </p:nvPicPr>
        <p:blipFill>
          <a:blip r:embed="rId4"/>
          <a:stretch>
            <a:fillRect/>
          </a:stretch>
        </p:blipFill>
        <p:spPr>
          <a:xfrm>
            <a:off x="4834581" y="1598657"/>
            <a:ext cx="3705225" cy="590550"/>
          </a:xfrm>
          <a:prstGeom prst="rect">
            <a:avLst/>
          </a:prstGeom>
        </p:spPr>
      </p:pic>
      <p:sp>
        <p:nvSpPr>
          <p:cNvPr id="3" name="TextBox 2">
            <a:extLst>
              <a:ext uri="{FF2B5EF4-FFF2-40B4-BE49-F238E27FC236}">
                <a16:creationId xmlns:a16="http://schemas.microsoft.com/office/drawing/2014/main" id="{0CDA0228-4069-F8BD-E6FD-A1CE55A91FF7}"/>
              </a:ext>
            </a:extLst>
          </p:cNvPr>
          <p:cNvSpPr txBox="1"/>
          <p:nvPr/>
        </p:nvSpPr>
        <p:spPr>
          <a:xfrm>
            <a:off x="4711709" y="727151"/>
            <a:ext cx="4326335" cy="7155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BASHLITE: botnet that conducts DOS attacks on IoT devices</a:t>
            </a:r>
          </a:p>
          <a:p>
            <a:r>
              <a:rPr lang="en-US" err="1">
                <a:ea typeface="Calibri"/>
                <a:cs typeface="Calibri"/>
              </a:rPr>
              <a:t>Lizkebab</a:t>
            </a:r>
            <a:r>
              <a:rPr lang="en-US">
                <a:ea typeface="Calibri"/>
                <a:cs typeface="Calibri"/>
              </a:rPr>
              <a:t>: variant of BASHLITE</a:t>
            </a:r>
          </a:p>
          <a:p>
            <a:r>
              <a:rPr lang="en-US">
                <a:ea typeface="Calibri"/>
                <a:cs typeface="Calibri"/>
              </a:rPr>
              <a:t>Mirai: successor of BASHLITE [11]</a:t>
            </a:r>
          </a:p>
        </p:txBody>
      </p:sp>
    </p:spTree>
    <p:extLst>
      <p:ext uri="{BB962C8B-B14F-4D97-AF65-F5344CB8AC3E}">
        <p14:creationId xmlns:p14="http://schemas.microsoft.com/office/powerpoint/2010/main" val="2437334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12A95-4BF6-598F-2155-0169C69E664D}"/>
              </a:ext>
            </a:extLst>
          </p:cNvPr>
          <p:cNvSpPr>
            <a:spLocks noGrp="1"/>
          </p:cNvSpPr>
          <p:nvPr>
            <p:ph type="title"/>
          </p:nvPr>
        </p:nvSpPr>
        <p:spPr/>
        <p:txBody>
          <a:bodyPr lIns="91440" tIns="45720" rIns="91440" bIns="45720" anchor="t"/>
          <a:lstStyle/>
          <a:p>
            <a:r>
              <a:rPr lang="en-US"/>
              <a:t>Conclusion</a:t>
            </a:r>
          </a:p>
        </p:txBody>
      </p:sp>
      <p:sp>
        <p:nvSpPr>
          <p:cNvPr id="2" name="Content Placeholder 1">
            <a:extLst>
              <a:ext uri="{FF2B5EF4-FFF2-40B4-BE49-F238E27FC236}">
                <a16:creationId xmlns:a16="http://schemas.microsoft.com/office/drawing/2014/main" id="{64CD9DAA-6B44-6364-3303-F9A0F8446D01}"/>
              </a:ext>
            </a:extLst>
          </p:cNvPr>
          <p:cNvSpPr>
            <a:spLocks noGrp="1"/>
          </p:cNvSpPr>
          <p:nvPr>
            <p:ph idx="1"/>
          </p:nvPr>
        </p:nvSpPr>
        <p:spPr/>
        <p:txBody>
          <a:bodyPr lIns="91440" tIns="45720" rIns="91440" bIns="45720" anchor="t"/>
          <a:lstStyle/>
          <a:p>
            <a:r>
              <a:rPr lang="en-US"/>
              <a:t>Knowledge graphs were successfully materialized and queried to detect malicious behavior</a:t>
            </a:r>
          </a:p>
          <a:p>
            <a:r>
              <a:rPr lang="en-US"/>
              <a:t>Future work:</a:t>
            </a:r>
          </a:p>
          <a:p>
            <a:pPr marL="556895" lvl="1" indent="-213995">
              <a:buFont typeface="Courier New"/>
              <a:buChar char="o"/>
            </a:pPr>
            <a:r>
              <a:rPr lang="en-US"/>
              <a:t>Restructure ontology to better fit OOPS! Pitfall scanner</a:t>
            </a:r>
          </a:p>
          <a:p>
            <a:pPr marL="556895" lvl="1" indent="-213995">
              <a:buFont typeface="Courier New"/>
              <a:buChar char="o"/>
            </a:pPr>
            <a:r>
              <a:rPr lang="en-US"/>
              <a:t>Expand ontology to include more parts of </a:t>
            </a:r>
            <a:r>
              <a:rPr lang="en-US" err="1"/>
              <a:t>Ghidra</a:t>
            </a:r>
            <a:r>
              <a:rPr lang="en-US"/>
              <a:t> analysis</a:t>
            </a:r>
          </a:p>
          <a:p>
            <a:pPr marL="556895" lvl="1" indent="-213995">
              <a:buFont typeface="Courier New"/>
              <a:buChar char="o"/>
            </a:pPr>
            <a:r>
              <a:rPr lang="en-US"/>
              <a:t>Construct more robust queries to detect other forms of malicious behavior within different executable formats</a:t>
            </a:r>
          </a:p>
        </p:txBody>
      </p:sp>
    </p:spTree>
    <p:extLst>
      <p:ext uri="{BB962C8B-B14F-4D97-AF65-F5344CB8AC3E}">
        <p14:creationId xmlns:p14="http://schemas.microsoft.com/office/powerpoint/2010/main" val="3338913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87F4B-7060-BBCB-C29C-55EB430D92C6}"/>
              </a:ext>
            </a:extLst>
          </p:cNvPr>
          <p:cNvSpPr>
            <a:spLocks noGrp="1"/>
          </p:cNvSpPr>
          <p:nvPr>
            <p:ph type="title"/>
          </p:nvPr>
        </p:nvSpPr>
        <p:spPr/>
        <p:txBody>
          <a:bodyPr lIns="91440" tIns="45720" rIns="91440" bIns="45720" anchor="t"/>
          <a:lstStyle/>
          <a:p>
            <a:r>
              <a:rPr lang="en-US"/>
              <a:t>Works Cited</a:t>
            </a:r>
          </a:p>
        </p:txBody>
      </p:sp>
      <p:sp>
        <p:nvSpPr>
          <p:cNvPr id="3" name="Content Placeholder 2">
            <a:extLst>
              <a:ext uri="{FF2B5EF4-FFF2-40B4-BE49-F238E27FC236}">
                <a16:creationId xmlns:a16="http://schemas.microsoft.com/office/drawing/2014/main" id="{15D3F261-1DC6-2ADF-51BE-3CCAE0868692}"/>
              </a:ext>
            </a:extLst>
          </p:cNvPr>
          <p:cNvSpPr>
            <a:spLocks noGrp="1"/>
          </p:cNvSpPr>
          <p:nvPr>
            <p:ph idx="1"/>
          </p:nvPr>
        </p:nvSpPr>
        <p:spPr>
          <a:xfrm>
            <a:off x="457200" y="1615341"/>
            <a:ext cx="7186999" cy="2787346"/>
          </a:xfrm>
        </p:spPr>
        <p:txBody>
          <a:bodyPr lIns="91440" tIns="45720" rIns="91440" bIns="45720" anchor="t"/>
          <a:lstStyle/>
          <a:p>
            <a:r>
              <a:rPr lang="en-US" sz="1200"/>
              <a:t>[1] J. Ferdous, R. Islam, A. Mahboubi and M. Z. Islam, "A Review of State-of-the-Art Malware Attack Trends and Defense Mechanisms," in IEEE Access, vol. 11, pp. 121118-121141, 2023, </a:t>
            </a:r>
            <a:r>
              <a:rPr lang="en-US" sz="1200" err="1"/>
              <a:t>doi</a:t>
            </a:r>
            <a:r>
              <a:rPr lang="en-US" sz="1200"/>
              <a:t>: 10.1109/ACCESS.2023.3328351.</a:t>
            </a:r>
          </a:p>
          <a:p>
            <a:r>
              <a:rPr lang="en-US" sz="1200"/>
              <a:t>[2] </a:t>
            </a:r>
            <a:r>
              <a:rPr lang="en-US" sz="1200">
                <a:highlight>
                  <a:srgbClr val="FFFFFF"/>
                </a:highlight>
                <a:ea typeface="Calibri"/>
              </a:rPr>
              <a:t>E. </a:t>
            </a:r>
            <a:r>
              <a:rPr lang="en-US" sz="1200" err="1">
                <a:highlight>
                  <a:srgbClr val="FFFFFF"/>
                </a:highlight>
                <a:ea typeface="Calibri"/>
              </a:rPr>
              <a:t>Gandotra</a:t>
            </a:r>
            <a:r>
              <a:rPr lang="en-US" sz="1200">
                <a:highlight>
                  <a:srgbClr val="FFFFFF"/>
                </a:highlight>
                <a:ea typeface="Calibri"/>
              </a:rPr>
              <a:t>, D. Bansal, and S. </a:t>
            </a:r>
            <a:r>
              <a:rPr lang="en-US" sz="1200" err="1">
                <a:highlight>
                  <a:srgbClr val="FFFFFF"/>
                </a:highlight>
                <a:ea typeface="Calibri"/>
              </a:rPr>
              <a:t>Sofat</a:t>
            </a:r>
            <a:r>
              <a:rPr lang="en-US" sz="1200">
                <a:highlight>
                  <a:srgbClr val="FFFFFF"/>
                </a:highlight>
                <a:ea typeface="Calibri"/>
              </a:rPr>
              <a:t>, “Malware Analysis and Classification: A Survey,” </a:t>
            </a:r>
            <a:r>
              <a:rPr lang="en-US" sz="1200" i="1">
                <a:highlight>
                  <a:srgbClr val="FFFFFF"/>
                </a:highlight>
                <a:ea typeface="Calibri"/>
              </a:rPr>
              <a:t>Journal of Information Security</a:t>
            </a:r>
            <a:r>
              <a:rPr lang="en-US" sz="1200">
                <a:highlight>
                  <a:srgbClr val="FFFFFF"/>
                </a:highlight>
                <a:ea typeface="Calibri"/>
              </a:rPr>
              <a:t>, vol. 05, no. 02, pp. 56–64, 2014, </a:t>
            </a:r>
            <a:r>
              <a:rPr lang="en-US" sz="1200" err="1">
                <a:highlight>
                  <a:srgbClr val="FFFFFF"/>
                </a:highlight>
                <a:ea typeface="Calibri"/>
              </a:rPr>
              <a:t>doi</a:t>
            </a:r>
            <a:r>
              <a:rPr lang="en-US" sz="1200">
                <a:highlight>
                  <a:srgbClr val="FFFFFF"/>
                </a:highlight>
                <a:ea typeface="Calibri"/>
              </a:rPr>
              <a:t>: </a:t>
            </a:r>
            <a:r>
              <a:rPr lang="en-US" sz="1200">
                <a:highlight>
                  <a:srgbClr val="FFFFFF"/>
                </a:highlight>
                <a:ea typeface="Calibri"/>
                <a:hlinkClick r:id="rId2"/>
              </a:rPr>
              <a:t>https://doi.org/10.4236/jis.2014.52006</a:t>
            </a:r>
            <a:r>
              <a:rPr lang="en-US" sz="1200">
                <a:highlight>
                  <a:srgbClr val="FFFFFF"/>
                </a:highlight>
                <a:ea typeface="Calibri"/>
              </a:rPr>
              <a:t>.</a:t>
            </a:r>
            <a:endParaRPr lang="en-US" sz="1200"/>
          </a:p>
          <a:p>
            <a:r>
              <a:rPr lang="en-US" sz="1200">
                <a:highlight>
                  <a:srgbClr val="FFFFFF"/>
                </a:highlight>
                <a:ea typeface="Calibri"/>
              </a:rPr>
              <a:t>‌[3] S.-Y. Yu, </a:t>
            </a:r>
            <a:r>
              <a:rPr lang="en-US" sz="1200" err="1">
                <a:highlight>
                  <a:srgbClr val="FFFFFF"/>
                </a:highlight>
                <a:ea typeface="Calibri"/>
              </a:rPr>
              <a:t>Achamyeleh</a:t>
            </a:r>
            <a:r>
              <a:rPr lang="en-US" sz="1200">
                <a:highlight>
                  <a:srgbClr val="FFFFFF"/>
                </a:highlight>
                <a:ea typeface="Calibri"/>
              </a:rPr>
              <a:t>, Yonatan Gizachew, C. Wang, A. </a:t>
            </a:r>
            <a:r>
              <a:rPr lang="en-US" sz="1200" err="1">
                <a:highlight>
                  <a:srgbClr val="FFFFFF"/>
                </a:highlight>
                <a:ea typeface="Calibri"/>
              </a:rPr>
              <a:t>Kocheturov</a:t>
            </a:r>
            <a:r>
              <a:rPr lang="en-US" sz="1200">
                <a:highlight>
                  <a:srgbClr val="FFFFFF"/>
                </a:highlight>
                <a:ea typeface="Calibri"/>
              </a:rPr>
              <a:t>, P. Eisen, and M. Abdullah, “CFG2VEC: Hierarchical Graph Neural Network for Cross-Architectural Software Reverse Engineering,” </a:t>
            </a:r>
            <a:r>
              <a:rPr lang="en-US" sz="1200" i="1">
                <a:highlight>
                  <a:srgbClr val="FFFFFF"/>
                </a:highlight>
                <a:ea typeface="Calibri"/>
              </a:rPr>
              <a:t>arXiv.org</a:t>
            </a:r>
            <a:r>
              <a:rPr lang="en-US" sz="1200">
                <a:highlight>
                  <a:srgbClr val="FFFFFF"/>
                </a:highlight>
                <a:ea typeface="Calibri"/>
              </a:rPr>
              <a:t>, 2023. </a:t>
            </a:r>
            <a:r>
              <a:rPr lang="en-US" sz="1200">
                <a:highlight>
                  <a:srgbClr val="FFFFFF"/>
                </a:highlight>
                <a:ea typeface="Calibri"/>
                <a:hlinkClick r:id="rId3"/>
              </a:rPr>
              <a:t>https://arxiv.org/abs/2301.02723</a:t>
            </a:r>
            <a:endParaRPr lang="en-US" sz="1200"/>
          </a:p>
          <a:p>
            <a:r>
              <a:rPr lang="en-US" sz="1200">
                <a:highlight>
                  <a:srgbClr val="FFFFFF"/>
                </a:highlight>
                <a:ea typeface="Calibri"/>
              </a:rPr>
              <a:t>‌[4] C. Eagle and K. Nance, The </a:t>
            </a:r>
            <a:r>
              <a:rPr lang="en-US" sz="1200" err="1">
                <a:highlight>
                  <a:srgbClr val="FFFFFF"/>
                </a:highlight>
                <a:ea typeface="Calibri"/>
              </a:rPr>
              <a:t>Ghidra</a:t>
            </a:r>
            <a:r>
              <a:rPr lang="en-US" sz="1200">
                <a:highlight>
                  <a:srgbClr val="FFFFFF"/>
                </a:highlight>
                <a:ea typeface="Calibri"/>
              </a:rPr>
              <a:t> Book: The Definitive Guide. San Francisco, CA, USA: No Starch Press, 2020.</a:t>
            </a:r>
            <a:endParaRPr lang="en-US" sz="1200"/>
          </a:p>
          <a:p>
            <a:r>
              <a:rPr lang="en-US" sz="1200"/>
              <a:t>[5] N. </a:t>
            </a:r>
            <a:r>
              <a:rPr lang="en-US" sz="1200" err="1"/>
              <a:t>Partush</a:t>
            </a:r>
            <a:r>
              <a:rPr lang="en-US" sz="1200"/>
              <a:t>, “GitHub - </a:t>
            </a:r>
            <a:r>
              <a:rPr lang="en-US" sz="1200" err="1"/>
              <a:t>nimrodpar</a:t>
            </a:r>
            <a:r>
              <a:rPr lang="en-US" sz="1200"/>
              <a:t>/Labeled-</a:t>
            </a:r>
            <a:r>
              <a:rPr lang="en-US" sz="1200" err="1"/>
              <a:t>Elfs</a:t>
            </a:r>
            <a:r>
              <a:rPr lang="en-US" sz="1200"/>
              <a:t>” </a:t>
            </a:r>
            <a:r>
              <a:rPr lang="en-US" sz="1200" i="1"/>
              <a:t>GitHub</a:t>
            </a:r>
            <a:r>
              <a:rPr lang="en-US" sz="1200"/>
              <a:t>, 2025. https://github.com/nimrodpar/Labeled-Elfs (accessed Apr. 22, 2026).</a:t>
            </a:r>
            <a:endParaRPr lang="en-US" sz="1200">
              <a:highlight>
                <a:srgbClr val="FFFFFF"/>
              </a:highlight>
              <a:ea typeface="Calibri"/>
            </a:endParaRPr>
          </a:p>
          <a:p>
            <a:r>
              <a:rPr lang="en-US" sz="1200">
                <a:highlight>
                  <a:srgbClr val="FFFFFF"/>
                </a:highlight>
                <a:ea typeface="Calibri"/>
              </a:rPr>
              <a:t>[6] A. Hogan </a:t>
            </a:r>
            <a:r>
              <a:rPr lang="en-US" sz="1200" i="1">
                <a:highlight>
                  <a:srgbClr val="FFFFFF"/>
                </a:highlight>
                <a:ea typeface="Calibri"/>
              </a:rPr>
              <a:t>et al.</a:t>
            </a:r>
            <a:r>
              <a:rPr lang="en-US" sz="1200">
                <a:highlight>
                  <a:srgbClr val="FFFFFF"/>
                </a:highlight>
                <a:ea typeface="Calibri"/>
              </a:rPr>
              <a:t>, “Knowledge Graphs,” </a:t>
            </a:r>
            <a:r>
              <a:rPr lang="en-US" sz="1200" i="1">
                <a:highlight>
                  <a:srgbClr val="FFFFFF"/>
                </a:highlight>
                <a:ea typeface="Calibri"/>
              </a:rPr>
              <a:t>ACM Computing Surveys</a:t>
            </a:r>
            <a:r>
              <a:rPr lang="en-US" sz="1200">
                <a:highlight>
                  <a:srgbClr val="FFFFFF"/>
                </a:highlight>
                <a:ea typeface="Calibri"/>
              </a:rPr>
              <a:t>, vol. 54, no. 4, pp. 1–37, May 2022, </a:t>
            </a:r>
            <a:r>
              <a:rPr lang="en-US" sz="1200" err="1">
                <a:highlight>
                  <a:srgbClr val="FFFFFF"/>
                </a:highlight>
                <a:ea typeface="Calibri"/>
              </a:rPr>
              <a:t>doi</a:t>
            </a:r>
            <a:r>
              <a:rPr lang="en-US" sz="1200">
                <a:highlight>
                  <a:srgbClr val="FFFFFF"/>
                </a:highlight>
                <a:ea typeface="Calibri"/>
              </a:rPr>
              <a:t>: </a:t>
            </a:r>
            <a:r>
              <a:rPr lang="en-US" sz="1200">
                <a:highlight>
                  <a:srgbClr val="FFFFFF"/>
                </a:highlight>
                <a:ea typeface="Calibri"/>
                <a:hlinkClick r:id="rId4"/>
              </a:rPr>
              <a:t>https://doi.org/10.1145/3447772</a:t>
            </a:r>
            <a:r>
              <a:rPr lang="en-US" sz="1200">
                <a:highlight>
                  <a:srgbClr val="FFFFFF"/>
                </a:highlight>
                <a:ea typeface="Calibri"/>
              </a:rPr>
              <a:t>.</a:t>
            </a:r>
            <a:endParaRPr lang="en-US" sz="1200"/>
          </a:p>
          <a:p>
            <a:endParaRPr lang="en-US" sz="1200">
              <a:highlight>
                <a:srgbClr val="FFFFFF"/>
              </a:highlight>
              <a:ea typeface="Calibri"/>
            </a:endParaRPr>
          </a:p>
          <a:p>
            <a:endParaRPr lang="en-US" sz="1200">
              <a:highlight>
                <a:srgbClr val="FFFFFF"/>
              </a:highlight>
              <a:ea typeface="Calibri"/>
            </a:endParaRPr>
          </a:p>
          <a:p>
            <a:endParaRPr lang="en-US" sz="1200">
              <a:highlight>
                <a:srgbClr val="FFFFFF"/>
              </a:highlight>
              <a:ea typeface="Calibri"/>
            </a:endParaRPr>
          </a:p>
          <a:p>
            <a:endParaRPr lang="en-US" sz="1200">
              <a:ea typeface="Calibri"/>
            </a:endParaRPr>
          </a:p>
          <a:p>
            <a:endParaRPr lang="en-US" sz="1200"/>
          </a:p>
          <a:p>
            <a:endParaRPr lang="en-US" sz="1200"/>
          </a:p>
        </p:txBody>
      </p:sp>
    </p:spTree>
    <p:extLst>
      <p:ext uri="{BB962C8B-B14F-4D97-AF65-F5344CB8AC3E}">
        <p14:creationId xmlns:p14="http://schemas.microsoft.com/office/powerpoint/2010/main" val="1135794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86E6-2BEC-06EC-9186-57FF53B05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605C4-7422-666A-4D5B-D0C7B95F478B}"/>
              </a:ext>
            </a:extLst>
          </p:cNvPr>
          <p:cNvSpPr>
            <a:spLocks noGrp="1"/>
          </p:cNvSpPr>
          <p:nvPr>
            <p:ph type="title"/>
          </p:nvPr>
        </p:nvSpPr>
        <p:spPr/>
        <p:txBody>
          <a:bodyPr lIns="91440" tIns="45720" rIns="91440" bIns="45720" anchor="t"/>
          <a:lstStyle/>
          <a:p>
            <a:r>
              <a:rPr lang="en-US"/>
              <a:t>Works Cited</a:t>
            </a:r>
          </a:p>
        </p:txBody>
      </p:sp>
      <p:sp>
        <p:nvSpPr>
          <p:cNvPr id="3" name="Content Placeholder 2">
            <a:extLst>
              <a:ext uri="{FF2B5EF4-FFF2-40B4-BE49-F238E27FC236}">
                <a16:creationId xmlns:a16="http://schemas.microsoft.com/office/drawing/2014/main" id="{9B5E1555-37F7-92ED-75D1-0AADAE8BFBE2}"/>
              </a:ext>
            </a:extLst>
          </p:cNvPr>
          <p:cNvSpPr>
            <a:spLocks noGrp="1"/>
          </p:cNvSpPr>
          <p:nvPr>
            <p:ph idx="1"/>
          </p:nvPr>
        </p:nvSpPr>
        <p:spPr>
          <a:xfrm>
            <a:off x="457200" y="1595968"/>
            <a:ext cx="7186999" cy="2787346"/>
          </a:xfrm>
        </p:spPr>
        <p:txBody>
          <a:bodyPr lIns="91440" tIns="45720" rIns="91440" bIns="45720" anchor="t"/>
          <a:lstStyle/>
          <a:p>
            <a:r>
              <a:rPr lang="en-US" sz="1200">
                <a:highlight>
                  <a:srgbClr val="FFFFFF"/>
                </a:highlight>
                <a:latin typeface="Arial" panose="020B0604020202020204" pitchFamily="34" charset="0"/>
                <a:ea typeface="Calibri"/>
                <a:cs typeface="Arial" panose="020B0604020202020204" pitchFamily="34" charset="0"/>
              </a:rPr>
              <a:t>[7] </a:t>
            </a:r>
            <a:r>
              <a:rPr lang="en-US" sz="1200" err="1">
                <a:highlight>
                  <a:srgbClr val="FFFFFF"/>
                </a:highlight>
                <a:latin typeface="Arial" panose="020B0604020202020204" pitchFamily="34" charset="0"/>
                <a:ea typeface="Calibri"/>
                <a:cs typeface="Arial" panose="020B0604020202020204" pitchFamily="34" charset="0"/>
              </a:rPr>
              <a:t>yWorks</a:t>
            </a:r>
            <a:r>
              <a:rPr lang="en-US" sz="1200">
                <a:highlight>
                  <a:srgbClr val="FFFFFF"/>
                </a:highlight>
                <a:latin typeface="Arial" panose="020B0604020202020204" pitchFamily="34" charset="0"/>
                <a:ea typeface="Calibri"/>
                <a:cs typeface="Arial" panose="020B0604020202020204" pitchFamily="34" charset="0"/>
              </a:rPr>
              <a:t> GmbH, </a:t>
            </a:r>
            <a:r>
              <a:rPr lang="en-US" sz="1200" err="1">
                <a:highlight>
                  <a:srgbClr val="FFFFFF"/>
                </a:highlight>
                <a:latin typeface="Arial" panose="020B0604020202020204" pitchFamily="34" charset="0"/>
                <a:ea typeface="Calibri"/>
                <a:cs typeface="Arial" panose="020B0604020202020204" pitchFamily="34" charset="0"/>
              </a:rPr>
              <a:t>yEd</a:t>
            </a:r>
            <a:r>
              <a:rPr lang="en-US" sz="1200">
                <a:highlight>
                  <a:srgbClr val="FFFFFF"/>
                </a:highlight>
                <a:latin typeface="Arial" panose="020B0604020202020204" pitchFamily="34" charset="0"/>
                <a:ea typeface="Calibri"/>
                <a:cs typeface="Arial" panose="020B0604020202020204" pitchFamily="34" charset="0"/>
              </a:rPr>
              <a:t> Graph Editor, version [Insert Version, e.g., 3.20]. [Online]. Available: https://www.yworks.com/products/yed.</a:t>
            </a:r>
          </a:p>
          <a:p>
            <a:r>
              <a:rPr lang="en-US" sz="1200">
                <a:highlight>
                  <a:srgbClr val="FFFFFF"/>
                </a:highlight>
                <a:latin typeface="Arial" panose="020B0604020202020204" pitchFamily="34" charset="0"/>
                <a:ea typeface="Calibri"/>
                <a:cs typeface="Arial" panose="020B0604020202020204" pitchFamily="34" charset="0"/>
              </a:rPr>
              <a:t>[8] Musen, M.A. The Protégé project: A look back and a look forward. AI Matters. Association of Computing Machinery Specific Interest Group in Artificial Intelligence, 1(4), June 2015. DOI: 10.1145/2557001.25757003.</a:t>
            </a:r>
            <a:endParaRPr lang="en-US">
              <a:latin typeface="Arial" panose="020B0604020202020204" pitchFamily="34" charset="0"/>
              <a:cs typeface="Arial" panose="020B0604020202020204" pitchFamily="34" charset="0"/>
            </a:endParaRPr>
          </a:p>
          <a:p>
            <a:r>
              <a:rPr lang="en-US" sz="1200">
                <a:highlight>
                  <a:srgbClr val="FFFFFF"/>
                </a:highlight>
                <a:latin typeface="Arial" panose="020B0604020202020204" pitchFamily="34" charset="0"/>
                <a:ea typeface="Calibri"/>
                <a:cs typeface="Arial" panose="020B0604020202020204" pitchFamily="34" charset="0"/>
              </a:rPr>
              <a:t>[9] M. Poveda-Villalón, A. Gómez-Pérez, and M. C. Suárez-Figueroa, "OOPS! (</a:t>
            </a:r>
            <a:r>
              <a:rPr lang="en-US" sz="1200" err="1">
                <a:highlight>
                  <a:srgbClr val="FFFFFF"/>
                </a:highlight>
                <a:latin typeface="Arial" panose="020B0604020202020204" pitchFamily="34" charset="0"/>
                <a:ea typeface="Calibri"/>
                <a:cs typeface="Arial" panose="020B0604020202020204" pitchFamily="34" charset="0"/>
              </a:rPr>
              <a:t>OntOlogy</a:t>
            </a:r>
            <a:r>
              <a:rPr lang="en-US" sz="1200">
                <a:highlight>
                  <a:srgbClr val="FFFFFF"/>
                </a:highlight>
                <a:latin typeface="Arial" panose="020B0604020202020204" pitchFamily="34" charset="0"/>
                <a:ea typeface="Calibri"/>
                <a:cs typeface="Arial" panose="020B0604020202020204" pitchFamily="34" charset="0"/>
              </a:rPr>
              <a:t> Pitfall Scanner!): An On-line Tool for Ontology Evaluation," </a:t>
            </a:r>
            <a:r>
              <a:rPr lang="en-US" sz="1200" i="1">
                <a:highlight>
                  <a:srgbClr val="FFFFFF"/>
                </a:highlight>
                <a:latin typeface="Arial" panose="020B0604020202020204" pitchFamily="34" charset="0"/>
                <a:ea typeface="Calibri"/>
                <a:cs typeface="Arial" panose="020B0604020202020204" pitchFamily="34" charset="0"/>
              </a:rPr>
              <a:t>International Journal on Semantic Web and Information Systems (IJSWIS)</a:t>
            </a:r>
            <a:r>
              <a:rPr lang="en-US" sz="1200">
                <a:highlight>
                  <a:srgbClr val="FFFFFF"/>
                </a:highlight>
                <a:latin typeface="Arial" panose="020B0604020202020204" pitchFamily="34" charset="0"/>
                <a:ea typeface="Calibri"/>
                <a:cs typeface="Arial" panose="020B0604020202020204" pitchFamily="34" charset="0"/>
              </a:rPr>
              <a:t>, vol. 10, no. 2, pp. 7-34, Apr. 2014, </a:t>
            </a:r>
            <a:r>
              <a:rPr lang="en-US" sz="1200" err="1">
                <a:highlight>
                  <a:srgbClr val="FFFFFF"/>
                </a:highlight>
                <a:latin typeface="Arial" panose="020B0604020202020204" pitchFamily="34" charset="0"/>
                <a:ea typeface="Calibri"/>
                <a:cs typeface="Arial" panose="020B0604020202020204" pitchFamily="34" charset="0"/>
              </a:rPr>
              <a:t>doi</a:t>
            </a:r>
            <a:r>
              <a:rPr lang="en-US" sz="1200">
                <a:highlight>
                  <a:srgbClr val="FFFFFF"/>
                </a:highlight>
                <a:latin typeface="Arial" panose="020B0604020202020204" pitchFamily="34" charset="0"/>
                <a:ea typeface="Calibri"/>
                <a:cs typeface="Arial" panose="020B0604020202020204" pitchFamily="34" charset="0"/>
              </a:rPr>
              <a:t>: </a:t>
            </a:r>
            <a:r>
              <a:rPr lang="en-US" sz="1200">
                <a:highlight>
                  <a:srgbClr val="FFFFFF"/>
                </a:highlight>
                <a:latin typeface="Arial" panose="020B0604020202020204" pitchFamily="34" charset="0"/>
                <a:ea typeface="Calibri"/>
                <a:cs typeface="Arial" panose="020B0604020202020204" pitchFamily="34" charset="0"/>
                <a:hlinkClick r:id="rId2"/>
              </a:rPr>
              <a:t>10.4018/ijswis.2014040102</a:t>
            </a:r>
            <a:r>
              <a:rPr lang="en-US" sz="1200">
                <a:highlight>
                  <a:srgbClr val="FFFFFF"/>
                </a:highlight>
                <a:latin typeface="Arial" panose="020B0604020202020204" pitchFamily="34" charset="0"/>
                <a:ea typeface="Calibri"/>
                <a:cs typeface="Arial" panose="020B0604020202020204" pitchFamily="34" charset="0"/>
              </a:rPr>
              <a:t>.</a:t>
            </a:r>
            <a:endParaRPr lang="en-US">
              <a:latin typeface="Arial" panose="020B0604020202020204" pitchFamily="34" charset="0"/>
              <a:cs typeface="Arial" panose="020B0604020202020204" pitchFamily="34" charset="0"/>
            </a:endParaRPr>
          </a:p>
          <a:p>
            <a:r>
              <a:rPr lang="en-US" sz="1200">
                <a:highlight>
                  <a:srgbClr val="FFFFFF"/>
                </a:highlight>
                <a:latin typeface="Arial" panose="020B0604020202020204" pitchFamily="34" charset="0"/>
                <a:ea typeface="Calibri"/>
                <a:cs typeface="Arial" panose="020B0604020202020204" pitchFamily="34" charset="0"/>
              </a:rPr>
              <a:t>[10] Apache Software Foundation, 2021. Apache Jena, Available at: </a:t>
            </a:r>
            <a:r>
              <a:rPr lang="en-US" sz="1200">
                <a:highlight>
                  <a:srgbClr val="FFFFFF"/>
                </a:highlight>
                <a:latin typeface="Arial" panose="020B0604020202020204" pitchFamily="34" charset="0"/>
                <a:ea typeface="Calibri"/>
                <a:cs typeface="Arial" panose="020B0604020202020204" pitchFamily="34" charset="0"/>
                <a:hlinkClick r:id="rId3"/>
              </a:rPr>
              <a:t>https://jena.apache.org/</a:t>
            </a:r>
            <a:r>
              <a:rPr lang="en-US" sz="1200">
                <a:highlight>
                  <a:srgbClr val="FFFFFF"/>
                </a:highlight>
                <a:latin typeface="Arial" panose="020B0604020202020204" pitchFamily="34" charset="0"/>
                <a:ea typeface="Calibri"/>
                <a:cs typeface="Arial" panose="020B0604020202020204" pitchFamily="34" charset="0"/>
              </a:rPr>
              <a:t>.</a:t>
            </a:r>
          </a:p>
          <a:p>
            <a:r>
              <a:rPr lang="en-US" sz="1200">
                <a:highlight>
                  <a:srgbClr val="FFFFFF"/>
                </a:highlight>
                <a:latin typeface="Arial" panose="020B0604020202020204" pitchFamily="34" charset="0"/>
                <a:ea typeface="Calibri"/>
                <a:cs typeface="Arial" panose="020B0604020202020204" pitchFamily="34" charset="0"/>
              </a:rPr>
              <a:t>[11] A. Marzano </a:t>
            </a:r>
            <a:r>
              <a:rPr lang="en-US" sz="1200" i="1">
                <a:highlight>
                  <a:srgbClr val="FFFFFF"/>
                </a:highlight>
                <a:latin typeface="Arial" panose="020B0604020202020204" pitchFamily="34" charset="0"/>
                <a:ea typeface="Calibri"/>
                <a:cs typeface="Arial" panose="020B0604020202020204" pitchFamily="34" charset="0"/>
              </a:rPr>
              <a:t>et al.</a:t>
            </a:r>
            <a:r>
              <a:rPr lang="en-US" sz="1200">
                <a:highlight>
                  <a:srgbClr val="FFFFFF"/>
                </a:highlight>
                <a:latin typeface="Arial" panose="020B0604020202020204" pitchFamily="34" charset="0"/>
                <a:ea typeface="Calibri"/>
                <a:cs typeface="Arial" panose="020B0604020202020204" pitchFamily="34" charset="0"/>
              </a:rPr>
              <a:t>, “The Evolution of </a:t>
            </a:r>
            <a:r>
              <a:rPr lang="en-US" sz="1200" err="1">
                <a:highlight>
                  <a:srgbClr val="FFFFFF"/>
                </a:highlight>
                <a:latin typeface="Arial" panose="020B0604020202020204" pitchFamily="34" charset="0"/>
                <a:ea typeface="Calibri"/>
                <a:cs typeface="Arial" panose="020B0604020202020204" pitchFamily="34" charset="0"/>
              </a:rPr>
              <a:t>Bashlite</a:t>
            </a:r>
            <a:r>
              <a:rPr lang="en-US" sz="1200">
                <a:highlight>
                  <a:srgbClr val="FFFFFF"/>
                </a:highlight>
                <a:latin typeface="Arial" panose="020B0604020202020204" pitchFamily="34" charset="0"/>
                <a:ea typeface="Calibri"/>
                <a:cs typeface="Arial" panose="020B0604020202020204" pitchFamily="34" charset="0"/>
              </a:rPr>
              <a:t> and Mirai IoT Botnets,” </a:t>
            </a:r>
            <a:r>
              <a:rPr lang="en-US" sz="1200" i="1">
                <a:highlight>
                  <a:srgbClr val="FFFFFF"/>
                </a:highlight>
                <a:latin typeface="Arial" panose="020B0604020202020204" pitchFamily="34" charset="0"/>
                <a:ea typeface="Calibri"/>
                <a:cs typeface="Arial" panose="020B0604020202020204" pitchFamily="34" charset="0"/>
              </a:rPr>
              <a:t>IEEE Xplore</a:t>
            </a:r>
            <a:r>
              <a:rPr lang="en-US" sz="1200">
                <a:highlight>
                  <a:srgbClr val="FFFFFF"/>
                </a:highlight>
                <a:latin typeface="Arial" panose="020B0604020202020204" pitchFamily="34" charset="0"/>
                <a:ea typeface="Calibri"/>
                <a:cs typeface="Arial" panose="020B0604020202020204" pitchFamily="34" charset="0"/>
              </a:rPr>
              <a:t>, Jun. 01, 2018. </a:t>
            </a:r>
            <a:r>
              <a:rPr lang="en-US" sz="1200">
                <a:latin typeface="Arial" panose="020B0604020202020204" pitchFamily="34" charset="0"/>
                <a:ea typeface="Calibri"/>
                <a:cs typeface="Arial" panose="020B0604020202020204" pitchFamily="34" charset="0"/>
                <a:hlinkClick r:id="rId4"/>
              </a:rPr>
              <a:t>https://ieeexplore.ieee.org/abstract/document/8538636?casa_token=mqQ4rYCpb6AAAAAA:bHUXfCbJXT30Ta_bSpdfkO946mNZgR1bm2EM9kRJY5hyPLim8SAKYWey9wZlpj0TZQ0CaGpxmonv</a:t>
            </a:r>
            <a:r>
              <a:rPr lang="en-US" sz="1200">
                <a:latin typeface="Arial" panose="020B0604020202020204" pitchFamily="34" charset="0"/>
                <a:ea typeface="Calibri"/>
                <a:cs typeface="Arial" panose="020B0604020202020204" pitchFamily="34" charset="0"/>
              </a:rPr>
              <a:t> </a:t>
            </a:r>
            <a:r>
              <a:rPr lang="en-US" sz="1200">
                <a:highlight>
                  <a:srgbClr val="FFFFFF"/>
                </a:highlight>
                <a:latin typeface="Arial" panose="020B0604020202020204" pitchFamily="34" charset="0"/>
                <a:ea typeface="Calibri"/>
                <a:cs typeface="Arial" panose="020B0604020202020204" pitchFamily="34" charset="0"/>
              </a:rPr>
              <a:t>(accessed April 22, 2026).</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6004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1F548-8CBA-BB8D-B369-3C69378012F4}"/>
              </a:ext>
            </a:extLst>
          </p:cNvPr>
          <p:cNvSpPr>
            <a:spLocks noGrp="1"/>
          </p:cNvSpPr>
          <p:nvPr>
            <p:ph type="title"/>
          </p:nvPr>
        </p:nvSpPr>
        <p:spPr/>
        <p:txBody>
          <a:bodyPr/>
          <a:lstStyle/>
          <a:p>
            <a:r>
              <a:rPr lang="en-US"/>
              <a:t>GitHub Project Repository</a:t>
            </a:r>
          </a:p>
        </p:txBody>
      </p:sp>
      <p:sp>
        <p:nvSpPr>
          <p:cNvPr id="3" name="Content Placeholder 2">
            <a:extLst>
              <a:ext uri="{FF2B5EF4-FFF2-40B4-BE49-F238E27FC236}">
                <a16:creationId xmlns:a16="http://schemas.microsoft.com/office/drawing/2014/main" id="{602D935A-2525-FF3A-2C41-A8673D8BF89B}"/>
              </a:ext>
            </a:extLst>
          </p:cNvPr>
          <p:cNvSpPr>
            <a:spLocks noGrp="1"/>
          </p:cNvSpPr>
          <p:nvPr>
            <p:ph idx="1"/>
          </p:nvPr>
        </p:nvSpPr>
        <p:spPr/>
        <p:txBody>
          <a:bodyPr/>
          <a:lstStyle/>
          <a:p>
            <a:r>
              <a:rPr lang="en-US">
                <a:hlinkClick r:id="rId2"/>
              </a:rPr>
              <a:t>https://github.com/22lavonne/Malware-Behavior-Knowledge-Graph</a:t>
            </a:r>
            <a:r>
              <a:rPr lang="en-US"/>
              <a:t> </a:t>
            </a:r>
          </a:p>
        </p:txBody>
      </p:sp>
    </p:spTree>
    <p:extLst>
      <p:ext uri="{BB962C8B-B14F-4D97-AF65-F5344CB8AC3E}">
        <p14:creationId xmlns:p14="http://schemas.microsoft.com/office/powerpoint/2010/main" val="2293594060"/>
      </p:ext>
    </p:extLst>
  </p:cSld>
  <p:clrMapOvr>
    <a:masterClrMapping/>
  </p:clrMapOvr>
</p:sld>
</file>

<file path=ppt/theme/theme1.xml><?xml version="1.0" encoding="utf-8"?>
<a:theme xmlns:a="http://schemas.openxmlformats.org/drawingml/2006/main" name="Cover Slide Option 1 (includes title slide, title/author slide, and ending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ver Slide Option 2 (includes title slide, title/author slide, and ending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over Slide Option 3 (includes title slide, title/author slide, and ending slide)">
  <a:themeElements>
    <a:clrScheme name="Custom 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A3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Cover Slide Option 4 (includes title slide, title/author slide, and ending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Cover Slide Option 5 (includes title slide, title/author slide, and ending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Cover Slide Option 7 (includes title slide and ending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Inside Slide Option 2 (includes different content layout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Inside Slide Option 1 (includes different content layouts)">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A3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EF60793CAAFB44BA85AF51A4888F2D" ma:contentTypeVersion="15" ma:contentTypeDescription="Create a new document." ma:contentTypeScope="" ma:versionID="448e74c50adc3018db04e700bda4f479">
  <xsd:schema xmlns:xsd="http://www.w3.org/2001/XMLSchema" xmlns:xs="http://www.w3.org/2001/XMLSchema" xmlns:p="http://schemas.microsoft.com/office/2006/metadata/properties" xmlns:ns3="3c9ec5b8-8bae-4866-8f7d-e511c33f81a0" xmlns:ns4="f4c013a8-601c-48ff-90c7-a26e693db7f3" targetNamespace="http://schemas.microsoft.com/office/2006/metadata/properties" ma:root="true" ma:fieldsID="9a09423f67fde5fdddb4dd45b0f0544c" ns3:_="" ns4:_="">
    <xsd:import namespace="3c9ec5b8-8bae-4866-8f7d-e511c33f81a0"/>
    <xsd:import namespace="f4c013a8-601c-48ff-90c7-a26e693db7f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9ec5b8-8bae-4866-8f7d-e511c33f81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4c013a8-601c-48ff-90c7-a26e693db7f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c9ec5b8-8bae-4866-8f7d-e511c33f81a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78D98A-73E6-44D0-A400-B44948B0E3CE}">
  <ds:schemaRefs>
    <ds:schemaRef ds:uri="3c9ec5b8-8bae-4866-8f7d-e511c33f81a0"/>
    <ds:schemaRef ds:uri="f4c013a8-601c-48ff-90c7-a26e693db7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31C08C-AAC1-4DBC-BF64-EE997247DAEF}">
  <ds:schemaRefs>
    <ds:schemaRef ds:uri="3c9ec5b8-8bae-4866-8f7d-e511c33f81a0"/>
    <ds:schemaRef ds:uri="f4c013a8-601c-48ff-90c7-a26e693db7f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775AB2D-313C-4815-8B2C-0AF57CF4F0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(16:9)</PresentationFormat>
  <Slides>20</Slides>
  <Notes>16</Notes>
  <HiddenSlides>0</HiddenSlides>
  <ScaleCrop>false</ScaleCrop>
  <HeadingPairs>
    <vt:vector size="4" baseType="variant">
      <vt:variant>
        <vt:lpstr>Theme</vt:lpstr>
      </vt:variant>
      <vt:variant>
        <vt:i4>8</vt:i4>
      </vt:variant>
      <vt:variant>
        <vt:lpstr>Slide Titles</vt:lpstr>
      </vt:variant>
      <vt:variant>
        <vt:i4>20</vt:i4>
      </vt:variant>
    </vt:vector>
  </HeadingPairs>
  <TitlesOfParts>
    <vt:vector size="28" baseType="lpstr">
      <vt:lpstr>Cover Slide Option 1 (includes title slide, title/author slide, and ending slide)</vt:lpstr>
      <vt:lpstr>Cover Slide Option 2 (includes title slide, title/author slide, and ending slide)</vt:lpstr>
      <vt:lpstr>Cover Slide Option 3 (includes title slide, title/author slide, and ending slide)</vt:lpstr>
      <vt:lpstr>Cover Slide Option 4 (includes title slide, title/author slide, and ending slide)</vt:lpstr>
      <vt:lpstr>Cover Slide Option 5 (includes title slide, title/author slide, and ending slide)</vt:lpstr>
      <vt:lpstr>Cover Slide Option 7 (includes title slide and ending slide)</vt:lpstr>
      <vt:lpstr>Inside Slide Option 2 (includes different content layouts)</vt:lpstr>
      <vt:lpstr>Inside Slide Option 1 (includes different content layouts)</vt:lpstr>
      <vt:lpstr>An Ontology for the Detection of Malware Behavior in Executables </vt:lpstr>
      <vt:lpstr>Table of Contents</vt:lpstr>
      <vt:lpstr>Introduction</vt:lpstr>
      <vt:lpstr>Background</vt:lpstr>
      <vt:lpstr>Software Reverse Engineering</vt:lpstr>
      <vt:lpstr>Ghidra</vt:lpstr>
      <vt:lpstr>Knowledge Graphs</vt:lpstr>
      <vt:lpstr>Approach</vt:lpstr>
      <vt:lpstr>Competency Questions and Choosing a Dataset</vt:lpstr>
      <vt:lpstr>Designing the Shema</vt:lpstr>
      <vt:lpstr>Developing the Ontology</vt:lpstr>
      <vt:lpstr>Generating a Knowledge Graph</vt:lpstr>
      <vt:lpstr>Results</vt:lpstr>
      <vt:lpstr>Ontology</vt:lpstr>
      <vt:lpstr>SPARQL Queries</vt:lpstr>
      <vt:lpstr>Analysis</vt:lpstr>
      <vt:lpstr>Conclusion</vt:lpstr>
      <vt:lpstr>Works Cited</vt:lpstr>
      <vt:lpstr>Works Cited</vt:lpstr>
      <vt:lpstr>GitHub Project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Earnest-Reitmann, Amanda J.</dc:creator>
  <cp:revision>2</cp:revision>
  <dcterms:created xsi:type="dcterms:W3CDTF">2018-09-19T20:02:44Z</dcterms:created>
  <dcterms:modified xsi:type="dcterms:W3CDTF">2026-04-24T14:30:17Z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0x01010051EF60793CAAFB44BA85AF51A4888F2D</vt:lpwstr>
  </property>
</Properties>
</file>