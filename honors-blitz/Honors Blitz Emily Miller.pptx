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6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7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4"/>
    <p:sldMasterId id="2147483666" r:id="rId5"/>
    <p:sldMasterId id="2147483670" r:id="rId6"/>
    <p:sldMasterId id="2147483674" r:id="rId7"/>
    <p:sldMasterId id="2147483678" r:id="rId8"/>
    <p:sldMasterId id="2147483709" r:id="rId9"/>
    <p:sldMasterId id="2147483697" r:id="rId10"/>
    <p:sldMasterId id="2147483685" r:id="rId11"/>
  </p:sldMasterIdLst>
  <p:notesMasterIdLst>
    <p:notesMasterId r:id="rId18"/>
  </p:notesMasterIdLst>
  <p:sldIdLst>
    <p:sldId id="256" r:id="rId12"/>
    <p:sldId id="266" r:id="rId13"/>
    <p:sldId id="267" r:id="rId14"/>
    <p:sldId id="260" r:id="rId15"/>
    <p:sldId id="261" r:id="rId16"/>
    <p:sldId id="263" r:id="rId17"/>
  </p:sldIdLst>
  <p:sldSz cx="9144000" cy="5143500" type="screen16x9"/>
  <p:notesSz cx="6858000" cy="9144000"/>
  <p:defaultTextStyle>
    <a:defPPr>
      <a:defRPr lang="en-US"/>
    </a:defPPr>
    <a:lvl1pPr marL="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6A38"/>
    <a:srgbClr val="CBA0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49D7C1-58EE-D343-4D1D-6841314387C2}" v="78" dt="2026-02-20T20:42:40.143"/>
    <p1510:client id="{651C1232-FD71-F89D-022E-BB08ABCB3AE4}" v="741" dt="2026-02-20T15:13:34.504"/>
    <p1510:client id="{AFC85B0E-7680-4692-A090-0B4F8635F8BE}" v="93" dt="2026-02-20T19:10:52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2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23" Type="http://schemas.microsoft.com/office/2015/10/relationships/revisionInfo" Target="revisionInfo.xml"/><Relationship Id="rId10" Type="http://schemas.openxmlformats.org/officeDocument/2006/relationships/slideMaster" Target="slideMasters/slideMaster7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01142-A922-824D-AD87-6E256A2E82A7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10328-B2AA-BB46-8265-A51445C1A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87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26282"/>
            <a:ext cx="8229600" cy="1102519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043113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Arial"/>
                <a:cs typeface="Arial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287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57200" y="1357140"/>
            <a:ext cx="8229600" cy="1102519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91F9405-8B04-EFBE-23C8-71A97266DE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EF7D51A-4EF9-6237-A7D9-F35F7AF98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701E918-D4A6-6F18-6001-21356968D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026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96AA33-7AA7-4656-48A6-13AF97DC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C7C936D-5424-72C2-2F38-35164BDAF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3266BBF-F6D5-3D93-1F2B-90D1BD20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408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76138"/>
            <a:ext cx="8229600" cy="1102519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192969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Arial"/>
                <a:cs typeface="Arial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DEB5B1F-B603-AA59-D920-71932D3428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C15F8A0-4DA8-96B0-6FD9-527F49F15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728013E-7CF3-5156-20D6-4CCEC2A91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598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99597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BC66057-9998-FB4F-E27E-0F22DE9704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E62B9E5-9F5D-5B90-3029-1283FA641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DBED7B3-386B-C983-F8A6-6FB8BFA87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066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7A815B9-FF99-7C2E-E807-A09C97315D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5AB3973-EBF0-BD0B-F2D2-D926CAD9E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E04B1C8-6007-A74E-9365-8C32661D1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095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61250"/>
            <a:ext cx="8229600" cy="1102519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078081"/>
            <a:ext cx="6400800" cy="1129576"/>
          </a:xfrm>
        </p:spPr>
        <p:txBody>
          <a:bodyPr/>
          <a:lstStyle>
            <a:lvl1pPr marL="0" indent="0" algn="ctr">
              <a:buNone/>
              <a:defRPr>
                <a:solidFill>
                  <a:srgbClr val="FFFFFF"/>
                </a:solidFill>
                <a:latin typeface="Arial"/>
                <a:cs typeface="Arial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3A1771F-02E0-0BCB-5810-94CC5E4750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A4CBE3-5388-D57B-CA1F-8C8030AA7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F0FEF06-F5C0-1B8D-EB7E-49A069A97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629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306887"/>
            <a:ext cx="8229599" cy="85725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D99E945-8D81-22A9-959F-271C7A8B08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D95187B-A943-E7E1-D1C0-92A79B87B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D03AABA-39D0-FB7C-55EA-9AEC4A56B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18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8C1F9F1-3BCF-6FD2-ACB1-4A54FBF0D8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DDDC752-6F16-BE6A-D5B7-AD7535A3F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147843E-6065-30FA-1E15-8AB9938FD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88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31380" y="564945"/>
            <a:ext cx="2339436" cy="143802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25" b="1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1380" y="2102955"/>
            <a:ext cx="2339436" cy="13144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  <a:latin typeface="Arial"/>
                <a:cs typeface="Arial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FFAF53C-0ECE-27A4-4F80-84BA9D5C9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E91968D-35BB-42D9-BABE-4BB683DF6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B756F16-815A-FD20-A69D-56A7A11A2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96935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1C91878C-CD5E-0CCC-5B32-81A46F9FE4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466114" cy="5143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the picture icon to add photo</a:t>
            </a:r>
          </a:p>
        </p:txBody>
      </p:sp>
    </p:spTree>
    <p:extLst>
      <p:ext uri="{BB962C8B-B14F-4D97-AF65-F5344CB8AC3E}">
        <p14:creationId xmlns:p14="http://schemas.microsoft.com/office/powerpoint/2010/main" val="684257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643255" y="564945"/>
            <a:ext cx="2339436" cy="158316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25" b="1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E2184FE-A199-888D-5C4D-E464A9B800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A6BD200-4D22-4D70-357D-C8638431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E058B70-4D20-F1DB-91AC-D884A30C6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96935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116BF79-623F-838C-6018-D7F901CF54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466113" cy="5143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the picture icon to add photo</a:t>
            </a:r>
          </a:p>
        </p:txBody>
      </p:sp>
    </p:spTree>
    <p:extLst>
      <p:ext uri="{BB962C8B-B14F-4D97-AF65-F5344CB8AC3E}">
        <p14:creationId xmlns:p14="http://schemas.microsoft.com/office/powerpoint/2010/main" val="1267142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4BA675C-D3D3-9B25-E20D-4EC3E44A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67AA3D5-C5F1-070E-6D78-F0AF20EB4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8CD6E54-C7BF-BDE4-87B8-F28402E00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96935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E221E6ED-E5DF-5B59-D4C3-C14F6593402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466114" cy="5143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the picture icon to add photo</a:t>
            </a:r>
          </a:p>
        </p:txBody>
      </p:sp>
    </p:spTree>
    <p:extLst>
      <p:ext uri="{BB962C8B-B14F-4D97-AF65-F5344CB8AC3E}">
        <p14:creationId xmlns:p14="http://schemas.microsoft.com/office/powerpoint/2010/main" val="902340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635829" y="564945"/>
            <a:ext cx="5089630" cy="110251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25" b="1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3635829" y="1819927"/>
            <a:ext cx="5089630" cy="13144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  <a:latin typeface="Arial"/>
                <a:cs typeface="Arial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6B8CCD7-6924-839D-E10B-A67842FAD5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39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1F040A1-C532-5224-D43F-C369C7DE3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D0EAA9E-8218-AAB2-A3A0-E41C0E821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D87BCD9D-56C9-7313-81FB-F24BE069BAF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2183" y="175"/>
            <a:ext cx="2634255" cy="51433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the picture icon to add photo</a:t>
            </a:r>
          </a:p>
        </p:txBody>
      </p:sp>
    </p:spTree>
    <p:extLst>
      <p:ext uri="{BB962C8B-B14F-4D97-AF65-F5344CB8AC3E}">
        <p14:creationId xmlns:p14="http://schemas.microsoft.com/office/powerpoint/2010/main" val="2458462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3643086" y="1116203"/>
            <a:ext cx="5082373" cy="110251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25" b="1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D47BA12-E992-081D-6BC5-693A8922E8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39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222C3DE-F690-10FF-B14D-14DBEEC80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FA3CFF0-EFC5-5BF6-DEDF-B1618858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BF084222-91B3-6959-6AC5-1BA175437D9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2183" y="175"/>
            <a:ext cx="2634255" cy="51433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the picture icon to add photo</a:t>
            </a:r>
          </a:p>
        </p:txBody>
      </p:sp>
    </p:spTree>
    <p:extLst>
      <p:ext uri="{BB962C8B-B14F-4D97-AF65-F5344CB8AC3E}">
        <p14:creationId xmlns:p14="http://schemas.microsoft.com/office/powerpoint/2010/main" val="35182737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7150743-5BCA-E32C-5C28-995D609AD6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39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1EF70E0-2409-8EEE-BF5D-3078D009F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44398A2-C78E-5443-DBD7-3F9DDE242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B5117208-55EC-AAC7-E7E4-1300620E0C1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2183" y="175"/>
            <a:ext cx="2634255" cy="51433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the picture icon to add photo</a:t>
            </a:r>
          </a:p>
        </p:txBody>
      </p:sp>
    </p:spTree>
    <p:extLst>
      <p:ext uri="{BB962C8B-B14F-4D97-AF65-F5344CB8AC3E}">
        <p14:creationId xmlns:p14="http://schemas.microsoft.com/office/powerpoint/2010/main" val="160384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989784"/>
            <a:ext cx="5562600" cy="66930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625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146BB6C4-D660-1723-E284-51400FB9070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33345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the picture icon to add photo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1042AFC-18AA-0738-5250-FC18745A6D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4C7AA4A-CEF9-E77B-8416-F1C574CFE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7D5389F-C82A-7078-B19F-D1293F72D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264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20C68095-C99A-59AD-4B3F-136A2A70FFD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33345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the picture icon to add photo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C1D0E21-ACE7-00FF-BFA7-530DD01F0E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59659A-749A-2ECD-FFC7-3347C103F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42C4624-3141-DD10-4167-86339D17B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2621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55664"/>
            <a:ext cx="8229600" cy="1102519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26937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772495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rgbClr val="CD9E52"/>
                </a:solidFill>
                <a:latin typeface="Arial"/>
                <a:cs typeface="Arial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7667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74735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68907"/>
            <a:ext cx="8229600" cy="302646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0151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457200" y="1462772"/>
            <a:ext cx="8001000" cy="1102519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026937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457200" y="256529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rgbClr val="CD9E52"/>
                </a:solidFill>
                <a:latin typeface="Arial"/>
                <a:cs typeface="Arial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819059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63995"/>
            <a:ext cx="4038600" cy="3045890"/>
          </a:xfrm>
          <a:prstGeom prst="rect">
            <a:avLst/>
          </a:prstGeom>
        </p:spPr>
        <p:txBody>
          <a:bodyPr/>
          <a:lstStyle>
            <a:lvl1pPr algn="l">
              <a:defRPr sz="2100">
                <a:latin typeface="Arial"/>
                <a:cs typeface="Arial"/>
              </a:defRPr>
            </a:lvl1pPr>
            <a:lvl2pPr algn="l">
              <a:defRPr sz="1800">
                <a:latin typeface="Arial"/>
                <a:cs typeface="Arial"/>
              </a:defRPr>
            </a:lvl2pPr>
            <a:lvl3pPr algn="l">
              <a:defRPr sz="1500">
                <a:latin typeface="Arial"/>
                <a:cs typeface="Arial"/>
              </a:defRPr>
            </a:lvl3pPr>
            <a:lvl4pPr algn="l">
              <a:defRPr sz="1350">
                <a:latin typeface="Arial"/>
                <a:cs typeface="Arial"/>
              </a:defRPr>
            </a:lvl4pPr>
            <a:lvl5pPr algn="l">
              <a:defRPr sz="1350">
                <a:latin typeface="Arial"/>
                <a:cs typeface="Arial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63995"/>
            <a:ext cx="4038600" cy="3045890"/>
          </a:xfrm>
          <a:prstGeom prst="rect">
            <a:avLst/>
          </a:prstGeom>
        </p:spPr>
        <p:txBody>
          <a:bodyPr/>
          <a:lstStyle>
            <a:lvl1pPr algn="l">
              <a:defRPr sz="2100">
                <a:latin typeface="Arial"/>
                <a:cs typeface="Arial"/>
              </a:defRPr>
            </a:lvl1pPr>
            <a:lvl2pPr algn="l">
              <a:defRPr sz="1800">
                <a:latin typeface="Arial"/>
                <a:cs typeface="Arial"/>
              </a:defRPr>
            </a:lvl2pPr>
            <a:lvl3pPr algn="l">
              <a:defRPr sz="1500">
                <a:latin typeface="Arial"/>
                <a:cs typeface="Arial"/>
              </a:defRPr>
            </a:lvl3pPr>
            <a:lvl4pPr algn="l">
              <a:defRPr sz="1350">
                <a:latin typeface="Arial"/>
                <a:cs typeface="Arial"/>
              </a:defRPr>
            </a:lvl4pPr>
            <a:lvl5pPr algn="l">
              <a:defRPr sz="1350">
                <a:latin typeface="Arial"/>
                <a:cs typeface="Arial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677081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284483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54032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latin typeface="Arial"/>
                <a:cs typeface="Arial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242428"/>
            <a:ext cx="4040188" cy="2467458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"/>
                <a:cs typeface="Arial"/>
              </a:defRPr>
            </a:lvl1pPr>
            <a:lvl2pPr>
              <a:defRPr sz="1500">
                <a:latin typeface="Arial"/>
                <a:cs typeface="Arial"/>
              </a:defRPr>
            </a:lvl2pPr>
            <a:lvl3pPr>
              <a:defRPr sz="1350">
                <a:latin typeface="Arial"/>
                <a:cs typeface="Arial"/>
              </a:defRPr>
            </a:lvl3pPr>
            <a:lvl4pPr>
              <a:defRPr sz="1200">
                <a:latin typeface="Arial"/>
                <a:cs typeface="Arial"/>
              </a:defRPr>
            </a:lvl4pPr>
            <a:lvl5pPr>
              <a:defRPr sz="1200">
                <a:latin typeface="Arial"/>
                <a:cs typeface="Arial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654032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latin typeface="Arial"/>
                <a:cs typeface="Arial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242428"/>
            <a:ext cx="4041775" cy="2467458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"/>
                <a:cs typeface="Arial"/>
              </a:defRPr>
            </a:lvl1pPr>
            <a:lvl2pPr>
              <a:defRPr sz="1500">
                <a:latin typeface="Arial"/>
                <a:cs typeface="Arial"/>
              </a:defRPr>
            </a:lvl2pPr>
            <a:lvl3pPr>
              <a:defRPr sz="1350">
                <a:latin typeface="Arial"/>
                <a:cs typeface="Arial"/>
              </a:defRPr>
            </a:lvl3pPr>
            <a:lvl4pPr>
              <a:defRPr sz="1200">
                <a:latin typeface="Arial"/>
                <a:cs typeface="Arial"/>
              </a:defRPr>
            </a:lvl4pPr>
            <a:lvl5pPr>
              <a:defRPr sz="1200">
                <a:latin typeface="Arial"/>
                <a:cs typeface="Arial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688208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338665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659400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88862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3296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93401"/>
            <a:ext cx="3008313" cy="121463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 b="1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760122"/>
            <a:ext cx="5111750" cy="378815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1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500">
                <a:latin typeface="Arial"/>
                <a:cs typeface="Arial"/>
              </a:defRPr>
            </a:lvl4pPr>
            <a:lvl5pPr>
              <a:defRPr sz="1500">
                <a:latin typeface="Arial"/>
                <a:cs typeface="Arial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908036"/>
            <a:ext cx="3008313" cy="26402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/>
                <a:cs typeface="Arial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4106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529274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9375"/>
            <a:ext cx="5486400" cy="27851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latin typeface="Arial"/>
                <a:cs typeface="Arial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3954327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/>
                <a:cs typeface="Arial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266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641652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57147"/>
            <a:ext cx="8229600" cy="3030967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45078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46727"/>
            <a:ext cx="2057400" cy="4041387"/>
          </a:xfrm>
          <a:prstGeom prst="rect">
            <a:avLst/>
          </a:prstGeom>
        </p:spPr>
        <p:txBody>
          <a:bodyPr vert="eaVert"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46727"/>
            <a:ext cx="6019800" cy="4041387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8798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597819"/>
            <a:ext cx="8229600" cy="1102519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26937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21466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rgbClr val="CD9E52"/>
                </a:solidFill>
                <a:latin typeface="Arial"/>
                <a:cs typeface="Arial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0771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1796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5968"/>
            <a:ext cx="8229600" cy="2787346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434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457200" y="1597819"/>
            <a:ext cx="8001000" cy="1102519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026937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457200" y="2700338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rgbClr val="CD9E52"/>
                </a:solidFill>
                <a:latin typeface="Arial"/>
                <a:cs typeface="Arial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897953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95968"/>
            <a:ext cx="4038600" cy="2780089"/>
          </a:xfrm>
          <a:prstGeom prst="rect">
            <a:avLst/>
          </a:prstGeom>
        </p:spPr>
        <p:txBody>
          <a:bodyPr/>
          <a:lstStyle>
            <a:lvl1pPr algn="l">
              <a:defRPr sz="2100">
                <a:latin typeface="Arial"/>
                <a:cs typeface="Arial"/>
              </a:defRPr>
            </a:lvl1pPr>
            <a:lvl2pPr algn="l">
              <a:defRPr sz="1800">
                <a:latin typeface="Arial"/>
                <a:cs typeface="Arial"/>
              </a:defRPr>
            </a:lvl2pPr>
            <a:lvl3pPr algn="l">
              <a:defRPr sz="1500">
                <a:latin typeface="Arial"/>
                <a:cs typeface="Arial"/>
              </a:defRPr>
            </a:lvl3pPr>
            <a:lvl4pPr algn="l">
              <a:defRPr sz="1350">
                <a:latin typeface="Arial"/>
                <a:cs typeface="Arial"/>
              </a:defRPr>
            </a:lvl4pPr>
            <a:lvl5pPr algn="l">
              <a:defRPr sz="1350">
                <a:latin typeface="Arial"/>
                <a:cs typeface="Arial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95968"/>
            <a:ext cx="4038600" cy="2780089"/>
          </a:xfrm>
          <a:prstGeom prst="rect">
            <a:avLst/>
          </a:prstGeom>
        </p:spPr>
        <p:txBody>
          <a:bodyPr/>
          <a:lstStyle>
            <a:lvl1pPr algn="l">
              <a:defRPr sz="2100">
                <a:latin typeface="Arial"/>
                <a:cs typeface="Arial"/>
              </a:defRPr>
            </a:lvl1pPr>
            <a:lvl2pPr algn="l">
              <a:defRPr sz="1800">
                <a:latin typeface="Arial"/>
                <a:cs typeface="Arial"/>
              </a:defRPr>
            </a:lvl2pPr>
            <a:lvl3pPr algn="l">
              <a:defRPr sz="1500">
                <a:latin typeface="Arial"/>
                <a:cs typeface="Arial"/>
              </a:defRPr>
            </a:lvl3pPr>
            <a:lvl4pPr algn="l">
              <a:defRPr sz="1350">
                <a:latin typeface="Arial"/>
                <a:cs typeface="Arial"/>
              </a:defRPr>
            </a:lvl4pPr>
            <a:lvl5pPr algn="l">
              <a:defRPr sz="1350">
                <a:latin typeface="Arial"/>
                <a:cs typeface="Arial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599636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49889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28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latin typeface="Arial"/>
                <a:cs typeface="Arial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082658"/>
            <a:ext cx="4040188" cy="2315172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"/>
                <a:cs typeface="Arial"/>
              </a:defRPr>
            </a:lvl1pPr>
            <a:lvl2pPr>
              <a:defRPr sz="1500">
                <a:latin typeface="Arial"/>
                <a:cs typeface="Arial"/>
              </a:defRPr>
            </a:lvl2pPr>
            <a:lvl3pPr>
              <a:defRPr sz="1350">
                <a:latin typeface="Arial"/>
                <a:cs typeface="Arial"/>
              </a:defRPr>
            </a:lvl3pPr>
            <a:lvl4pPr>
              <a:defRPr sz="1200">
                <a:latin typeface="Arial"/>
                <a:cs typeface="Arial"/>
              </a:defRPr>
            </a:lvl4pPr>
            <a:lvl5pPr>
              <a:defRPr sz="1200">
                <a:latin typeface="Arial"/>
                <a:cs typeface="Arial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6028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latin typeface="Arial"/>
                <a:cs typeface="Arial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082658"/>
            <a:ext cx="4041775" cy="2315172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"/>
                <a:cs typeface="Arial"/>
              </a:defRPr>
            </a:lvl1pPr>
            <a:lvl2pPr>
              <a:defRPr sz="1500">
                <a:latin typeface="Arial"/>
                <a:cs typeface="Arial"/>
              </a:defRPr>
            </a:lvl2pPr>
            <a:lvl3pPr>
              <a:defRPr sz="1350">
                <a:latin typeface="Arial"/>
                <a:cs typeface="Arial"/>
              </a:defRPr>
            </a:lvl3pPr>
            <a:lvl4pPr>
              <a:defRPr sz="1200">
                <a:latin typeface="Arial"/>
                <a:cs typeface="Arial"/>
              </a:defRPr>
            </a:lvl4pPr>
            <a:lvl5pPr>
              <a:defRPr sz="1200">
                <a:latin typeface="Arial"/>
                <a:cs typeface="Arial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601796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626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601796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818244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468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47830"/>
            <a:ext cx="3008313" cy="121463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 b="1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314551"/>
            <a:ext cx="5111750" cy="400207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1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500">
                <a:latin typeface="Arial"/>
                <a:cs typeface="Arial"/>
              </a:defRPr>
            </a:lvl4pPr>
            <a:lvl5pPr>
              <a:defRPr sz="1500">
                <a:latin typeface="Arial"/>
                <a:cs typeface="Arial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62465"/>
            <a:ext cx="3008313" cy="28541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/>
                <a:cs typeface="Arial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6439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237593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397695"/>
            <a:ext cx="5486400" cy="27851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latin typeface="Arial"/>
                <a:cs typeface="Arial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3662646"/>
            <a:ext cx="5486400" cy="59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/>
                <a:cs typeface="Arial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63435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19041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13214"/>
            <a:ext cx="8229600" cy="3141072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631196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52105"/>
            <a:ext cx="2057400" cy="4131209"/>
          </a:xfrm>
          <a:prstGeom prst="rect">
            <a:avLst/>
          </a:prstGeom>
        </p:spPr>
        <p:txBody>
          <a:bodyPr vert="eaVert"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52105"/>
            <a:ext cx="6019800" cy="4131209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65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image" Target="../media/image2.emf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image" Target="../media/image4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9B25DF-99AC-2547-4DF7-2DCFF220107E}"/>
              </a:ext>
            </a:extLst>
          </p:cNvPr>
          <p:cNvSpPr/>
          <p:nvPr userDrawn="1"/>
        </p:nvSpPr>
        <p:spPr>
          <a:xfrm>
            <a:off x="0" y="-1"/>
            <a:ext cx="9144000" cy="5143499"/>
          </a:xfrm>
          <a:prstGeom prst="rect">
            <a:avLst/>
          </a:prstGeom>
          <a:gradFill flip="none" rotWithShape="1">
            <a:gsLst>
              <a:gs pos="0">
                <a:srgbClr val="046A38">
                  <a:shade val="30000"/>
                  <a:satMod val="115000"/>
                </a:srgbClr>
              </a:gs>
              <a:gs pos="50000">
                <a:srgbClr val="046A38">
                  <a:shade val="67500"/>
                  <a:satMod val="115000"/>
                </a:srgbClr>
              </a:gs>
              <a:gs pos="100000">
                <a:srgbClr val="046A38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1C1DD8-CB3E-D5B9-8573-F591CACDFCD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582686" y="3787456"/>
            <a:ext cx="1978628" cy="93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659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A009F55-3911-538D-6B8B-3471AD7B8364}"/>
              </a:ext>
            </a:extLst>
          </p:cNvPr>
          <p:cNvSpPr/>
          <p:nvPr userDrawn="1"/>
        </p:nvSpPr>
        <p:spPr>
          <a:xfrm>
            <a:off x="0" y="-1"/>
            <a:ext cx="9144000" cy="5143499"/>
          </a:xfrm>
          <a:prstGeom prst="rect">
            <a:avLst/>
          </a:prstGeom>
          <a:gradFill flip="none" rotWithShape="1">
            <a:gsLst>
              <a:gs pos="0">
                <a:srgbClr val="046A38">
                  <a:shade val="30000"/>
                  <a:satMod val="115000"/>
                </a:srgbClr>
              </a:gs>
              <a:gs pos="50000">
                <a:srgbClr val="046A38">
                  <a:shade val="67500"/>
                  <a:satMod val="115000"/>
                </a:srgbClr>
              </a:gs>
              <a:gs pos="100000">
                <a:srgbClr val="046A38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BE4971-A596-24B6-B0CB-B8785D87A5A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582686" y="394977"/>
            <a:ext cx="1978628" cy="93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655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Arial"/>
          <a:ea typeface="+mn-ea"/>
          <a:cs typeface="Arial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Arial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Arial"/>
          <a:ea typeface="+mn-ea"/>
          <a:cs typeface="Arial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Arial"/>
          <a:ea typeface="+mn-ea"/>
          <a:cs typeface="Arial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CFA1A-A022-D649-8AD9-9F30A5C06CF5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7A361-AE56-CD4A-B91B-4241634854C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CD8B00-B92F-98D3-5A68-050180315E86}"/>
              </a:ext>
            </a:extLst>
          </p:cNvPr>
          <p:cNvSpPr/>
          <p:nvPr userDrawn="1"/>
        </p:nvSpPr>
        <p:spPr>
          <a:xfrm>
            <a:off x="0" y="0"/>
            <a:ext cx="9144000" cy="3410632"/>
          </a:xfrm>
          <a:prstGeom prst="rect">
            <a:avLst/>
          </a:prstGeom>
          <a:gradFill flip="none" rotWithShape="1">
            <a:gsLst>
              <a:gs pos="0">
                <a:srgbClr val="046A38">
                  <a:shade val="30000"/>
                  <a:satMod val="115000"/>
                </a:srgbClr>
              </a:gs>
              <a:gs pos="50000">
                <a:srgbClr val="046A38">
                  <a:shade val="67500"/>
                  <a:satMod val="115000"/>
                </a:srgbClr>
              </a:gs>
              <a:gs pos="100000">
                <a:srgbClr val="046A38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CC4C1A-247E-320C-3022-BF90EE99BE5F}"/>
              </a:ext>
            </a:extLst>
          </p:cNvPr>
          <p:cNvPicPr>
            <a:picLocks/>
          </p:cNvPicPr>
          <p:nvPr userDrawn="1"/>
        </p:nvPicPr>
        <p:blipFill>
          <a:blip r:embed="rId5"/>
          <a:stretch>
            <a:fillRect/>
          </a:stretch>
        </p:blipFill>
        <p:spPr>
          <a:xfrm rot="5400000">
            <a:off x="4520045" y="-1200150"/>
            <a:ext cx="103910" cy="9144000"/>
          </a:xfrm>
          <a:prstGeom prst="rect">
            <a:avLst/>
          </a:prstGeom>
          <a:effectLst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0F72FC0-1C4B-A715-2C85-36C1CBBFE22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601911" y="3813573"/>
            <a:ext cx="1940429" cy="917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53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119DD4-135B-1221-6368-65B3AD3D6F83}"/>
              </a:ext>
            </a:extLst>
          </p:cNvPr>
          <p:cNvSpPr/>
          <p:nvPr userDrawn="1"/>
        </p:nvSpPr>
        <p:spPr>
          <a:xfrm>
            <a:off x="6465729" y="-1"/>
            <a:ext cx="2678271" cy="5143499"/>
          </a:xfrm>
          <a:prstGeom prst="rect">
            <a:avLst/>
          </a:prstGeom>
          <a:gradFill flip="none" rotWithShape="1">
            <a:gsLst>
              <a:gs pos="0">
                <a:srgbClr val="046A38">
                  <a:shade val="30000"/>
                  <a:satMod val="115000"/>
                </a:srgbClr>
              </a:gs>
              <a:gs pos="50000">
                <a:srgbClr val="046A38">
                  <a:shade val="67500"/>
                  <a:satMod val="115000"/>
                </a:srgbClr>
              </a:gs>
              <a:gs pos="100000">
                <a:srgbClr val="046A38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A76F54-62D0-0EE7-D82C-4F3167A4681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815551" y="3787455"/>
            <a:ext cx="1978628" cy="93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03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Arial"/>
          <a:ea typeface="+mn-ea"/>
          <a:cs typeface="Arial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Arial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Arial"/>
          <a:ea typeface="+mn-ea"/>
          <a:cs typeface="Arial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Arial"/>
          <a:ea typeface="+mn-ea"/>
          <a:cs typeface="Arial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2A4B40-A4C1-8385-0F89-EC24E2C34D31}"/>
              </a:ext>
            </a:extLst>
          </p:cNvPr>
          <p:cNvSpPr/>
          <p:nvPr userDrawn="1"/>
        </p:nvSpPr>
        <p:spPr>
          <a:xfrm>
            <a:off x="0" y="-1"/>
            <a:ext cx="9144000" cy="5143499"/>
          </a:xfrm>
          <a:prstGeom prst="rect">
            <a:avLst/>
          </a:prstGeom>
          <a:gradFill flip="none" rotWithShape="1">
            <a:gsLst>
              <a:gs pos="0">
                <a:srgbClr val="046A38">
                  <a:shade val="30000"/>
                  <a:satMod val="115000"/>
                </a:srgbClr>
              </a:gs>
              <a:gs pos="50000">
                <a:srgbClr val="046A38">
                  <a:shade val="67500"/>
                  <a:satMod val="115000"/>
                </a:srgbClr>
              </a:gs>
              <a:gs pos="100000">
                <a:srgbClr val="046A38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45256B-4C14-8B33-752B-6E269B622B0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168007" y="3787455"/>
            <a:ext cx="1978628" cy="93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664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Arial"/>
          <a:ea typeface="+mn-ea"/>
          <a:cs typeface="Arial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Arial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Arial"/>
          <a:ea typeface="+mn-ea"/>
          <a:cs typeface="Arial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Arial"/>
          <a:ea typeface="+mn-ea"/>
          <a:cs typeface="Arial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58DAB6-B128-357B-53F0-94EC127933BD}"/>
              </a:ext>
            </a:extLst>
          </p:cNvPr>
          <p:cNvSpPr/>
          <p:nvPr userDrawn="1"/>
        </p:nvSpPr>
        <p:spPr>
          <a:xfrm>
            <a:off x="0" y="3423806"/>
            <a:ext cx="9144000" cy="1719694"/>
          </a:xfrm>
          <a:prstGeom prst="rect">
            <a:avLst/>
          </a:prstGeom>
          <a:gradFill flip="none" rotWithShape="1">
            <a:gsLst>
              <a:gs pos="0">
                <a:srgbClr val="046A38">
                  <a:shade val="30000"/>
                  <a:satMod val="115000"/>
                </a:srgbClr>
              </a:gs>
              <a:gs pos="50000">
                <a:srgbClr val="046A38">
                  <a:shade val="67500"/>
                  <a:satMod val="115000"/>
                </a:srgbClr>
              </a:gs>
              <a:gs pos="100000">
                <a:srgbClr val="046A38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D12A83-E5A8-56EB-70BB-24F22BB75519}"/>
              </a:ext>
            </a:extLst>
          </p:cNvPr>
          <p:cNvPicPr>
            <a:picLocks/>
          </p:cNvPicPr>
          <p:nvPr userDrawn="1"/>
        </p:nvPicPr>
        <p:blipFill>
          <a:blip r:embed="rId4"/>
          <a:stretch>
            <a:fillRect/>
          </a:stretch>
        </p:blipFill>
        <p:spPr>
          <a:xfrm rot="5400000">
            <a:off x="4520045" y="-1200150"/>
            <a:ext cx="103910" cy="9144000"/>
          </a:xfrm>
          <a:prstGeom prst="rect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AD03BC-527E-D423-7026-84C67047E23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585595" y="3787234"/>
            <a:ext cx="1978628" cy="93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286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Arial"/>
          <a:ea typeface="+mn-ea"/>
          <a:cs typeface="Arial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Arial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Arial"/>
          <a:ea typeface="+mn-ea"/>
          <a:cs typeface="Arial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Arial"/>
          <a:ea typeface="+mn-ea"/>
          <a:cs typeface="Arial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0CC4253-5EA4-2DE4-D822-DBE80ECA3598}"/>
              </a:ext>
            </a:extLst>
          </p:cNvPr>
          <p:cNvSpPr/>
          <p:nvPr userDrawn="1"/>
        </p:nvSpPr>
        <p:spPr>
          <a:xfrm>
            <a:off x="0" y="0"/>
            <a:ext cx="9144000" cy="548640"/>
          </a:xfrm>
          <a:prstGeom prst="rect">
            <a:avLst/>
          </a:prstGeom>
          <a:gradFill flip="none" rotWithShape="1">
            <a:gsLst>
              <a:gs pos="0">
                <a:srgbClr val="046A38">
                  <a:shade val="30000"/>
                  <a:satMod val="115000"/>
                </a:srgbClr>
              </a:gs>
              <a:gs pos="50000">
                <a:srgbClr val="046A38">
                  <a:shade val="67500"/>
                  <a:satMod val="115000"/>
                </a:srgbClr>
              </a:gs>
              <a:gs pos="100000">
                <a:srgbClr val="046A38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F0E0A7-06C7-D5A3-969E-CF0D2C2DA60B}"/>
              </a:ext>
            </a:extLst>
          </p:cNvPr>
          <p:cNvPicPr>
            <a:picLocks/>
          </p:cNvPicPr>
          <p:nvPr userDrawn="1"/>
        </p:nvPicPr>
        <p:blipFill>
          <a:blip r:embed="rId13"/>
          <a:stretch>
            <a:fillRect/>
          </a:stretch>
        </p:blipFill>
        <p:spPr>
          <a:xfrm rot="5400000">
            <a:off x="4553712" y="-4005609"/>
            <a:ext cx="36576" cy="9144000"/>
          </a:xfrm>
          <a:prstGeom prst="rect">
            <a:avLst/>
          </a:prstGeom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5967DF-49A0-989D-6161-3FA5B631AAD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78552" y="185065"/>
            <a:ext cx="3154409" cy="20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876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Arial"/>
          <a:ea typeface="+mn-ea"/>
          <a:cs typeface="Arial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Arial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Arial"/>
          <a:ea typeface="+mn-ea"/>
          <a:cs typeface="Arial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Arial"/>
          <a:ea typeface="+mn-ea"/>
          <a:cs typeface="Arial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3B2884-69FE-28D0-AA19-FE76F2657D9D}"/>
              </a:ext>
            </a:extLst>
          </p:cNvPr>
          <p:cNvSpPr/>
          <p:nvPr userDrawn="1"/>
        </p:nvSpPr>
        <p:spPr>
          <a:xfrm>
            <a:off x="0" y="4601210"/>
            <a:ext cx="9144000" cy="548640"/>
          </a:xfrm>
          <a:prstGeom prst="rect">
            <a:avLst/>
          </a:prstGeom>
          <a:gradFill flip="none" rotWithShape="1">
            <a:gsLst>
              <a:gs pos="0">
                <a:srgbClr val="046A38">
                  <a:shade val="30000"/>
                  <a:satMod val="115000"/>
                </a:srgbClr>
              </a:gs>
              <a:gs pos="50000">
                <a:srgbClr val="046A38">
                  <a:shade val="67500"/>
                  <a:satMod val="115000"/>
                </a:srgbClr>
              </a:gs>
              <a:gs pos="100000">
                <a:srgbClr val="046A38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2C4967-E63E-C6D7-EF97-95086D6CA45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78552" y="4786275"/>
            <a:ext cx="3154409" cy="20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786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Arial"/>
          <a:ea typeface="+mn-ea"/>
          <a:cs typeface="Arial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Arial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Arial"/>
          <a:ea typeface="+mn-ea"/>
          <a:cs typeface="Arial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Arial"/>
          <a:ea typeface="+mn-ea"/>
          <a:cs typeface="Arial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hidralite.com/" TargetMode="External"/><Relationship Id="rId2" Type="http://schemas.openxmlformats.org/officeDocument/2006/relationships/hyperlink" Target="https://doi.org/10.1007/978-3-642-04117-4_31" TargetMode="External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github.com/kastle-lab/kastle-drawbridg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15C16-7A51-92DF-2BE0-6C2D48ED86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91440" tIns="45720" rIns="91440" bIns="45720" anchor="t"/>
          <a:lstStyle/>
          <a:p>
            <a:r>
              <a:rPr lang="en-US"/>
              <a:t>A Knowledge Graph for the Detection of Malware Behavior in Executables</a:t>
            </a:r>
          </a:p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8A533-F2AC-E7CF-D3A0-698400122A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lIns="91440" tIns="45720" rIns="91440" bIns="45720" anchor="t"/>
          <a:lstStyle/>
          <a:p>
            <a:r>
              <a:rPr lang="en-US"/>
              <a:t>Emily Miller</a:t>
            </a:r>
          </a:p>
          <a:p>
            <a:r>
              <a:rPr lang="en-US"/>
              <a:t>Advisor: Dr. Cogan Shimizu</a:t>
            </a:r>
          </a:p>
        </p:txBody>
      </p:sp>
    </p:spTree>
    <p:extLst>
      <p:ext uri="{BB962C8B-B14F-4D97-AF65-F5344CB8AC3E}">
        <p14:creationId xmlns:p14="http://schemas.microsoft.com/office/powerpoint/2010/main" val="337589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BB988-601A-35FF-C4DD-BDA7BC1F6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7BE56F-01D4-4131-7D57-21EBC1FF46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87049"/>
            <a:ext cx="4627008" cy="2780089"/>
          </a:xfrm>
        </p:spPr>
        <p:txBody>
          <a:bodyPr lIns="91440" tIns="45720" rIns="91440" bIns="45720" anchor="t"/>
          <a:lstStyle/>
          <a:p>
            <a:r>
              <a:rPr lang="en-US"/>
              <a:t>Definition: Analyzing a program to learn how it works [1]</a:t>
            </a:r>
          </a:p>
          <a:p>
            <a:pPr marL="556895" lvl="1" indent="-213995"/>
            <a:r>
              <a:rPr lang="en-US"/>
              <a:t>Software engineering vs reverse software engineering</a:t>
            </a:r>
          </a:p>
          <a:p>
            <a:r>
              <a:rPr lang="en-US"/>
              <a:t>Method to Combat Malware</a:t>
            </a:r>
          </a:p>
          <a:p>
            <a:r>
              <a:rPr lang="en-US"/>
              <a:t>Data Obfuscation makes this process difficult [2]</a:t>
            </a:r>
          </a:p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9FDA57-0651-3DF8-A90F-13C847534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sz="3200"/>
              <a:t>Malware and Software Reverse Engineering</a:t>
            </a:r>
          </a:p>
          <a:p>
            <a:endParaRPr lang="en-US" sz="3200"/>
          </a:p>
        </p:txBody>
      </p:sp>
      <p:pic>
        <p:nvPicPr>
          <p:cNvPr id="8" name="Graphic 7" descr="Single gear with solid fill">
            <a:extLst>
              <a:ext uri="{FF2B5EF4-FFF2-40B4-BE49-F238E27FC236}">
                <a16:creationId xmlns:a16="http://schemas.microsoft.com/office/drawing/2014/main" id="{8C6ADD4D-2015-A3DD-EB59-9DB26BA8C8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3235" y="1725268"/>
            <a:ext cx="2024269" cy="2032552"/>
          </a:xfrm>
          <a:prstGeom prst="rect">
            <a:avLst/>
          </a:prstGeom>
        </p:spPr>
      </p:pic>
      <p:pic>
        <p:nvPicPr>
          <p:cNvPr id="10" name="Content Placeholder 5" descr="Refresh with solid fill">
            <a:extLst>
              <a:ext uri="{FF2B5EF4-FFF2-40B4-BE49-F238E27FC236}">
                <a16:creationId xmlns:a16="http://schemas.microsoft.com/office/drawing/2014/main" id="{BB43609C-60E5-C233-D4EF-4BC91AB21A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1565" y="1283713"/>
            <a:ext cx="2960204" cy="292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501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87AD3-B78A-B7A9-07BE-5E04B48FB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17F6C4-8E03-489F-AAEE-146D9B7464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87049"/>
            <a:ext cx="4627008" cy="2780089"/>
          </a:xfrm>
        </p:spPr>
        <p:txBody>
          <a:bodyPr lIns="91440" tIns="45720" rIns="91440" bIns="45720" anchor="t"/>
          <a:lstStyle/>
          <a:p>
            <a:r>
              <a:rPr lang="en-US"/>
              <a:t>Tool used to conduct software reverse engineering [2][3]</a:t>
            </a:r>
          </a:p>
          <a:p>
            <a:pPr marL="556895" lvl="1" indent="-213995"/>
            <a:r>
              <a:rPr lang="en-US"/>
              <a:t>Analyzes executables to get the disassembly and </a:t>
            </a:r>
            <a:r>
              <a:rPr lang="en-US" err="1"/>
              <a:t>decompilation</a:t>
            </a:r>
            <a:endParaRPr lang="en-US"/>
          </a:p>
          <a:p>
            <a:pPr marL="556895" lvl="1" indent="-213995"/>
            <a:r>
              <a:rPr lang="en-US"/>
              <a:t>Specially made to analyze malware [2]</a:t>
            </a:r>
          </a:p>
          <a:p>
            <a:r>
              <a:rPr lang="en-US"/>
              <a:t>Drawback: Produces a lot of data that is difficult to parse</a:t>
            </a:r>
          </a:p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6A19F6-54A1-C035-673D-763F4299F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sz="3200" err="1"/>
              <a:t>Ghidra</a:t>
            </a:r>
            <a:endParaRPr lang="en-US" err="1"/>
          </a:p>
        </p:txBody>
      </p:sp>
      <p:pic>
        <p:nvPicPr>
          <p:cNvPr id="14" name="Picture 13" descr="ghidra.net&#10;">
            <a:extLst>
              <a:ext uri="{FF2B5EF4-FFF2-40B4-BE49-F238E27FC236}">
                <a16:creationId xmlns:a16="http://schemas.microsoft.com/office/drawing/2014/main" id="{B6F8B1E8-5B73-8419-B999-9002E1B3B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950" y="1471613"/>
            <a:ext cx="337185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590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9C8C9D-C1CD-2EE2-A1F0-3176BE06C5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87049"/>
            <a:ext cx="4627008" cy="3326741"/>
          </a:xfrm>
        </p:spPr>
        <p:txBody>
          <a:bodyPr lIns="91440" tIns="45720" rIns="91440" bIns="45720" anchor="t"/>
          <a:lstStyle/>
          <a:p>
            <a:r>
              <a:rPr lang="en-US" dirty="0"/>
              <a:t>Research: organize the data from </a:t>
            </a:r>
            <a:r>
              <a:rPr lang="en-US" dirty="0" err="1"/>
              <a:t>Ghidra</a:t>
            </a:r>
            <a:r>
              <a:rPr lang="en-US" dirty="0"/>
              <a:t> analysis into a graph</a:t>
            </a:r>
          </a:p>
          <a:p>
            <a:pPr marL="556895" lvl="1" indent="-213995"/>
            <a:r>
              <a:rPr lang="en-US" dirty="0"/>
              <a:t>Makes data more accessible and easier to parse [4]</a:t>
            </a:r>
          </a:p>
          <a:p>
            <a:r>
              <a:rPr lang="en-US" dirty="0"/>
              <a:t>Graph structured around symbol table</a:t>
            </a:r>
          </a:p>
          <a:p>
            <a:pPr marL="556895" lvl="1" indent="-213995"/>
            <a:r>
              <a:rPr lang="en-US" dirty="0"/>
              <a:t>Symbol: link between location and data [2]</a:t>
            </a:r>
          </a:p>
          <a:p>
            <a:pPr marL="556895" lvl="1" indent="-213995"/>
            <a:r>
              <a:rPr lang="en-US" dirty="0"/>
              <a:t>Symbol Table: hierarchical structure of symbols [2]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8443D9-651B-329D-7384-F5134DB35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sz="3200"/>
              <a:t>Data Organization</a:t>
            </a:r>
          </a:p>
        </p:txBody>
      </p:sp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4AF3EC9B-5997-4E83-4CC8-20D0EC22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36" t="3833" r="4932" b="7317"/>
          <a:stretch>
            <a:fillRect/>
          </a:stretch>
        </p:blipFill>
        <p:spPr>
          <a:xfrm>
            <a:off x="7147747" y="1838738"/>
            <a:ext cx="1914276" cy="1466951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1DE9B4-CDBC-04B7-B1BD-2133FAB31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028" y="1838674"/>
            <a:ext cx="1118671" cy="1466152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8301BE61-2F43-D902-138D-EE816C01216E}"/>
              </a:ext>
            </a:extLst>
          </p:cNvPr>
          <p:cNvSpPr/>
          <p:nvPr/>
        </p:nvSpPr>
        <p:spPr>
          <a:xfrm>
            <a:off x="6440519" y="2327253"/>
            <a:ext cx="707228" cy="492629"/>
          </a:xfrm>
          <a:prstGeom prst="rightArrow">
            <a:avLst/>
          </a:prstGeom>
          <a:solidFill>
            <a:srgbClr val="CBA052"/>
          </a:solidFill>
          <a:ln>
            <a:solidFill>
              <a:srgbClr val="046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35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8427B2-F01B-20EE-AE89-0152146C5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sz="3200"/>
              <a:t>Schema Diagram of Knowledge Graph</a:t>
            </a:r>
            <a:br>
              <a:rPr lang="en-US"/>
            </a:br>
            <a:r>
              <a:rPr lang="en-US" sz="1200"/>
              <a:t>Made with </a:t>
            </a:r>
            <a:r>
              <a:rPr lang="en-US" sz="1200" err="1"/>
              <a:t>yEd</a:t>
            </a:r>
            <a:r>
              <a:rPr lang="en-US" sz="1200"/>
              <a:t> graph editor [5]</a:t>
            </a:r>
          </a:p>
        </p:txBody>
      </p:sp>
      <p:pic>
        <p:nvPicPr>
          <p:cNvPr id="9" name="Picture 8" descr="A diagram of a reference code&#10;&#10;AI-generated content may be incorrect.">
            <a:extLst>
              <a:ext uri="{FF2B5EF4-FFF2-40B4-BE49-F238E27FC236}">
                <a16:creationId xmlns:a16="http://schemas.microsoft.com/office/drawing/2014/main" id="{9CCF4168-6DF4-72EF-B41A-C8791E022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27" y="1633534"/>
            <a:ext cx="7804547" cy="301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441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84D16-7C70-905E-C37F-181C70191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DA986-F3F9-3D21-708A-0D1B31A5E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/>
          <a:lstStyle/>
          <a:p>
            <a:r>
              <a:rPr lang="en-US" sz="1600"/>
              <a:t>[1] T. </a:t>
            </a:r>
            <a:r>
              <a:rPr lang="en-US" sz="1600" err="1"/>
              <a:t>Cipresso</a:t>
            </a:r>
            <a:r>
              <a:rPr lang="en-US" sz="1600"/>
              <a:t> and M. Stamp, “Software Reverse Engineering,” Handbook of Information and Communication Security, pp. 659–696, 2010, </a:t>
            </a:r>
            <a:r>
              <a:rPr lang="en-US" sz="1600" err="1"/>
              <a:t>doi</a:t>
            </a:r>
            <a:r>
              <a:rPr lang="en-US" sz="1600"/>
              <a:t>: </a:t>
            </a:r>
            <a:r>
              <a:rPr lang="en-US" sz="1600">
                <a:hlinkClick r:id="rId2"/>
              </a:rPr>
              <a:t>https://doi.org/10.1007/978-3-642-04117-4_31</a:t>
            </a:r>
            <a:r>
              <a:rPr lang="en-US" sz="1600"/>
              <a:t>. </a:t>
            </a:r>
          </a:p>
          <a:p>
            <a:r>
              <a:rPr lang="en-US" sz="1600"/>
              <a:t>[2] C. Eagle and K. Nance, The </a:t>
            </a:r>
            <a:r>
              <a:rPr lang="en-US" sz="1600" err="1"/>
              <a:t>Ghidra</a:t>
            </a:r>
            <a:r>
              <a:rPr lang="en-US" sz="1600"/>
              <a:t> Book: The Definitive Guide. San Francisco, CA, USA: No Starch Press, 2020.  </a:t>
            </a:r>
          </a:p>
          <a:p>
            <a:r>
              <a:rPr lang="en-US" sz="1600"/>
              <a:t>[3] “</a:t>
            </a:r>
            <a:r>
              <a:rPr lang="en-US" sz="1600" err="1"/>
              <a:t>Ghidra</a:t>
            </a:r>
            <a:r>
              <a:rPr lang="en-US" sz="1600"/>
              <a:t> - Powerful Open-Source Reverse Engineering Tool,” </a:t>
            </a:r>
            <a:r>
              <a:rPr lang="en-US" sz="1600" err="1"/>
              <a:t>Ghidra</a:t>
            </a:r>
            <a:r>
              <a:rPr lang="en-US" sz="1600"/>
              <a:t> Lite, Aug. 20, 2024. </a:t>
            </a:r>
            <a:r>
              <a:rPr lang="en-US" sz="1600">
                <a:hlinkClick r:id="rId3"/>
              </a:rPr>
              <a:t>https://ghidralite.com/</a:t>
            </a:r>
            <a:r>
              <a:rPr lang="en-US" sz="1600"/>
              <a:t> </a:t>
            </a:r>
          </a:p>
          <a:p>
            <a:r>
              <a:rPr lang="en-US" sz="1600"/>
              <a:t>[4] </a:t>
            </a:r>
            <a:r>
              <a:rPr lang="en-US" sz="1600" err="1"/>
              <a:t>kastle</a:t>
            </a:r>
            <a:r>
              <a:rPr lang="en-US" sz="1600"/>
              <a:t>-lab, “GitHub - </a:t>
            </a:r>
            <a:r>
              <a:rPr lang="en-US" sz="1600" err="1"/>
              <a:t>kastle</a:t>
            </a:r>
            <a:r>
              <a:rPr lang="en-US" sz="1600"/>
              <a:t>-lab/</a:t>
            </a:r>
            <a:r>
              <a:rPr lang="en-US" sz="1600" err="1"/>
              <a:t>kastle</a:t>
            </a:r>
            <a:r>
              <a:rPr lang="en-US" sz="1600"/>
              <a:t>-drawbridge,” GitHub, 2025. </a:t>
            </a:r>
            <a:r>
              <a:rPr lang="en-US" sz="1600">
                <a:hlinkClick r:id="rId4"/>
              </a:rPr>
              <a:t>https://github.com/kastle-lab/kastle-drawbridge</a:t>
            </a:r>
            <a:r>
              <a:rPr lang="en-US" sz="1600"/>
              <a:t> (accessed Feb. 12, 2026). </a:t>
            </a:r>
          </a:p>
          <a:p>
            <a:r>
              <a:rPr lang="en-US" sz="1600"/>
              <a:t>[5] </a:t>
            </a:r>
            <a:r>
              <a:rPr lang="en-US" sz="1600" err="1"/>
              <a:t>yWorks</a:t>
            </a:r>
            <a:r>
              <a:rPr lang="en-US" sz="1600"/>
              <a:t> GmbH, </a:t>
            </a:r>
            <a:r>
              <a:rPr lang="en-US" sz="1600" err="1"/>
              <a:t>yEd</a:t>
            </a:r>
            <a:r>
              <a:rPr lang="en-US" sz="1600"/>
              <a:t> Graph Editor, version [Insert Version, e.g., 3.20]. [Online]. Available: https://www.yworks.com/products/yed. </a:t>
            </a:r>
          </a:p>
        </p:txBody>
      </p:sp>
    </p:spTree>
    <p:extLst>
      <p:ext uri="{BB962C8B-B14F-4D97-AF65-F5344CB8AC3E}">
        <p14:creationId xmlns:p14="http://schemas.microsoft.com/office/powerpoint/2010/main" val="852925428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Slide Option 1 (includes title slide, title/author slide, and ending slide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over Slide Option 2 (includes title slide, title/author slide, and ending slide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Cover Slide Option 3 (includes title slide, title/author slide, and ending slide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Cover Slide Option 4 (includes title slide, title/author slide, and ending slide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Cover Slide Option 5 (includes title slide, title/author slide, and ending slide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Cover Slide Option 7 (includes title slide and ending slide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Inside Slide Option 2 (includes different content layouts)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A3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Inside Slide Option 1 (includes different content layouts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EF60793CAAFB44BA85AF51A4888F2D" ma:contentTypeVersion="15" ma:contentTypeDescription="Create a new document." ma:contentTypeScope="" ma:versionID="448e74c50adc3018db04e700bda4f479">
  <xsd:schema xmlns:xsd="http://www.w3.org/2001/XMLSchema" xmlns:xs="http://www.w3.org/2001/XMLSchema" xmlns:p="http://schemas.microsoft.com/office/2006/metadata/properties" xmlns:ns3="3c9ec5b8-8bae-4866-8f7d-e511c33f81a0" xmlns:ns4="f4c013a8-601c-48ff-90c7-a26e693db7f3" targetNamespace="http://schemas.microsoft.com/office/2006/metadata/properties" ma:root="true" ma:fieldsID="9a09423f67fde5fdddb4dd45b0f0544c" ns3:_="" ns4:_="">
    <xsd:import namespace="3c9ec5b8-8bae-4866-8f7d-e511c33f81a0"/>
    <xsd:import namespace="f4c013a8-601c-48ff-90c7-a26e693db7f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9ec5b8-8bae-4866-8f7d-e511c33f81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c013a8-601c-48ff-90c7-a26e693db7f3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c9ec5b8-8bae-4866-8f7d-e511c33f81a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8F4B262-1E9C-4F6C-8AFF-725BF8C9BA97}">
  <ds:schemaRefs>
    <ds:schemaRef ds:uri="3c9ec5b8-8bae-4866-8f7d-e511c33f81a0"/>
    <ds:schemaRef ds:uri="f4c013a8-601c-48ff-90c7-a26e693db7f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304B3AD-4D06-4A84-96C0-79944431C452}">
  <ds:schemaRefs>
    <ds:schemaRef ds:uri="3c9ec5b8-8bae-4866-8f7d-e511c33f81a0"/>
    <ds:schemaRef ds:uri="f4c013a8-601c-48ff-90c7-a26e693db7f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775AB2D-313C-4815-8B2C-0AF57CF4F0D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(16:9)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8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Cover Slide Option 1 (includes title slide, title/author slide, and ending slide)</vt:lpstr>
      <vt:lpstr>Cover Slide Option 2 (includes title slide, title/author slide, and ending slide)</vt:lpstr>
      <vt:lpstr>Cover Slide Option 3 (includes title slide, title/author slide, and ending slide)</vt:lpstr>
      <vt:lpstr>Cover Slide Option 4 (includes title slide, title/author slide, and ending slide)</vt:lpstr>
      <vt:lpstr>Cover Slide Option 5 (includes title slide, title/author slide, and ending slide)</vt:lpstr>
      <vt:lpstr>Cover Slide Option 7 (includes title slide and ending slide)</vt:lpstr>
      <vt:lpstr>Inside Slide Option 2 (includes different content layouts)</vt:lpstr>
      <vt:lpstr>Inside Slide Option 1 (includes different content layouts)</vt:lpstr>
      <vt:lpstr>A Knowledge Graph for the Detection of Malware Behavior in Executables </vt:lpstr>
      <vt:lpstr>Malware and Software Reverse Engineering </vt:lpstr>
      <vt:lpstr>Ghidra</vt:lpstr>
      <vt:lpstr>Data Organization</vt:lpstr>
      <vt:lpstr>Schema Diagram of Knowledge Graph Made with yEd graph editor [5]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Earnest-Reitmann, Amanda J.</dc:creator>
  <cp:revision>6</cp:revision>
  <dcterms:created xsi:type="dcterms:W3CDTF">2018-09-19T20:02:44Z</dcterms:created>
  <dcterms:modified xsi:type="dcterms:W3CDTF">2026-02-20T20:43:23Z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0x01010051EF60793CAAFB44BA85AF51A4888F2D</vt:lpwstr>
  </property>
</Properties>
</file>